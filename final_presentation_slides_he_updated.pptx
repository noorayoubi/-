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0F17"/>
        </a:solidFill>
        <a:effectLst/>
      </p:bgPr>
    </p:bg>
    <p:spTree>
      <p:nvGrpSpPr>
        <p:cNvPr id="1" name=""/>
        <p:cNvGrpSpPr/>
        <p:nvPr/>
      </p:nvGrpSpPr>
      <p:grpSpPr/>
      <p:sp>
        <p:nvSpPr>
          <p:cNvPr id="2" name="TextBox 1"/>
          <p:cNvSpPr txBox="1"/>
          <p:nvPr/>
        </p:nvSpPr>
        <p:spPr>
          <a:xfrm>
            <a:off x="914400" y="365760"/>
            <a:ext cx="10360152" cy="365760"/>
          </a:xfrm>
          <a:prstGeom prst="rect">
            <a:avLst/>
          </a:prstGeom>
          <a:noFill/>
        </p:spPr>
        <p:txBody>
          <a:bodyPr wrap="none">
            <a:spAutoFit/>
          </a:bodyPr>
          <a:lstStyle/>
          <a:p>
            <a:pPr algn="r">
              <a:defRPr sz="1200" b="1">
                <a:solidFill>
                  <a:srgbClr val="C5A880"/>
                </a:solidFill>
                <a:latin typeface="Arial"/>
              </a:defRPr>
            </a:pPr>
            <a:r>
              <a:t>חלק 1: הגדרת הבעיה והשערות</a:t>
            </a:r>
          </a:p>
        </p:txBody>
      </p:sp>
      <p:sp>
        <p:nvSpPr>
          <p:cNvPr id="3" name="TextBox 2"/>
          <p:cNvSpPr txBox="1"/>
          <p:nvPr/>
        </p:nvSpPr>
        <p:spPr>
          <a:xfrm>
            <a:off x="914400" y="731520"/>
            <a:ext cx="10360152" cy="731520"/>
          </a:xfrm>
          <a:prstGeom prst="rect">
            <a:avLst/>
          </a:prstGeom>
          <a:noFill/>
        </p:spPr>
        <p:txBody>
          <a:bodyPr wrap="none">
            <a:spAutoFit/>
          </a:bodyPr>
          <a:lstStyle/>
          <a:p>
            <a:pPr algn="r">
              <a:defRPr sz="2800" b="1">
                <a:solidFill>
                  <a:srgbClr val="FFFFFF"/>
                </a:solidFill>
                <a:latin typeface="Arial"/>
              </a:defRPr>
            </a:pPr>
            <a:r>
              <a:t>הגדרת הבעיה והשערות היסוד (חלק 1)</a:t>
            </a:r>
          </a:p>
        </p:txBody>
      </p:sp>
      <p:sp>
        <p:nvSpPr>
          <p:cNvPr id="4" name="TextBox 3"/>
          <p:cNvSpPr txBox="1"/>
          <p:nvPr/>
        </p:nvSpPr>
        <p:spPr>
          <a:xfrm>
            <a:off x="914400" y="1645920"/>
            <a:ext cx="10360152" cy="4572000"/>
          </a:xfrm>
          <a:prstGeom prst="rect">
            <a:avLst/>
          </a:prstGeom>
          <a:noFill/>
        </p:spPr>
        <p:txBody>
          <a:bodyPr wrap="square">
            <a:spAutoFit/>
          </a:bodyPr>
          <a:lstStyle/>
          <a:p>
            <a:pPr algn="r">
              <a:spcAft>
                <a:spcPts val="1000"/>
              </a:spcAft>
              <a:defRPr sz="1900" b="1">
                <a:solidFill>
                  <a:srgbClr val="FFFFFF"/>
                </a:solidFill>
                <a:latin typeface="Arial"/>
              </a:defRPr>
            </a:pPr>
            <a:r>
              <a:t>כותרת הפרויקט: גשר אל-קודס (JLM Legal Bridge)</a:t>
            </a:r>
          </a:p>
          <a:p>
            <a:pPr algn="r">
              <a:spcAft>
                <a:spcPts val="1000"/>
              </a:spcAft>
              <a:defRPr sz="1900" b="1">
                <a:solidFill>
                  <a:srgbClr val="FFFFFF"/>
                </a:solidFill>
                <a:latin typeface="Arial"/>
              </a:defRPr>
            </a:pPr>
            <a:r>
              <a:t>כותרת משנה: פלטפורמה דיגיטלית חכמה לניהול הקשר בין עורך הדין ללקוח, זימון תורים והערכת סיכויי תביעה מבוססת AI</a:t>
            </a:r>
          </a:p>
          <a:p>
            <a:pPr algn="r">
              <a:spcAft>
                <a:spcPts val="1000"/>
              </a:spcAft>
              <a:defRPr sz="1900" b="1">
                <a:solidFill>
                  <a:srgbClr val="FFFFFF"/>
                </a:solidFill>
                <a:latin typeface="Arial"/>
              </a:defRPr>
            </a:pPr>
            <a:r>
              <a:t>🔥 הבעיה האמיתית (Pain אמיתי):</a:t>
            </a:r>
          </a:p>
          <a:p>
            <a:pPr lvl="1" algn="r">
              <a:spcAft>
                <a:spcPts val="1000"/>
              </a:spcAft>
              <a:defRPr sz="1600">
                <a:solidFill>
                  <a:srgbClr val="A0AEC0"/>
                </a:solidFill>
                <a:latin typeface="Arial"/>
              </a:defRPr>
            </a:pPr>
            <a:r>
              <a:t>אצל עורך הדין: עומס שיחות והודעות לא רלוונטיות | בזבוז זמן יקר על לקוחות לא מתאימים | חזרה על אותן שאלות.</a:t>
            </a:r>
          </a:p>
          <a:p>
            <a:pPr lvl="1" algn="r">
              <a:spcAft>
                <a:spcPts val="1000"/>
              </a:spcAft>
              <a:defRPr sz="1600">
                <a:solidFill>
                  <a:srgbClr val="A0AEC0"/>
                </a:solidFill>
                <a:latin typeface="Arial"/>
              </a:defRPr>
            </a:pPr>
            <a:r>
              <a:t>אצל הלקוח: אינו יודע אם המקרה שלו מצדיק עורך דין | שפה משפטית מורכבת | זמני המתנה ארוכים ותשובות לא ברורות | פחד וחשש משיפוטיות.</a:t>
            </a:r>
          </a:p>
          <a:p>
            <a:pPr algn="r">
              <a:spcAft>
                <a:spcPts val="1000"/>
              </a:spcAft>
              <a:defRPr sz="1900" b="1">
                <a:solidFill>
                  <a:srgbClr val="FFFFFF"/>
                </a:solidFill>
                <a:latin typeface="Arial"/>
              </a:defRPr>
            </a:pPr>
            <a:r>
              <a:t>🎯 קהל היעד והצרכים:</a:t>
            </a:r>
          </a:p>
          <a:p>
            <a:pPr lvl="1" algn="r">
              <a:spcAft>
                <a:spcPts val="1000"/>
              </a:spcAft>
              <a:defRPr sz="1600">
                <a:solidFill>
                  <a:srgbClr val="A0AEC0"/>
                </a:solidFill>
                <a:latin typeface="Arial"/>
              </a:defRPr>
            </a:pPr>
            <a:r>
              <a:t>הלקוח: צורך להבין את סיכוייו בקלות ובמהירות מרחוק ללא מבוכה (לשם כך פותח הצ'אט-בוט החכם).</a:t>
            </a:r>
          </a:p>
          <a:p>
            <a:pPr lvl="1" algn="r">
              <a:spcAft>
                <a:spcPts val="1000"/>
              </a:spcAft>
              <a:defRPr sz="1600">
                <a:solidFill>
                  <a:srgbClr val="A0AEC0"/>
                </a:solidFill>
                <a:latin typeface="Arial"/>
              </a:defRPr>
            </a:pPr>
            <a:r>
              <a:t>עורך הדין: צורך בכלי לניהול תיקים ותזמון תורים מובנה (CRM) לצורך ייעול הליכי הסינון והתקשורת המהירה.</a:t>
            </a:r>
          </a:p>
          <a:p>
            <a:pPr algn="r">
              <a:spcAft>
                <a:spcPts val="1000"/>
              </a:spcAft>
              <a:defRPr sz="1900" b="1">
                <a:solidFill>
                  <a:srgbClr val="FFFFFF"/>
                </a:solidFill>
                <a:latin typeface="Arial"/>
              </a:defRPr>
            </a:pPr>
            <a:r>
              <a:t>💡 הנחות היסוד הראשוניות (השערות ראשוניות):</a:t>
            </a:r>
          </a:p>
          <a:p>
            <a:pPr lvl="1" algn="r">
              <a:spcAft>
                <a:spcPts val="1000"/>
              </a:spcAft>
              <a:defRPr sz="1600">
                <a:solidFill>
                  <a:srgbClr val="A0AEC0"/>
                </a:solidFill>
                <a:latin typeface="Arial"/>
              </a:defRPr>
            </a:pPr>
            <a:r>
              <a:t>השערת ערך (Value): פדיון זכאות אנונימי ומהיר מרחוק יעלה את נכונות הלקוחות ליצירת קשר ב-40%.</a:t>
            </a:r>
          </a:p>
          <a:p>
            <a:pPr lvl="1" algn="r">
              <a:spcAft>
                <a:spcPts val="1000"/>
              </a:spcAft>
              <a:defRPr sz="1600">
                <a:solidFill>
                  <a:srgbClr val="A0AEC0"/>
                </a:solidFill>
                <a:latin typeface="Arial"/>
              </a:defRPr>
            </a:pPr>
            <a:r>
              <a:t>השערת שמישות (Usability): שימוש ברכיב קולי יקל על תיאור המקרה וימנע נטישת שאלונים במובייל.</a:t>
            </a:r>
          </a:p>
          <a:p>
            <a:pPr lvl="1" algn="r">
              <a:spcAft>
                <a:spcPts val="1000"/>
              </a:spcAft>
              <a:defRPr sz="1600">
                <a:solidFill>
                  <a:srgbClr val="A0AEC0"/>
                </a:solidFill>
                <a:latin typeface="Arial"/>
              </a:defRPr>
            </a:pPr>
            <a:r>
              <a:t>השערת קיום (Viability): מערכת ה-CRM המובנית וניהול התורים יחסכו כ-60% מזמן הסינון והתיאום המשרדי.</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D0F17"/>
        </a:solidFill>
        <a:effectLst/>
      </p:bgPr>
    </p:bg>
    <p:spTree>
      <p:nvGrpSpPr>
        <p:cNvPr id="1" name=""/>
        <p:cNvGrpSpPr/>
        <p:nvPr/>
      </p:nvGrpSpPr>
      <p:grpSpPr/>
      <p:sp>
        <p:nvSpPr>
          <p:cNvPr id="2" name="TextBox 1"/>
          <p:cNvSpPr txBox="1"/>
          <p:nvPr/>
        </p:nvSpPr>
        <p:spPr>
          <a:xfrm>
            <a:off x="914400" y="365760"/>
            <a:ext cx="10360152" cy="365760"/>
          </a:xfrm>
          <a:prstGeom prst="rect">
            <a:avLst/>
          </a:prstGeom>
          <a:noFill/>
        </p:spPr>
        <p:txBody>
          <a:bodyPr wrap="none">
            <a:spAutoFit/>
          </a:bodyPr>
          <a:lstStyle/>
          <a:p>
            <a:pPr algn="r">
              <a:defRPr sz="1200" b="1">
                <a:solidFill>
                  <a:srgbClr val="C5A880"/>
                </a:solidFill>
                <a:latin typeface="Arial"/>
              </a:defRPr>
            </a:pPr>
            <a:r>
              <a:t>חלק 2: סיכום מחקר משתמשים ותובנות</a:t>
            </a:r>
          </a:p>
        </p:txBody>
      </p:sp>
      <p:sp>
        <p:nvSpPr>
          <p:cNvPr id="3" name="TextBox 2"/>
          <p:cNvSpPr txBox="1"/>
          <p:nvPr/>
        </p:nvSpPr>
        <p:spPr>
          <a:xfrm>
            <a:off x="914400" y="731520"/>
            <a:ext cx="10360152" cy="731520"/>
          </a:xfrm>
          <a:prstGeom prst="rect">
            <a:avLst/>
          </a:prstGeom>
          <a:noFill/>
        </p:spPr>
        <p:txBody>
          <a:bodyPr wrap="none">
            <a:spAutoFit/>
          </a:bodyPr>
          <a:lstStyle/>
          <a:p>
            <a:pPr algn="r">
              <a:defRPr sz="2800" b="1">
                <a:solidFill>
                  <a:srgbClr val="FFFFFF"/>
                </a:solidFill>
                <a:latin typeface="Arial"/>
              </a:defRPr>
            </a:pPr>
            <a:r>
              <a:t>פרסונות, JTBD וסיפורי משתמש (חלק 2)</a:t>
            </a:r>
          </a:p>
        </p:txBody>
      </p:sp>
      <p:sp>
        <p:nvSpPr>
          <p:cNvPr id="4" name="TextBox 3"/>
          <p:cNvSpPr txBox="1"/>
          <p:nvPr/>
        </p:nvSpPr>
        <p:spPr>
          <a:xfrm>
            <a:off x="914400" y="1645920"/>
            <a:ext cx="10360152" cy="4572000"/>
          </a:xfrm>
          <a:prstGeom prst="rect">
            <a:avLst/>
          </a:prstGeom>
          <a:noFill/>
        </p:spPr>
        <p:txBody>
          <a:bodyPr wrap="square">
            <a:spAutoFit/>
          </a:bodyPr>
          <a:lstStyle/>
          <a:p>
            <a:pPr algn="r">
              <a:spcAft>
                <a:spcPts val="1000"/>
              </a:spcAft>
              <a:defRPr sz="1900" b="1">
                <a:solidFill>
                  <a:srgbClr val="FFFFFF"/>
                </a:solidFill>
                <a:latin typeface="Arial"/>
              </a:defRPr>
            </a:pPr>
            <a:r>
              <a:t>👥 פרסונות המפתח (Personas):</a:t>
            </a:r>
          </a:p>
          <a:p>
            <a:pPr lvl="1" algn="r">
              <a:spcAft>
                <a:spcPts val="1000"/>
              </a:spcAft>
              <a:defRPr sz="1600">
                <a:solidFill>
                  <a:srgbClr val="A0AEC0"/>
                </a:solidFill>
                <a:latin typeface="Arial"/>
              </a:defRPr>
            </a:pPr>
            <a:r>
              <a:t>הלקוח עאדל (פועל בניין, 42): חרד מעלויות ומשיפוט של עורך דין, ומחפש הערכת סיכויים מיידית ועצמאית בנייד.</a:t>
            </a:r>
          </a:p>
          <a:p>
            <a:pPr lvl="1" algn="r">
              <a:spcAft>
                <a:spcPts val="1000"/>
              </a:spcAft>
              <a:defRPr sz="1600">
                <a:solidFill>
                  <a:srgbClr val="A0AEC0"/>
                </a:solidFill>
                <a:latin typeface="Arial"/>
              </a:defRPr>
            </a:pPr>
            <a:r>
              <a:t>עו"ד יוסף (שותף, 35): מתוסכל מביזבוז זמן על לקוחות לא מתאימים וחזרה על אותן שאלות שוב ושוב.</a:t>
            </a:r>
          </a:p>
          <a:p>
            <a:pPr algn="r">
              <a:spcAft>
                <a:spcPts val="1000"/>
              </a:spcAft>
              <a:defRPr sz="1900" b="1">
                <a:solidFill>
                  <a:srgbClr val="FFFFFF"/>
                </a:solidFill>
                <a:latin typeface="Arial"/>
              </a:defRPr>
            </a:pPr>
            <a:r>
              <a:t>🔥 נקודות כאב מרכזיות (Pain Points):</a:t>
            </a:r>
          </a:p>
          <a:p>
            <a:pPr lvl="1" algn="r">
              <a:spcAft>
                <a:spcPts val="1000"/>
              </a:spcAft>
              <a:defRPr sz="1600">
                <a:solidFill>
                  <a:srgbClr val="A0AEC0"/>
                </a:solidFill>
                <a:latin typeface="Arial"/>
              </a:defRPr>
            </a:pPr>
            <a:r>
              <a:t>אצל הלקוח: ייאוש ואובדן תקווה בשל אורך התהליכים הבורוקרטיים והמאמץ הרב הנדרש להצלחת התביעה.</a:t>
            </a:r>
          </a:p>
          <a:p>
            <a:pPr lvl="1" algn="r">
              <a:spcAft>
                <a:spcPts val="1000"/>
              </a:spcAft>
              <a:defRPr sz="1600">
                <a:solidFill>
                  <a:srgbClr val="A0AEC0"/>
                </a:solidFill>
                <a:latin typeface="Arial"/>
              </a:defRPr>
            </a:pPr>
            <a:r>
              <a:t>אצל עורך הדין: בזבוז שעות עבודה יקרות בסינון שיחות ידני עמוס וחזרה על אותן שאלות בסיסיות.</a:t>
            </a:r>
          </a:p>
          <a:p>
            <a:pPr algn="r">
              <a:spcAft>
                <a:spcPts val="1000"/>
              </a:spcAft>
              <a:defRPr sz="1900" b="1">
                <a:solidFill>
                  <a:srgbClr val="FFFFFF"/>
                </a:solidFill>
                <a:latin typeface="Arial"/>
              </a:defRPr>
            </a:pPr>
            <a:r>
              <a:t>🎯 ניתוח Jobs-To-Be-Done (JTBD):</a:t>
            </a:r>
          </a:p>
          <a:p>
            <a:pPr lvl="1" algn="r">
              <a:spcAft>
                <a:spcPts val="1000"/>
              </a:spcAft>
              <a:defRPr sz="1600">
                <a:solidFill>
                  <a:srgbClr val="A0AEC0"/>
                </a:solidFill>
                <a:latin typeface="Arial"/>
              </a:defRPr>
            </a:pPr>
            <a:r>
              <a:t>משימה 1 (הלקוח): בדיקת סיכויי התביעה הרפואית שלי בדיסקרטיות ובמהירות (הצלחה: קבלת תשובה ברורה "מצדיק/לא מצדיק" תוך 2 דקות).</a:t>
            </a:r>
          </a:p>
          <a:p>
            <a:pPr lvl="1" algn="r">
              <a:spcAft>
                <a:spcPts val="1000"/>
              </a:spcAft>
              <a:defRPr sz="1600">
                <a:solidFill>
                  <a:srgbClr val="A0AEC0"/>
                </a:solidFill>
                <a:latin typeface="Arial"/>
              </a:defRPr>
            </a:pPr>
            <a:r>
              <a:t>משימה 2 (עורך הדין): סינון לקוחות וקבלת תיק מסודר מראש (הצלחה: צמצום שיחות סרק ב-60% וקבלת פרטים ממוקדים).</a:t>
            </a:r>
          </a:p>
          <a:p>
            <a:pPr algn="r">
              <a:spcAft>
                <a:spcPts val="1000"/>
              </a:spcAft>
              <a:defRPr sz="1900" b="1">
                <a:solidFill>
                  <a:srgbClr val="FFFFFF"/>
                </a:solidFill>
                <a:latin typeface="Arial"/>
              </a:defRPr>
            </a:pPr>
            <a:r>
              <a:t>📝 סיפורי משתמש (User Stories):</a:t>
            </a:r>
          </a:p>
          <a:p>
            <a:pPr lvl="1" algn="r">
              <a:spcAft>
                <a:spcPts val="1000"/>
              </a:spcAft>
              <a:defRPr sz="1600">
                <a:solidFill>
                  <a:srgbClr val="A0AEC0"/>
                </a:solidFill>
                <a:latin typeface="Arial"/>
              </a:defRPr>
            </a:pPr>
            <a:r>
              <a:t>בתור זבון חרד שאינו בטוח אם המקרה שלו מוגדר כתאונת עבודה, כאשר אני מתבייש לפנות ישירות למשרד, אני רוצה להשתמש בצ'אט בוט אנונימי ונגיש בשפתי, כדי שאקבל אישור ראשוני לזכאותי ללא שיפוט.</a:t>
            </a:r>
          </a:p>
          <a:p>
            <a:pPr lvl="1" algn="r">
              <a:spcAft>
                <a:spcPts val="1000"/>
              </a:spcAft>
              <a:defRPr sz="1600">
                <a:solidFill>
                  <a:srgbClr val="A0AEC0"/>
                </a:solidFill>
                <a:latin typeface="Arial"/>
              </a:defRPr>
            </a:pPr>
            <a:r>
              <a:t>בתור משתמש רגיש המשתף פרטים רפואיים, כאשר אני מסיים את הבדיקה בצ'אט, אני רוצה לבחור באופן מפורש אם לשלוח את המידע או להשמיד אותו לצמיתות, כדי שארגיש שליטה מוחלטת במידע הפרטי שלי.</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D0F17"/>
        </a:solidFill>
        <a:effectLst/>
      </p:bgPr>
    </p:bg>
    <p:spTree>
      <p:nvGrpSpPr>
        <p:cNvPr id="1" name=""/>
        <p:cNvGrpSpPr/>
        <p:nvPr/>
      </p:nvGrpSpPr>
      <p:grpSpPr/>
      <p:sp>
        <p:nvSpPr>
          <p:cNvPr id="2" name="TextBox 1"/>
          <p:cNvSpPr txBox="1"/>
          <p:nvPr/>
        </p:nvSpPr>
        <p:spPr>
          <a:xfrm>
            <a:off x="914400" y="365760"/>
            <a:ext cx="10360152" cy="365760"/>
          </a:xfrm>
          <a:prstGeom prst="rect">
            <a:avLst/>
          </a:prstGeom>
          <a:noFill/>
        </p:spPr>
        <p:txBody>
          <a:bodyPr wrap="none">
            <a:spAutoFit/>
          </a:bodyPr>
          <a:lstStyle/>
          <a:p>
            <a:pPr algn="r">
              <a:defRPr sz="1200" b="1">
                <a:solidFill>
                  <a:srgbClr val="C5A880"/>
                </a:solidFill>
                <a:latin typeface="Arial"/>
              </a:defRPr>
            </a:pPr>
            <a:r>
              <a:t>חלק 3: סיכום מחקר שוק</a:t>
            </a:r>
          </a:p>
        </p:txBody>
      </p:sp>
      <p:sp>
        <p:nvSpPr>
          <p:cNvPr id="3" name="TextBox 2"/>
          <p:cNvSpPr txBox="1"/>
          <p:nvPr/>
        </p:nvSpPr>
        <p:spPr>
          <a:xfrm>
            <a:off x="914400" y="731520"/>
            <a:ext cx="10360152" cy="731520"/>
          </a:xfrm>
          <a:prstGeom prst="rect">
            <a:avLst/>
          </a:prstGeom>
          <a:noFill/>
        </p:spPr>
        <p:txBody>
          <a:bodyPr wrap="none">
            <a:spAutoFit/>
          </a:bodyPr>
          <a:lstStyle/>
          <a:p>
            <a:pPr algn="r">
              <a:defRPr sz="2800" b="1">
                <a:solidFill>
                  <a:srgbClr val="FFFFFF"/>
                </a:solidFill>
                <a:latin typeface="Arial"/>
              </a:defRPr>
            </a:pPr>
            <a:r>
              <a:t>פתרונות קיימים בשוק, מגמות וניתוח SWOT (חלק 3)</a:t>
            </a:r>
          </a:p>
        </p:txBody>
      </p:sp>
      <p:sp>
        <p:nvSpPr>
          <p:cNvPr id="4" name="TextBox 3"/>
          <p:cNvSpPr txBox="1"/>
          <p:nvPr/>
        </p:nvSpPr>
        <p:spPr>
          <a:xfrm>
            <a:off x="914400" y="1645920"/>
            <a:ext cx="10360152" cy="4572000"/>
          </a:xfrm>
          <a:prstGeom prst="rect">
            <a:avLst/>
          </a:prstGeom>
          <a:noFill/>
        </p:spPr>
        <p:txBody>
          <a:bodyPr wrap="square">
            <a:spAutoFit/>
          </a:bodyPr>
          <a:lstStyle/>
          <a:p>
            <a:pPr algn="r">
              <a:spcAft>
                <a:spcPts val="1000"/>
              </a:spcAft>
              <a:defRPr sz="1900" b="1">
                <a:solidFill>
                  <a:srgbClr val="FFFFFF"/>
                </a:solidFill>
                <a:latin typeface="Arial"/>
              </a:defRPr>
            </a:pPr>
            <a:r>
              <a:t>🔍 פתרונות קיימים ופערים בשוק:</a:t>
            </a:r>
          </a:p>
          <a:p>
            <a:pPr lvl="1" algn="r">
              <a:spcAft>
                <a:spcPts val="1000"/>
              </a:spcAft>
              <a:defRPr sz="1600">
                <a:solidFill>
                  <a:srgbClr val="A0AEC0"/>
                </a:solidFill>
                <a:latin typeface="Arial"/>
              </a:defRPr>
            </a:pPr>
            <a:r>
              <a:t>טפסים דיגיטליים סטטיים: קשיחים, ארוכים, רק בעברית, אחוז נטישה מעל 70% בנייד ללא התאמה אישית.</a:t>
            </a:r>
          </a:p>
          <a:p>
            <a:pPr lvl="1" algn="r">
              <a:spcAft>
                <a:spcPts val="1000"/>
              </a:spcAft>
              <a:defRPr sz="1600">
                <a:solidFill>
                  <a:srgbClr val="A0AEC0"/>
                </a:solidFill>
                <a:latin typeface="Arial"/>
              </a:defRPr>
            </a:pPr>
            <a:r>
              <a:t>פנייה טלפונית והגעה פיזית: דורשת מאמץ וזמן נסיעה רב, חסם כניסה פסיכולוגי גבוה שגורם לייאוש מהתהליך.</a:t>
            </a:r>
          </a:p>
          <a:p>
            <a:pPr lvl="1" algn="r">
              <a:spcAft>
                <a:spcPts val="1000"/>
              </a:spcAft>
              <a:defRPr sz="1600">
                <a:solidFill>
                  <a:srgbClr val="A0AEC0"/>
                </a:solidFill>
                <a:latin typeface="Arial"/>
              </a:defRPr>
            </a:pPr>
            <a:r>
              <a:t>הפער בשוק: היעדר פלטפורמה אחודה המשלבת בדיקת זכאות דינמית (AI) יחד עם לוח בקרה מובנה של עורך דין לקיצור זמני תיאום וניהול תורים.</a:t>
            </a:r>
          </a:p>
          <a:p>
            <a:pPr algn="r">
              <a:spcAft>
                <a:spcPts val="1000"/>
              </a:spcAft>
              <a:defRPr sz="1900" b="1">
                <a:solidFill>
                  <a:srgbClr val="FFFFFF"/>
                </a:solidFill>
                <a:latin typeface="Arial"/>
              </a:defRPr>
            </a:pPr>
            <a:r>
              <a:t>📈 מגמות טכנולוגיות מובילות:</a:t>
            </a:r>
          </a:p>
          <a:p>
            <a:pPr lvl="1" algn="r">
              <a:spcAft>
                <a:spcPts val="1000"/>
              </a:spcAft>
              <a:defRPr sz="1600">
                <a:solidFill>
                  <a:srgbClr val="A0AEC0"/>
                </a:solidFill>
                <a:latin typeface="Arial"/>
              </a:defRPr>
            </a:pPr>
            <a:r>
              <a:t>Conversational Legal Intake: מעבר של משרדים מובילים לצ'אט-בוטים אינטראקטיביים במובייל במקום טפסים.</a:t>
            </a:r>
          </a:p>
          <a:p>
            <a:pPr lvl="1" algn="r">
              <a:spcAft>
                <a:spcPts val="1000"/>
              </a:spcAft>
              <a:defRPr sz="1600">
                <a:solidFill>
                  <a:srgbClr val="A0AEC0"/>
                </a:solidFill>
                <a:latin typeface="Arial"/>
              </a:defRPr>
            </a:pPr>
            <a:r>
              <a:t>AI Eligibility Checks: שימוש באלגוריתמים לקביעת היתכנות התיק וסיכויי התביעה בזמן אמת.</a:t>
            </a:r>
          </a:p>
          <a:p>
            <a:pPr lvl="1" algn="r">
              <a:spcAft>
                <a:spcPts val="1000"/>
              </a:spcAft>
              <a:defRPr sz="1600">
                <a:solidFill>
                  <a:srgbClr val="A0AEC0"/>
                </a:solidFill>
                <a:latin typeface="Arial"/>
              </a:defRPr>
            </a:pPr>
            <a:r>
              <a:t>Unified Practice Management: חיבור ישיר ואינטגרטיבי בין מערכות הפנייה של המשתמשים ליומן המשרד ומערכות Outlook.</a:t>
            </a:r>
          </a:p>
          <a:p>
            <a:pPr algn="r">
              <a:spcAft>
                <a:spcPts val="1000"/>
              </a:spcAft>
              <a:defRPr sz="1900" b="1">
                <a:solidFill>
                  <a:srgbClr val="FFFFFF"/>
                </a:solidFill>
                <a:latin typeface="Arial"/>
              </a:defRPr>
            </a:pPr>
            <a:r>
              <a:t>📊 ניתוח SWOT של המוצר:</a:t>
            </a:r>
          </a:p>
          <a:p>
            <a:pPr lvl="1" algn="r">
              <a:spcAft>
                <a:spcPts val="1000"/>
              </a:spcAft>
              <a:defRPr sz="1600">
                <a:solidFill>
                  <a:srgbClr val="A0AEC0"/>
                </a:solidFill>
                <a:latin typeface="Arial"/>
              </a:defRPr>
            </a:pPr>
            <a:r>
              <a:t>חוזקות (S): פתרון קול מובנה, דו-לשוניות מלאה, סינון לקוחות ללא עילה, וניהול תורים קל למשרד.</a:t>
            </a:r>
          </a:p>
          <a:p>
            <a:pPr lvl="1" algn="r">
              <a:spcAft>
                <a:spcPts val="1000"/>
              </a:spcAft>
              <a:defRPr sz="1600">
                <a:solidFill>
                  <a:srgbClr val="A0AEC0"/>
                </a:solidFill>
                <a:latin typeface="Arial"/>
              </a:defRPr>
            </a:pPr>
            <a:r>
              <a:t>חולשות (W): תלות בחיבור אינטרנט של המשתמש ובאמינות הנייד.</a:t>
            </a:r>
          </a:p>
          <a:p>
            <a:pPr lvl="1" algn="r">
              <a:spcAft>
                <a:spcPts val="1000"/>
              </a:spcAft>
              <a:defRPr sz="1600">
                <a:solidFill>
                  <a:srgbClr val="A0AEC0"/>
                </a:solidFill>
                <a:latin typeface="Arial"/>
              </a:defRPr>
            </a:pPr>
            <a:r>
              <a:t>הזדמנויות (O): פיתוח ערוץ וואטסאפ בוט (WhatsApp Integration) להקלת הגישה עוד יותר.</a:t>
            </a:r>
          </a:p>
          <a:p>
            <a:pPr lvl="1" algn="r">
              <a:spcAft>
                <a:spcPts val="1000"/>
              </a:spcAft>
              <a:defRPr sz="1600">
                <a:solidFill>
                  <a:srgbClr val="A0AEC0"/>
                </a:solidFill>
                <a:latin typeface="Arial"/>
              </a:defRPr>
            </a:pPr>
            <a:r>
              <a:t>איומים (T): כניסת מתחרים גדולים לשוק המקומי או התנגדות של משרדים שמרניים לטכנולוגיה.</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D0F17"/>
        </a:solidFill>
        <a:effectLst/>
      </p:bgPr>
    </p:bg>
    <p:spTree>
      <p:nvGrpSpPr>
        <p:cNvPr id="1" name=""/>
        <p:cNvGrpSpPr/>
        <p:nvPr/>
      </p:nvGrpSpPr>
      <p:grpSpPr/>
      <p:sp>
        <p:nvSpPr>
          <p:cNvPr id="2" name="TextBox 1"/>
          <p:cNvSpPr txBox="1"/>
          <p:nvPr/>
        </p:nvSpPr>
        <p:spPr>
          <a:xfrm>
            <a:off x="914400" y="365760"/>
            <a:ext cx="10360152" cy="365760"/>
          </a:xfrm>
          <a:prstGeom prst="rect">
            <a:avLst/>
          </a:prstGeom>
          <a:noFill/>
        </p:spPr>
        <p:txBody>
          <a:bodyPr wrap="none">
            <a:spAutoFit/>
          </a:bodyPr>
          <a:lstStyle/>
          <a:p>
            <a:pPr algn="r">
              <a:defRPr sz="1200" b="1">
                <a:solidFill>
                  <a:srgbClr val="C5A880"/>
                </a:solidFill>
                <a:latin typeface="Arial"/>
              </a:defRPr>
            </a:pPr>
            <a:r>
              <a:t>חלק 4: חזון המוצר והצעת הערך</a:t>
            </a:r>
          </a:p>
        </p:txBody>
      </p:sp>
      <p:sp>
        <p:nvSpPr>
          <p:cNvPr id="3" name="TextBox 2"/>
          <p:cNvSpPr txBox="1"/>
          <p:nvPr/>
        </p:nvSpPr>
        <p:spPr>
          <a:xfrm>
            <a:off x="914400" y="731520"/>
            <a:ext cx="10360152" cy="731520"/>
          </a:xfrm>
          <a:prstGeom prst="rect">
            <a:avLst/>
          </a:prstGeom>
          <a:noFill/>
        </p:spPr>
        <p:txBody>
          <a:bodyPr wrap="none">
            <a:spAutoFit/>
          </a:bodyPr>
          <a:lstStyle/>
          <a:p>
            <a:pPr algn="r">
              <a:defRPr sz="2800" b="1">
                <a:solidFill>
                  <a:srgbClr val="FFFFFF"/>
                </a:solidFill>
                <a:latin typeface="Arial"/>
              </a:defRPr>
            </a:pPr>
            <a:r>
              <a:t>חזון, הצעת ערך ייחודית ואימות השערות (חלק 4)</a:t>
            </a:r>
          </a:p>
        </p:txBody>
      </p:sp>
      <p:sp>
        <p:nvSpPr>
          <p:cNvPr id="4" name="TextBox 3"/>
          <p:cNvSpPr txBox="1"/>
          <p:nvPr/>
        </p:nvSpPr>
        <p:spPr>
          <a:xfrm>
            <a:off x="914400" y="1645920"/>
            <a:ext cx="10360152" cy="4572000"/>
          </a:xfrm>
          <a:prstGeom prst="rect">
            <a:avLst/>
          </a:prstGeom>
          <a:noFill/>
        </p:spPr>
        <p:txBody>
          <a:bodyPr wrap="square">
            <a:spAutoFit/>
          </a:bodyPr>
          <a:lstStyle/>
          <a:p>
            <a:pPr algn="r">
              <a:spcAft>
                <a:spcPts val="1000"/>
              </a:spcAft>
              <a:defRPr sz="1900" b="1">
                <a:solidFill>
                  <a:srgbClr val="FFFFFF"/>
                </a:solidFill>
                <a:latin typeface="Arial"/>
              </a:defRPr>
            </a:pPr>
            <a:r>
              <a:t>🎯 חזון המוצר: להסיר חסמי פחד וסרבול בירוקרטי, ולהוות את הגשר הדיגיטלי הנגיש והאמין ביותר שמחבר בין נפגעי גוף לקבלת פיצוי הוגן ומהיר.</a:t>
            </a:r>
          </a:p>
          <a:p>
            <a:pPr algn="r">
              <a:spcAft>
                <a:spcPts val="1000"/>
              </a:spcAft>
              <a:defRPr sz="1900" b="1">
                <a:solidFill>
                  <a:srgbClr val="FFFFFF"/>
                </a:solidFill>
                <a:latin typeface="Arial"/>
              </a:defRPr>
            </a:pPr>
            <a:r>
              <a:t>💡 הצעת הערך הייחודית (Unique Value Proposition):</a:t>
            </a:r>
          </a:p>
          <a:p>
            <a:pPr lvl="1" algn="r">
              <a:spcAft>
                <a:spcPts val="1000"/>
              </a:spcAft>
              <a:defRPr sz="1600">
                <a:solidFill>
                  <a:srgbClr val="A0AEC0"/>
                </a:solidFill>
                <a:latin typeface="Arial"/>
              </a:defRPr>
            </a:pPr>
            <a:r>
              <a:t>הערכת זכאות משפטית ותיאום תור מיידי מול עורך דין תוך 2 דקות בלבד, בשפתך ובצורה פשוטה, ללא עלות מראש וללא כל התחייבות – עם שליטה מלאה ופרטיות מוחלטת במידע האישי שלך.</a:t>
            </a:r>
          </a:p>
          <a:p>
            <a:pPr algn="r">
              <a:spcAft>
                <a:spcPts val="1000"/>
              </a:spcAft>
              <a:defRPr sz="1900" b="1">
                <a:solidFill>
                  <a:srgbClr val="FFFFFF"/>
                </a:solidFill>
                <a:latin typeface="Arial"/>
              </a:defRPr>
            </a:pPr>
            <a:r>
              <a:t>⚔️ מחקר מתחרים ישירים (נקודות החוזק שלנו):</a:t>
            </a:r>
          </a:p>
          <a:p>
            <a:pPr lvl="1" algn="r">
              <a:spcAft>
                <a:spcPts val="1000"/>
              </a:spcAft>
              <a:defRPr sz="1600">
                <a:solidFill>
                  <a:srgbClr val="A0AEC0"/>
                </a:solidFill>
                <a:latin typeface="Arial"/>
              </a:defRPr>
            </a:pPr>
            <a:r>
              <a:t>דו-לשוניות מלאה ודינמית: (מתחרים: טפסים נוקשים בעברית בלבד).</a:t>
            </a:r>
          </a:p>
          <a:p>
            <a:pPr lvl="1" algn="r">
              <a:spcAft>
                <a:spcPts val="1000"/>
              </a:spcAft>
              <a:defRPr sz="1600">
                <a:solidFill>
                  <a:srgbClr val="A0AEC0"/>
                </a:solidFill>
                <a:latin typeface="Arial"/>
              </a:defRPr>
            </a:pPr>
            <a:r>
              <a:t>ממשק קלט קולי מובנה ורציף: (מתחרים: לא קיים, דורש הקלדה ארוכה).</a:t>
            </a:r>
          </a:p>
          <a:p>
            <a:pPr lvl="1" algn="r">
              <a:spcAft>
                <a:spcPts val="1000"/>
              </a:spcAft>
              <a:defRPr sz="1600">
                <a:solidFill>
                  <a:srgbClr val="A0AEC0"/>
                </a:solidFill>
                <a:latin typeface="Arial"/>
              </a:defRPr>
            </a:pPr>
            <a:r>
              <a:t>אינטגרציה לניהול תורים ו-CRM: (מתחרים: טפסים סטטיים הדורשים חזרה טלפונית ידנית ממושכת).</a:t>
            </a:r>
          </a:p>
          <a:p>
            <a:pPr algn="r">
              <a:spcAft>
                <a:spcPts val="1000"/>
              </a:spcAft>
              <a:defRPr sz="1900" b="1">
                <a:solidFill>
                  <a:srgbClr val="FFFFFF"/>
                </a:solidFill>
                <a:latin typeface="Arial"/>
              </a:defRPr>
            </a:pPr>
            <a:r>
              <a:t>✔ תיקוף השערות במחקר:</a:t>
            </a:r>
          </a:p>
          <a:p>
            <a:pPr lvl="1" algn="r">
              <a:spcAft>
                <a:spcPts val="1000"/>
              </a:spcAft>
              <a:defRPr sz="1600">
                <a:solidFill>
                  <a:srgbClr val="A0AEC0"/>
                </a:solidFill>
                <a:latin typeface="Arial"/>
              </a:defRPr>
            </a:pPr>
            <a:r>
              <a:t>השערת דחיית בקשת הטלפון לסוף התהליך אומתה כמגבירה אמון; השערת ההקלטה הקולית אומתה כמפחיתה מאמץ הקלדה רפואית.</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D0F17"/>
        </a:solidFill>
        <a:effectLst/>
      </p:bgPr>
    </p:bg>
    <p:spTree>
      <p:nvGrpSpPr>
        <p:cNvPr id="1" name=""/>
        <p:cNvGrpSpPr/>
        <p:nvPr/>
      </p:nvGrpSpPr>
      <p:grpSpPr/>
      <p:sp>
        <p:nvSpPr>
          <p:cNvPr id="2" name="TextBox 1"/>
          <p:cNvSpPr txBox="1"/>
          <p:nvPr/>
        </p:nvSpPr>
        <p:spPr>
          <a:xfrm>
            <a:off x="914400" y="365760"/>
            <a:ext cx="10360152" cy="365760"/>
          </a:xfrm>
          <a:prstGeom prst="rect">
            <a:avLst/>
          </a:prstGeom>
          <a:noFill/>
        </p:spPr>
        <p:txBody>
          <a:bodyPr wrap="none">
            <a:spAutoFit/>
          </a:bodyPr>
          <a:lstStyle/>
          <a:p>
            <a:pPr algn="r">
              <a:defRPr sz="1200" b="1">
                <a:solidFill>
                  <a:srgbClr val="C5A880"/>
                </a:solidFill>
                <a:latin typeface="Arial"/>
              </a:defRPr>
            </a:pPr>
            <a:r>
              <a:t>חלק 5: קנבס מודל עסקי - שלבים 1-4 בלבד</a:t>
            </a:r>
          </a:p>
        </p:txBody>
      </p:sp>
      <p:sp>
        <p:nvSpPr>
          <p:cNvPr id="3" name="TextBox 2"/>
          <p:cNvSpPr txBox="1"/>
          <p:nvPr/>
        </p:nvSpPr>
        <p:spPr>
          <a:xfrm>
            <a:off x="914400" y="731520"/>
            <a:ext cx="10360152" cy="731520"/>
          </a:xfrm>
          <a:prstGeom prst="rect">
            <a:avLst/>
          </a:prstGeom>
          <a:noFill/>
        </p:spPr>
        <p:txBody>
          <a:bodyPr wrap="none">
            <a:spAutoFit/>
          </a:bodyPr>
          <a:lstStyle/>
          <a:p>
            <a:pPr algn="r">
              <a:defRPr sz="2800" b="1">
                <a:solidFill>
                  <a:srgbClr val="FFFFFF"/>
                </a:solidFill>
                <a:latin typeface="Arial"/>
              </a:defRPr>
            </a:pPr>
            <a:r>
              <a:t>קנבס מודל עסקי (חלק 5)</a:t>
            </a:r>
          </a:p>
        </p:txBody>
      </p:sp>
      <p:sp>
        <p:nvSpPr>
          <p:cNvPr id="4" name="TextBox 3"/>
          <p:cNvSpPr txBox="1"/>
          <p:nvPr/>
        </p:nvSpPr>
        <p:spPr>
          <a:xfrm>
            <a:off x="914400" y="1645920"/>
            <a:ext cx="10360152" cy="4572000"/>
          </a:xfrm>
          <a:prstGeom prst="rect">
            <a:avLst/>
          </a:prstGeom>
          <a:noFill/>
        </p:spPr>
        <p:txBody>
          <a:bodyPr wrap="square">
            <a:spAutoFit/>
          </a:bodyPr>
          <a:lstStyle/>
          <a:p>
            <a:pPr algn="r">
              <a:spcAft>
                <a:spcPts val="1000"/>
              </a:spcAft>
              <a:defRPr sz="1900" b="1">
                <a:solidFill>
                  <a:srgbClr val="FFFFFF"/>
                </a:solidFill>
                <a:latin typeface="Arial"/>
              </a:defRPr>
            </a:pPr>
            <a:r>
              <a:t>.1 פלחי לקוחות (Customer Segments):</a:t>
            </a:r>
          </a:p>
          <a:p>
            <a:pPr lvl="1" algn="r">
              <a:spcAft>
                <a:spcPts val="1000"/>
              </a:spcAft>
              <a:defRPr sz="1600">
                <a:solidFill>
                  <a:srgbClr val="A0AEC0"/>
                </a:solidFill>
                <a:latin typeface="Arial"/>
              </a:defRPr>
            </a:pPr>
            <a:r>
              <a:t>לקוחות ונפגעי תאונות עבודה ודרכים המחפשים בדיקת זכאות עצמאית ומהירה ותקשורת קלה מול עורך דין.</a:t>
            </a:r>
          </a:p>
          <a:p>
            <a:pPr lvl="1" algn="r">
              <a:spcAft>
                <a:spcPts val="1000"/>
              </a:spcAft>
              <a:defRPr sz="1600">
                <a:solidFill>
                  <a:srgbClr val="A0AEC0"/>
                </a:solidFill>
                <a:latin typeface="Arial"/>
              </a:defRPr>
            </a:pPr>
            <a:r>
              <a:t>משרדי עורכי דין לנזקי גוף המחפשים פניות מסוננות, מאומתות ומאורגנות מראש ללא שיחות סרק.</a:t>
            </a:r>
          </a:p>
          <a:p>
            <a:pPr algn="r">
              <a:spcAft>
                <a:spcPts val="1000"/>
              </a:spcAft>
              <a:defRPr sz="1900" b="1">
                <a:solidFill>
                  <a:srgbClr val="FFFFFF"/>
                </a:solidFill>
                <a:latin typeface="Arial"/>
              </a:defRPr>
            </a:pPr>
            <a:r>
              <a:t>.2 הצעת ערך (Value Propositions):</a:t>
            </a:r>
          </a:p>
          <a:p>
            <a:pPr lvl="1" algn="r">
              <a:spcAft>
                <a:spcPts val="1000"/>
              </a:spcAft>
              <a:defRPr sz="1600">
                <a:solidFill>
                  <a:srgbClr val="A0AEC0"/>
                </a:solidFill>
                <a:latin typeface="Arial"/>
              </a:defRPr>
            </a:pPr>
            <a:r>
              <a:t>ללקוח: בדיקה מהירה, אנונימית, ללא סיכון פיננסי, תזמון תור מיידי ושליטה מלאה בנתונים האישיים.</a:t>
            </a:r>
          </a:p>
          <a:p>
            <a:pPr lvl="1" algn="r">
              <a:spcAft>
                <a:spcPts val="1000"/>
              </a:spcAft>
              <a:defRPr sz="1600">
                <a:solidFill>
                  <a:srgbClr val="A0AEC0"/>
                </a:solidFill>
                <a:latin typeface="Arial"/>
              </a:defRPr>
            </a:pPr>
            <a:r>
              <a:t>לעורך הדין: קבלת תיק מסווג ומסונן היטב מראש, יומן פגישות מאורגן וחיסכון משמעותי בזמן הסינון.</a:t>
            </a:r>
          </a:p>
          <a:p>
            <a:pPr algn="r">
              <a:spcAft>
                <a:spcPts val="1000"/>
              </a:spcAft>
              <a:defRPr sz="1900" b="1">
                <a:solidFill>
                  <a:srgbClr val="FFFFFF"/>
                </a:solidFill>
                <a:latin typeface="Arial"/>
              </a:defRPr>
            </a:pPr>
            <a:r>
              <a:t>.3 ערוצים (Channels):</a:t>
            </a:r>
          </a:p>
          <a:p>
            <a:pPr lvl="1" algn="r">
              <a:spcAft>
                <a:spcPts val="1000"/>
              </a:spcAft>
              <a:defRPr sz="1600">
                <a:solidFill>
                  <a:srgbClr val="A0AEC0"/>
                </a:solidFill>
                <a:latin typeface="Arial"/>
              </a:defRPr>
            </a:pPr>
            <a:r>
              <a:t>פרסום ממומן ואורגני במנועי חיפוש (SEO/SEM), קבוצות פייסבוק מקצועיות וקהילות עובדים.</a:t>
            </a:r>
          </a:p>
          <a:p>
            <a:pPr algn="r">
              <a:spcAft>
                <a:spcPts val="1000"/>
              </a:spcAft>
              <a:defRPr sz="1900" b="1">
                <a:solidFill>
                  <a:srgbClr val="FFFFFF"/>
                </a:solidFill>
                <a:latin typeface="Arial"/>
              </a:defRPr>
            </a:pPr>
            <a:r>
              <a:t>.4 קשרי לקוחות (Customer Relationships):</a:t>
            </a:r>
          </a:p>
          <a:p>
            <a:pPr lvl="1" algn="r">
              <a:spcAft>
                <a:spcPts val="1000"/>
              </a:spcAft>
              <a:defRPr sz="1600">
                <a:solidFill>
                  <a:srgbClr val="A0AEC0"/>
                </a:solidFill>
                <a:latin typeface="Arial"/>
              </a:defRPr>
            </a:pPr>
            <a:r>
              <a:t>קשר מבוסס אמון ודיסקרטיות מלאה (אפשרות להשמדת נתונים בלחיצה), ליווי בצ'אט קשוב ללא לחץ משרדי.</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D0F17"/>
        </a:solidFill>
        <a:effectLst/>
      </p:bgPr>
    </p:bg>
    <p:spTree>
      <p:nvGrpSpPr>
        <p:cNvPr id="1" name=""/>
        <p:cNvGrpSpPr/>
        <p:nvPr/>
      </p:nvGrpSpPr>
      <p:grpSpPr/>
      <p:sp>
        <p:nvSpPr>
          <p:cNvPr id="2" name="TextBox 1"/>
          <p:cNvSpPr txBox="1"/>
          <p:nvPr/>
        </p:nvSpPr>
        <p:spPr>
          <a:xfrm>
            <a:off x="914400" y="365760"/>
            <a:ext cx="10360152" cy="365760"/>
          </a:xfrm>
          <a:prstGeom prst="rect">
            <a:avLst/>
          </a:prstGeom>
          <a:noFill/>
        </p:spPr>
        <p:txBody>
          <a:bodyPr wrap="none">
            <a:spAutoFit/>
          </a:bodyPr>
          <a:lstStyle/>
          <a:p>
            <a:pPr algn="r">
              <a:defRPr sz="1200" b="1">
                <a:solidFill>
                  <a:srgbClr val="C5A880"/>
                </a:solidFill>
                <a:latin typeface="Arial"/>
              </a:defRPr>
            </a:pPr>
            <a:r>
              <a:t>חלק 6: אפיון ותעדוף פיצ'רים</a:t>
            </a:r>
          </a:p>
        </p:txBody>
      </p:sp>
      <p:sp>
        <p:nvSpPr>
          <p:cNvPr id="3" name="TextBox 2"/>
          <p:cNvSpPr txBox="1"/>
          <p:nvPr/>
        </p:nvSpPr>
        <p:spPr>
          <a:xfrm>
            <a:off x="914400" y="731520"/>
            <a:ext cx="10360152" cy="731520"/>
          </a:xfrm>
          <a:prstGeom prst="rect">
            <a:avLst/>
          </a:prstGeom>
          <a:noFill/>
        </p:spPr>
        <p:txBody>
          <a:bodyPr wrap="none">
            <a:spAutoFit/>
          </a:bodyPr>
          <a:lstStyle/>
          <a:p>
            <a:pPr algn="r">
              <a:defRPr sz="2800" b="1">
                <a:solidFill>
                  <a:srgbClr val="FFFFFF"/>
                </a:solidFill>
                <a:latin typeface="Arial"/>
              </a:defRPr>
            </a:pPr>
            <a:r>
              <a:t>טבלת תעדוף ואפיון פיצ'רים (MoSCoW) (חלק 6)</a:t>
            </a:r>
          </a:p>
        </p:txBody>
      </p:sp>
      <p:graphicFrame>
        <p:nvGraphicFramePr>
          <p:cNvPr id="4" name="Table 3"/>
          <p:cNvGraphicFramePr>
            <a:graphicFrameLocks noGrp="1"/>
          </p:cNvGraphicFramePr>
          <p:nvPr/>
        </p:nvGraphicFramePr>
        <p:xfrm>
          <a:off x="914400" y="1828800"/>
          <a:ext cx="10360152" cy="4114800"/>
        </p:xfrm>
        <a:graphic>
          <a:graphicData uri="http://schemas.openxmlformats.org/drawingml/2006/table">
            <a:tbl>
              <a:tblPr firstRow="1" bandRow="1">
                <a:tableStyleId>{5C22544A-7EE6-4342-B048-85BDC9FD1C3A}</a:tableStyleId>
              </a:tblPr>
              <a:tblGrid>
                <a:gridCol w="2286000"/>
                <a:gridCol w="2743200"/>
                <a:gridCol w="1371600"/>
                <a:gridCol w="1371600"/>
                <a:gridCol w="2587752"/>
              </a:tblGrid>
              <a:tr h="685800">
                <a:tc>
                  <a:txBody>
                    <a:bodyPr/>
                    <a:lstStyle/>
                    <a:p>
                      <a:pPr algn="r">
                        <a:defRPr sz="1300" b="1">
                          <a:solidFill>
                            <a:srgbClr val="0D0F17"/>
                          </a:solidFill>
                          <a:latin typeface="Arial"/>
                        </a:defRPr>
                      </a:pPr>
                      <a:r>
                        <a:t>שם הפיצ'ר</a:t>
                      </a:r>
                    </a:p>
                  </a:txBody>
                  <a:tcPr>
                    <a:solidFill>
                      <a:srgbClr val="C5A880"/>
                    </a:solidFill>
                  </a:tcPr>
                </a:tc>
                <a:tc>
                  <a:txBody>
                    <a:bodyPr/>
                    <a:lstStyle/>
                    <a:p>
                      <a:pPr algn="r">
                        <a:defRPr sz="1300" b="1">
                          <a:solidFill>
                            <a:srgbClr val="0D0F17"/>
                          </a:solidFill>
                          <a:latin typeface="Arial"/>
                        </a:defRPr>
                      </a:pPr>
                      <a:r>
                        <a:t>ערך למשתמש</a:t>
                      </a:r>
                    </a:p>
                  </a:txBody>
                  <a:tcPr>
                    <a:solidFill>
                      <a:srgbClr val="C5A880"/>
                    </a:solidFill>
                  </a:tcPr>
                </a:tc>
                <a:tc>
                  <a:txBody>
                    <a:bodyPr/>
                    <a:lstStyle/>
                    <a:p>
                      <a:pPr algn="r">
                        <a:defRPr sz="1300" b="1">
                          <a:solidFill>
                            <a:srgbClr val="0D0F17"/>
                          </a:solidFill>
                          <a:latin typeface="Arial"/>
                        </a:defRPr>
                      </a:pPr>
                      <a:r>
                        <a:t>עדיפות</a:t>
                      </a:r>
                    </a:p>
                  </a:txBody>
                  <a:tcPr>
                    <a:solidFill>
                      <a:srgbClr val="C5A880"/>
                    </a:solidFill>
                  </a:tcPr>
                </a:tc>
                <a:tc>
                  <a:txBody>
                    <a:bodyPr/>
                    <a:lstStyle/>
                    <a:p>
                      <a:pPr algn="r">
                        <a:defRPr sz="1300" b="1">
                          <a:solidFill>
                            <a:srgbClr val="0D0F17"/>
                          </a:solidFill>
                          <a:latin typeface="Arial"/>
                        </a:defRPr>
                      </a:pPr>
                      <a:r>
                        <a:t>זמן (הערכה)</a:t>
                      </a:r>
                    </a:p>
                  </a:txBody>
                  <a:tcPr>
                    <a:solidFill>
                      <a:srgbClr val="C5A880"/>
                    </a:solidFill>
                  </a:tcPr>
                </a:tc>
                <a:tc>
                  <a:txBody>
                    <a:bodyPr/>
                    <a:lstStyle/>
                    <a:p>
                      <a:pPr algn="r">
                        <a:defRPr sz="1300" b="1">
                          <a:solidFill>
                            <a:srgbClr val="0D0F17"/>
                          </a:solidFill>
                          <a:latin typeface="Arial"/>
                        </a:defRPr>
                      </a:pPr>
                      <a:r>
                        <a:t>מדד הצלחה</a:t>
                      </a:r>
                    </a:p>
                  </a:txBody>
                  <a:tcPr>
                    <a:solidFill>
                      <a:srgbClr val="C5A880"/>
                    </a:solidFill>
                  </a:tcPr>
                </a:tc>
              </a:tr>
              <a:tr h="685800">
                <a:tc>
                  <a:txBody>
                    <a:bodyPr/>
                    <a:lstStyle/>
                    <a:p>
                      <a:pPr algn="r">
                        <a:defRPr sz="1100">
                          <a:solidFill>
                            <a:srgbClr val="FFFFFF"/>
                          </a:solidFill>
                          <a:latin typeface="Arial"/>
                        </a:defRPr>
                      </a:pPr>
                      <a:r>
                        <a:t>צ'אט דינמי</a:t>
                      </a:r>
                    </a:p>
                  </a:txBody>
                  <a:tcPr>
                    <a:solidFill>
                      <a:srgbClr val="161B26"/>
                    </a:solidFill>
                  </a:tcPr>
                </a:tc>
                <a:tc>
                  <a:txBody>
                    <a:bodyPr/>
                    <a:lstStyle/>
                    <a:p>
                      <a:pPr algn="r">
                        <a:defRPr sz="1100">
                          <a:solidFill>
                            <a:srgbClr val="FFFFFF"/>
                          </a:solidFill>
                          <a:latin typeface="Arial"/>
                        </a:defRPr>
                      </a:pPr>
                      <a:r>
                        <a:t>התאמת שאלות ומניעת סרבול ובלבול</a:t>
                      </a:r>
                    </a:p>
                  </a:txBody>
                  <a:tcPr>
                    <a:solidFill>
                      <a:srgbClr val="161B26"/>
                    </a:solidFill>
                  </a:tcPr>
                </a:tc>
                <a:tc>
                  <a:txBody>
                    <a:bodyPr/>
                    <a:lstStyle/>
                    <a:p>
                      <a:pPr algn="r">
                        <a:defRPr sz="1100">
                          <a:solidFill>
                            <a:srgbClr val="FFFFFF"/>
                          </a:solidFill>
                          <a:latin typeface="Arial"/>
                        </a:defRPr>
                      </a:pPr>
                      <a:r>
                        <a:t>Must Have</a:t>
                      </a:r>
                    </a:p>
                  </a:txBody>
                  <a:tcPr>
                    <a:solidFill>
                      <a:srgbClr val="161B26"/>
                    </a:solidFill>
                  </a:tcPr>
                </a:tc>
                <a:tc>
                  <a:txBody>
                    <a:bodyPr/>
                    <a:lstStyle/>
                    <a:p>
                      <a:pPr algn="r">
                        <a:defRPr sz="1100">
                          <a:solidFill>
                            <a:srgbClr val="FFFFFF"/>
                          </a:solidFill>
                          <a:latin typeface="Arial"/>
                        </a:defRPr>
                      </a:pPr>
                      <a:r>
                        <a:t>15 שעות</a:t>
                      </a:r>
                    </a:p>
                  </a:txBody>
                  <a:tcPr>
                    <a:solidFill>
                      <a:srgbClr val="161B26"/>
                    </a:solidFill>
                  </a:tcPr>
                </a:tc>
                <a:tc>
                  <a:txBody>
                    <a:bodyPr/>
                    <a:lstStyle/>
                    <a:p>
                      <a:pPr algn="r">
                        <a:defRPr sz="1100">
                          <a:solidFill>
                            <a:srgbClr val="FFFFFF"/>
                          </a:solidFill>
                          <a:latin typeface="Arial"/>
                        </a:defRPr>
                      </a:pPr>
                      <a:r>
                        <a:t>אחוז השלמה מעל 85%</a:t>
                      </a:r>
                    </a:p>
                  </a:txBody>
                  <a:tcPr>
                    <a:solidFill>
                      <a:srgbClr val="161B26"/>
                    </a:solidFill>
                  </a:tcPr>
                </a:tc>
              </a:tr>
              <a:tr h="685800">
                <a:tc>
                  <a:txBody>
                    <a:bodyPr/>
                    <a:lstStyle/>
                    <a:p>
                      <a:pPr algn="r">
                        <a:defRPr sz="1100">
                          <a:solidFill>
                            <a:srgbClr val="FFFFFF"/>
                          </a:solidFill>
                          <a:latin typeface="Arial"/>
                        </a:defRPr>
                      </a:pPr>
                      <a:r>
                        <a:t>זיהוי והקלטה קולית</a:t>
                      </a:r>
                    </a:p>
                  </a:txBody>
                  <a:tcPr>
                    <a:solidFill>
                      <a:srgbClr val="11141C"/>
                    </a:solidFill>
                  </a:tcPr>
                </a:tc>
                <a:tc>
                  <a:txBody>
                    <a:bodyPr/>
                    <a:lstStyle/>
                    <a:p>
                      <a:pPr algn="r">
                        <a:defRPr sz="1100">
                          <a:solidFill>
                            <a:srgbClr val="FFFFFF"/>
                          </a:solidFill>
                          <a:latin typeface="Arial"/>
                        </a:defRPr>
                      </a:pPr>
                      <a:r>
                        <a:t>מניעת הקלדה רפואית קשה בנייד</a:t>
                      </a:r>
                    </a:p>
                  </a:txBody>
                  <a:tcPr>
                    <a:solidFill>
                      <a:srgbClr val="11141C"/>
                    </a:solidFill>
                  </a:tcPr>
                </a:tc>
                <a:tc>
                  <a:txBody>
                    <a:bodyPr/>
                    <a:lstStyle/>
                    <a:p>
                      <a:pPr algn="r">
                        <a:defRPr sz="1100">
                          <a:solidFill>
                            <a:srgbClr val="FFFFFF"/>
                          </a:solidFill>
                          <a:latin typeface="Arial"/>
                        </a:defRPr>
                      </a:pPr>
                      <a:r>
                        <a:t>Must Have</a:t>
                      </a:r>
                    </a:p>
                  </a:txBody>
                  <a:tcPr>
                    <a:solidFill>
                      <a:srgbClr val="11141C"/>
                    </a:solidFill>
                  </a:tcPr>
                </a:tc>
                <a:tc>
                  <a:txBody>
                    <a:bodyPr/>
                    <a:lstStyle/>
                    <a:p>
                      <a:pPr algn="r">
                        <a:defRPr sz="1100">
                          <a:solidFill>
                            <a:srgbClr val="FFFFFF"/>
                          </a:solidFill>
                          <a:latin typeface="Arial"/>
                        </a:defRPr>
                      </a:pPr>
                      <a:r>
                        <a:t>20 שעות</a:t>
                      </a:r>
                    </a:p>
                  </a:txBody>
                  <a:tcPr>
                    <a:solidFill>
                      <a:srgbClr val="11141C"/>
                    </a:solidFill>
                  </a:tcPr>
                </a:tc>
                <a:tc>
                  <a:txBody>
                    <a:bodyPr/>
                    <a:lstStyle/>
                    <a:p>
                      <a:pPr algn="r">
                        <a:defRPr sz="1100">
                          <a:solidFill>
                            <a:srgbClr val="FFFFFF"/>
                          </a:solidFill>
                          <a:latin typeface="Arial"/>
                        </a:defRPr>
                      </a:pPr>
                      <a:r>
                        <a:t>שימוש קולי ב-50% מהתשובות</a:t>
                      </a:r>
                    </a:p>
                  </a:txBody>
                  <a:tcPr>
                    <a:solidFill>
                      <a:srgbClr val="11141C"/>
                    </a:solidFill>
                  </a:tcPr>
                </a:tc>
              </a:tr>
              <a:tr h="685800">
                <a:tc>
                  <a:txBody>
                    <a:bodyPr/>
                    <a:lstStyle/>
                    <a:p>
                      <a:pPr algn="r">
                        <a:defRPr sz="1100">
                          <a:solidFill>
                            <a:srgbClr val="FFFFFF"/>
                          </a:solidFill>
                          <a:latin typeface="Arial"/>
                        </a:defRPr>
                      </a:pPr>
                      <a:r>
                        <a:t>מסך הסכמה וביטחון</a:t>
                      </a:r>
                    </a:p>
                  </a:txBody>
                  <a:tcPr>
                    <a:solidFill>
                      <a:srgbClr val="161B26"/>
                    </a:solidFill>
                  </a:tcPr>
                </a:tc>
                <a:tc>
                  <a:txBody>
                    <a:bodyPr/>
                    <a:lstStyle/>
                    <a:p>
                      <a:pPr algn="r">
                        <a:defRPr sz="1100">
                          <a:solidFill>
                            <a:srgbClr val="FFFFFF"/>
                          </a:solidFill>
                          <a:latin typeface="Arial"/>
                        </a:defRPr>
                      </a:pPr>
                      <a:r>
                        <a:t>הסרת חשש משפטי ופיננסי ('0 ש"ח')</a:t>
                      </a:r>
                    </a:p>
                  </a:txBody>
                  <a:tcPr>
                    <a:solidFill>
                      <a:srgbClr val="161B26"/>
                    </a:solidFill>
                  </a:tcPr>
                </a:tc>
                <a:tc>
                  <a:txBody>
                    <a:bodyPr/>
                    <a:lstStyle/>
                    <a:p>
                      <a:pPr algn="r">
                        <a:defRPr sz="1100">
                          <a:solidFill>
                            <a:srgbClr val="FFFFFF"/>
                          </a:solidFill>
                          <a:latin typeface="Arial"/>
                        </a:defRPr>
                      </a:pPr>
                      <a:r>
                        <a:t>Must Have</a:t>
                      </a:r>
                    </a:p>
                  </a:txBody>
                  <a:tcPr>
                    <a:solidFill>
                      <a:srgbClr val="161B26"/>
                    </a:solidFill>
                  </a:tcPr>
                </a:tc>
                <a:tc>
                  <a:txBody>
                    <a:bodyPr/>
                    <a:lstStyle/>
                    <a:p>
                      <a:pPr algn="r">
                        <a:defRPr sz="1100">
                          <a:solidFill>
                            <a:srgbClr val="FFFFFF"/>
                          </a:solidFill>
                          <a:latin typeface="Arial"/>
                        </a:defRPr>
                      </a:pPr>
                      <a:r>
                        <a:t>5 שעות</a:t>
                      </a:r>
                    </a:p>
                  </a:txBody>
                  <a:tcPr>
                    <a:solidFill>
                      <a:srgbClr val="161B26"/>
                    </a:solidFill>
                  </a:tcPr>
                </a:tc>
                <a:tc>
                  <a:txBody>
                    <a:bodyPr/>
                    <a:lstStyle/>
                    <a:p>
                      <a:pPr algn="r">
                        <a:defRPr sz="1100">
                          <a:solidFill>
                            <a:srgbClr val="FFFFFF"/>
                          </a:solidFill>
                          <a:latin typeface="Arial"/>
                        </a:defRPr>
                      </a:pPr>
                      <a:r>
                        <a:t>ירידה בנטישה בשלב אישור הקשר</a:t>
                      </a:r>
                    </a:p>
                  </a:txBody>
                  <a:tcPr>
                    <a:solidFill>
                      <a:srgbClr val="161B26"/>
                    </a:solidFill>
                  </a:tcPr>
                </a:tc>
              </a:tr>
              <a:tr h="685800">
                <a:tc>
                  <a:txBody>
                    <a:bodyPr/>
                    <a:lstStyle/>
                    <a:p>
                      <a:pPr algn="r">
                        <a:defRPr sz="1100">
                          <a:solidFill>
                            <a:srgbClr val="FFFFFF"/>
                          </a:solidFill>
                          <a:latin typeface="Arial"/>
                        </a:defRPr>
                      </a:pPr>
                      <a:r>
                        <a:t>לוח בקרה לעורך דין</a:t>
                      </a:r>
                    </a:p>
                  </a:txBody>
                  <a:tcPr>
                    <a:solidFill>
                      <a:srgbClr val="11141C"/>
                    </a:solidFill>
                  </a:tcPr>
                </a:tc>
                <a:tc>
                  <a:txBody>
                    <a:bodyPr/>
                    <a:lstStyle/>
                    <a:p>
                      <a:pPr algn="r">
                        <a:defRPr sz="1100">
                          <a:solidFill>
                            <a:srgbClr val="FFFFFF"/>
                          </a:solidFill>
                          <a:latin typeface="Arial"/>
                        </a:defRPr>
                      </a:pPr>
                      <a:r>
                        <a:t>ארגון מובנה, תיאום תורים וסנכרון Outlook</a:t>
                      </a:r>
                    </a:p>
                  </a:txBody>
                  <a:tcPr>
                    <a:solidFill>
                      <a:srgbClr val="11141C"/>
                    </a:solidFill>
                  </a:tcPr>
                </a:tc>
                <a:tc>
                  <a:txBody>
                    <a:bodyPr/>
                    <a:lstStyle/>
                    <a:p>
                      <a:pPr algn="r">
                        <a:defRPr sz="1100">
                          <a:solidFill>
                            <a:srgbClr val="FFFFFF"/>
                          </a:solidFill>
                          <a:latin typeface="Arial"/>
                        </a:defRPr>
                      </a:pPr>
                      <a:r>
                        <a:t>Must Have</a:t>
                      </a:r>
                    </a:p>
                  </a:txBody>
                  <a:tcPr>
                    <a:solidFill>
                      <a:srgbClr val="11141C"/>
                    </a:solidFill>
                  </a:tcPr>
                </a:tc>
                <a:tc>
                  <a:txBody>
                    <a:bodyPr/>
                    <a:lstStyle/>
                    <a:p>
                      <a:pPr algn="r">
                        <a:defRPr sz="1100">
                          <a:solidFill>
                            <a:srgbClr val="FFFFFF"/>
                          </a:solidFill>
                          <a:latin typeface="Arial"/>
                        </a:defRPr>
                      </a:pPr>
                      <a:r>
                        <a:t>10 שעות</a:t>
                      </a:r>
                    </a:p>
                  </a:txBody>
                  <a:tcPr>
                    <a:solidFill>
                      <a:srgbClr val="11141C"/>
                    </a:solidFill>
                  </a:tcPr>
                </a:tc>
                <a:tc>
                  <a:txBody>
                    <a:bodyPr/>
                    <a:lstStyle/>
                    <a:p>
                      <a:pPr algn="r">
                        <a:defRPr sz="1100">
                          <a:solidFill>
                            <a:srgbClr val="FFFFFF"/>
                          </a:solidFill>
                          <a:latin typeface="Arial"/>
                        </a:defRPr>
                      </a:pPr>
                      <a:r>
                        <a:t>זמן קריאת תיק פחות מ-3 דקות</a:t>
                      </a:r>
                    </a:p>
                  </a:txBody>
                  <a:tcPr>
                    <a:solidFill>
                      <a:srgbClr val="11141C"/>
                    </a:solidFill>
                  </a:tcPr>
                </a:tc>
              </a:tr>
              <a:tr h="685800">
                <a:tc>
                  <a:txBody>
                    <a:bodyPr/>
                    <a:lstStyle/>
                    <a:p>
                      <a:pPr algn="r">
                        <a:defRPr sz="1100">
                          <a:solidFill>
                            <a:srgbClr val="FFFFFF"/>
                          </a:solidFill>
                          <a:latin typeface="Arial"/>
                        </a:defRPr>
                      </a:pPr>
                      <a:r>
                        <a:t>העלאת מסמכים חכמה</a:t>
                      </a:r>
                    </a:p>
                  </a:txBody>
                  <a:tcPr>
                    <a:solidFill>
                      <a:srgbClr val="161B26"/>
                    </a:solidFill>
                  </a:tcPr>
                </a:tc>
                <a:tc>
                  <a:txBody>
                    <a:bodyPr/>
                    <a:lstStyle/>
                    <a:p>
                      <a:pPr algn="r">
                        <a:defRPr sz="1100">
                          <a:solidFill>
                            <a:srgbClr val="FFFFFF"/>
                          </a:solidFill>
                          <a:latin typeface="Arial"/>
                        </a:defRPr>
                      </a:pPr>
                      <a:r>
                        <a:t>העלאת אישורים וצילומים בקלות</a:t>
                      </a:r>
                    </a:p>
                  </a:txBody>
                  <a:tcPr>
                    <a:solidFill>
                      <a:srgbClr val="161B26"/>
                    </a:solidFill>
                  </a:tcPr>
                </a:tc>
                <a:tc>
                  <a:txBody>
                    <a:bodyPr/>
                    <a:lstStyle/>
                    <a:p>
                      <a:pPr algn="r">
                        <a:defRPr sz="1100">
                          <a:solidFill>
                            <a:srgbClr val="FFFFFF"/>
                          </a:solidFill>
                          <a:latin typeface="Arial"/>
                        </a:defRPr>
                      </a:pPr>
                      <a:r>
                        <a:t>Should Have</a:t>
                      </a:r>
                    </a:p>
                  </a:txBody>
                  <a:tcPr>
                    <a:solidFill>
                      <a:srgbClr val="161B26"/>
                    </a:solidFill>
                  </a:tcPr>
                </a:tc>
                <a:tc>
                  <a:txBody>
                    <a:bodyPr/>
                    <a:lstStyle/>
                    <a:p>
                      <a:pPr algn="r">
                        <a:defRPr sz="1100">
                          <a:solidFill>
                            <a:srgbClr val="FFFFFF"/>
                          </a:solidFill>
                          <a:latin typeface="Arial"/>
                        </a:defRPr>
                      </a:pPr>
                      <a:r>
                        <a:t>8 שעות</a:t>
                      </a:r>
                    </a:p>
                  </a:txBody>
                  <a:tcPr>
                    <a:solidFill>
                      <a:srgbClr val="161B26"/>
                    </a:solidFill>
                  </a:tcPr>
                </a:tc>
                <a:tc>
                  <a:txBody>
                    <a:bodyPr/>
                    <a:lstStyle/>
                    <a:p>
                      <a:pPr algn="r">
                        <a:defRPr sz="1100">
                          <a:solidFill>
                            <a:srgbClr val="FFFFFF"/>
                          </a:solidFill>
                          <a:latin typeface="Arial"/>
                        </a:defRPr>
                      </a:pPr>
                      <a:r>
                        <a:t>העלאת מסמך ב-40% מהמקרים</a:t>
                      </a:r>
                    </a:p>
                  </a:txBody>
                  <a:tcPr>
                    <a:solidFill>
                      <a:srgbClr val="161B26"/>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D0F17"/>
        </a:solidFill>
        <a:effectLst/>
      </p:bgPr>
    </p:bg>
    <p:spTree>
      <p:nvGrpSpPr>
        <p:cNvPr id="1" name=""/>
        <p:cNvGrpSpPr/>
        <p:nvPr/>
      </p:nvGrpSpPr>
      <p:grpSpPr/>
      <p:sp>
        <p:nvSpPr>
          <p:cNvPr id="2" name="TextBox 1"/>
          <p:cNvSpPr txBox="1"/>
          <p:nvPr/>
        </p:nvSpPr>
        <p:spPr>
          <a:xfrm>
            <a:off x="914400" y="365760"/>
            <a:ext cx="10360152" cy="365760"/>
          </a:xfrm>
          <a:prstGeom prst="rect">
            <a:avLst/>
          </a:prstGeom>
          <a:noFill/>
        </p:spPr>
        <p:txBody>
          <a:bodyPr wrap="none">
            <a:spAutoFit/>
          </a:bodyPr>
          <a:lstStyle/>
          <a:p>
            <a:pPr algn="r">
              <a:defRPr sz="1200" b="1">
                <a:solidFill>
                  <a:srgbClr val="C5A880"/>
                </a:solidFill>
                <a:latin typeface="Arial"/>
              </a:defRPr>
            </a:pPr>
            <a:r>
              <a:t>חלק 7 וחלק 8: הפרוטוטייפ הפונקציונלי ודוח שמישות</a:t>
            </a:r>
          </a:p>
        </p:txBody>
      </p:sp>
      <p:sp>
        <p:nvSpPr>
          <p:cNvPr id="3" name="TextBox 2"/>
          <p:cNvSpPr txBox="1"/>
          <p:nvPr/>
        </p:nvSpPr>
        <p:spPr>
          <a:xfrm>
            <a:off x="914400" y="731520"/>
            <a:ext cx="10360152" cy="731520"/>
          </a:xfrm>
          <a:prstGeom prst="rect">
            <a:avLst/>
          </a:prstGeom>
          <a:noFill/>
        </p:spPr>
        <p:txBody>
          <a:bodyPr wrap="none">
            <a:spAutoFit/>
          </a:bodyPr>
          <a:lstStyle/>
          <a:p>
            <a:pPr algn="r">
              <a:defRPr sz="2800" b="1">
                <a:solidFill>
                  <a:srgbClr val="FFFFFF"/>
                </a:solidFill>
                <a:latin typeface="Arial"/>
              </a:defRPr>
            </a:pPr>
            <a:r>
              <a:t>הפרוטוטייפ הפעיל ודוח שמישות ומדידה (חלק 7-8)</a:t>
            </a:r>
          </a:p>
        </p:txBody>
      </p:sp>
      <p:sp>
        <p:nvSpPr>
          <p:cNvPr id="4" name="TextBox 3"/>
          <p:cNvSpPr txBox="1"/>
          <p:nvPr/>
        </p:nvSpPr>
        <p:spPr>
          <a:xfrm>
            <a:off x="914400" y="1645920"/>
            <a:ext cx="10360152" cy="4572000"/>
          </a:xfrm>
          <a:prstGeom prst="rect">
            <a:avLst/>
          </a:prstGeom>
          <a:noFill/>
        </p:spPr>
        <p:txBody>
          <a:bodyPr wrap="square">
            <a:spAutoFit/>
          </a:bodyPr>
          <a:lstStyle/>
          <a:p>
            <a:pPr algn="r">
              <a:spcAft>
                <a:spcPts val="1000"/>
              </a:spcAft>
              <a:defRPr sz="1900" b="1">
                <a:solidFill>
                  <a:srgbClr val="FFFFFF"/>
                </a:solidFill>
                <a:latin typeface="Arial"/>
              </a:defRPr>
            </a:pPr>
            <a:r>
              <a:t>🔗 קישורים לפרוטוטייפ הפעיל:</a:t>
            </a:r>
          </a:p>
          <a:p>
            <a:pPr lvl="1" algn="r">
              <a:spcAft>
                <a:spcPts val="1000"/>
              </a:spcAft>
              <a:defRPr sz="1600">
                <a:solidFill>
                  <a:srgbClr val="A0AEC0"/>
                </a:solidFill>
                <a:latin typeface="Arial"/>
              </a:defRPr>
            </a:pPr>
            <a:r>
              <a:t>ממשק הלקוח וחיוג תורים: http://localhost:8000/client_intake.html</a:t>
            </a:r>
          </a:p>
          <a:p>
            <a:pPr lvl="1" algn="r">
              <a:spcAft>
                <a:spcPts val="1000"/>
              </a:spcAft>
              <a:defRPr sz="1600">
                <a:solidFill>
                  <a:srgbClr val="A0AEC0"/>
                </a:solidFill>
                <a:latin typeface="Arial"/>
              </a:defRPr>
            </a:pPr>
            <a:r>
              <a:t>לוח בקרה וניהול משרד עורך דין: http://localhost:8000/lawyer_dashboard.html</a:t>
            </a:r>
          </a:p>
          <a:p>
            <a:pPr algn="r">
              <a:spcAft>
                <a:spcPts val="1000"/>
              </a:spcAft>
              <a:defRPr sz="1900" b="1">
                <a:solidFill>
                  <a:srgbClr val="FFFFFF"/>
                </a:solidFill>
                <a:latin typeface="Arial"/>
              </a:defRPr>
            </a:pPr>
            <a:r>
              <a:t>📈 זרימת המשתמש בפרוטוטייפ (User Flow):</a:t>
            </a:r>
          </a:p>
          <a:p>
            <a:pPr lvl="1" algn="r">
              <a:spcAft>
                <a:spcPts val="1000"/>
              </a:spcAft>
              <a:defRPr sz="1600">
                <a:solidFill>
                  <a:srgbClr val="A0AEC0"/>
                </a:solidFill>
                <a:latin typeface="Arial"/>
              </a:defRPr>
            </a:pPr>
            <a:r>
              <a:t>בחירת שפה ומעבר לצ'אט -&gt; תיאור קולי של התאונה -&gt; בדיקת זכאות מיידית וזימון תור -&gt; קבלת המידע בזמן אמת בלוח ה-CRM של עורך הדין וסנכרון מיידי לתיבת ה-Outlook.</a:t>
            </a:r>
          </a:p>
          <a:p>
            <a:pPr algn="r">
              <a:spcAft>
                <a:spcPts val="1000"/>
              </a:spcAft>
              <a:defRPr sz="1900" b="1">
                <a:solidFill>
                  <a:srgbClr val="FFFFFF"/>
                </a:solidFill>
                <a:latin typeface="Arial"/>
              </a:defRPr>
            </a:pPr>
            <a:r>
              <a:t>📊 דוח שמישות ומדידה (Usability Report):</a:t>
            </a:r>
          </a:p>
          <a:p>
            <a:pPr lvl="1" algn="r">
              <a:spcAft>
                <a:spcPts val="1000"/>
              </a:spcAft>
              <a:defRPr sz="1600">
                <a:solidFill>
                  <a:srgbClr val="A0AEC0"/>
                </a:solidFill>
                <a:latin typeface="Arial"/>
              </a:defRPr>
            </a:pPr>
            <a:r>
              <a:t>2 סבבי בדיקות שמישות על 6 משתתפים שונים מקבוצת היעד ומחמיר אחד (עו"ד).</a:t>
            </a:r>
          </a:p>
          <a:p>
            <a:pPr lvl="1" algn="r">
              <a:spcAft>
                <a:spcPts val="1000"/>
              </a:spcAft>
              <a:defRPr sz="1600">
                <a:solidFill>
                  <a:srgbClr val="A0AEC0"/>
                </a:solidFill>
                <a:latin typeface="Arial"/>
              </a:defRPr>
            </a:pPr>
            <a:r>
              <a:t>שיפורים שבוצעו: דחיית טלפון לסוף והוספת שסתום ביטחון | לוקליזציה של לחצני האישור | שדרוג הקלטה קולית רציפה.</a:t>
            </a:r>
          </a:p>
          <a:p>
            <a:pPr algn="r">
              <a:spcAft>
                <a:spcPts val="1000"/>
              </a:spcAft>
              <a:defRPr sz="1900" b="1">
                <a:solidFill>
                  <a:srgbClr val="FFFFFF"/>
                </a:solidFill>
                <a:latin typeface="Arial"/>
              </a:defRPr>
            </a:pPr>
            <a:r>
              <a:t> השוואת מדדים כמותיים (סבב 1 מול סבב 2):</a:t>
            </a:r>
          </a:p>
          <a:p>
            <a:pPr lvl="1" algn="r">
              <a:spcAft>
                <a:spcPts val="1000"/>
              </a:spcAft>
              <a:defRPr sz="1600">
                <a:solidFill>
                  <a:srgbClr val="A0AEC0"/>
                </a:solidFill>
                <a:latin typeface="Arial"/>
              </a:defRPr>
            </a:pPr>
            <a:r>
              <a:t>שיעור השלמת שאלון (Completion Rate): עלה מ-60% ל-90% בזכות הבהרת העלויות וההקלטה הקולית.</a:t>
            </a:r>
          </a:p>
          <a:p>
            <a:pPr lvl="1" algn="r">
              <a:spcAft>
                <a:spcPts val="1000"/>
              </a:spcAft>
              <a:defRPr sz="1600">
                <a:solidFill>
                  <a:srgbClr val="A0AEC0"/>
                </a:solidFill>
                <a:latin typeface="Arial"/>
              </a:defRPr>
            </a:pPr>
            <a:r>
              <a:t>זמן ממוצע להשלמה (Time to Complete): ירד מ-5 דקות ל-2 דקות בלבד הודות לממשק הקולי היעיל.</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D0F17"/>
        </a:solidFill>
        <a:effectLst/>
      </p:bgPr>
    </p:bg>
    <p:spTree>
      <p:nvGrpSpPr>
        <p:cNvPr id="1" name=""/>
        <p:cNvGrpSpPr/>
        <p:nvPr/>
      </p:nvGrpSpPr>
      <p:grpSpPr/>
      <p:sp>
        <p:nvSpPr>
          <p:cNvPr id="2" name="TextBox 1"/>
          <p:cNvSpPr txBox="1"/>
          <p:nvPr/>
        </p:nvSpPr>
        <p:spPr>
          <a:xfrm>
            <a:off x="914400" y="365760"/>
            <a:ext cx="10360152" cy="365760"/>
          </a:xfrm>
          <a:prstGeom prst="rect">
            <a:avLst/>
          </a:prstGeom>
          <a:noFill/>
        </p:spPr>
        <p:txBody>
          <a:bodyPr wrap="none">
            <a:spAutoFit/>
          </a:bodyPr>
          <a:lstStyle/>
          <a:p>
            <a:pPr algn="r">
              <a:defRPr sz="1200" b="1">
                <a:solidFill>
                  <a:srgbClr val="C5A880"/>
                </a:solidFill>
                <a:latin typeface="Arial"/>
              </a:defRPr>
            </a:pPr>
            <a:r>
              <a:t>עבודה אישית ותובנות מהפרויקט</a:t>
            </a:r>
          </a:p>
        </p:txBody>
      </p:sp>
      <p:sp>
        <p:nvSpPr>
          <p:cNvPr id="3" name="TextBox 2"/>
          <p:cNvSpPr txBox="1"/>
          <p:nvPr/>
        </p:nvSpPr>
        <p:spPr>
          <a:xfrm>
            <a:off x="914400" y="731520"/>
            <a:ext cx="10360152" cy="731520"/>
          </a:xfrm>
          <a:prstGeom prst="rect">
            <a:avLst/>
          </a:prstGeom>
          <a:noFill/>
        </p:spPr>
        <p:txBody>
          <a:bodyPr wrap="none">
            <a:spAutoFit/>
          </a:bodyPr>
          <a:lstStyle/>
          <a:p>
            <a:pPr algn="r">
              <a:defRPr sz="2800" b="1">
                <a:solidFill>
                  <a:srgbClr val="FFFFFF"/>
                </a:solidFill>
                <a:latin typeface="Arial"/>
              </a:defRPr>
            </a:pPr>
            <a:r>
              <a:t>חלק 8: קשיים ותובנות אישיות בבניית המערכת</a:t>
            </a:r>
          </a:p>
        </p:txBody>
      </p:sp>
      <p:sp>
        <p:nvSpPr>
          <p:cNvPr id="4" name="TextBox 3"/>
          <p:cNvSpPr txBox="1"/>
          <p:nvPr/>
        </p:nvSpPr>
        <p:spPr>
          <a:xfrm>
            <a:off x="914400" y="1645920"/>
            <a:ext cx="10360152" cy="4572000"/>
          </a:xfrm>
          <a:prstGeom prst="rect">
            <a:avLst/>
          </a:prstGeom>
          <a:noFill/>
        </p:spPr>
        <p:txBody>
          <a:bodyPr wrap="square">
            <a:spAutoFit/>
          </a:bodyPr>
          <a:lstStyle/>
          <a:p>
            <a:pPr algn="r">
              <a:spcAft>
                <a:spcPts val="1000"/>
              </a:spcAft>
              <a:defRPr sz="1900" b="1">
                <a:solidFill>
                  <a:srgbClr val="FFFFFF"/>
                </a:solidFill>
                <a:latin typeface="Arial"/>
              </a:defRPr>
            </a:pPr>
            <a:r>
              <a:t>💡 קשיים טכנולוגיים ומוצריים שחוויתי במהלך הבנייה:</a:t>
            </a:r>
          </a:p>
          <a:p>
            <a:pPr algn="r">
              <a:spcAft>
                <a:spcPts val="1000"/>
              </a:spcAft>
              <a:defRPr sz="1900" b="1">
                <a:solidFill>
                  <a:srgbClr val="FFFFFF"/>
                </a:solidFill>
                <a:latin typeface="Arial"/>
              </a:defRPr>
            </a:pPr>
            <a:r>
              <a:t>  1. אינטגרציה דו-לשונית דינמית ומלאה:</a:t>
            </a:r>
          </a:p>
          <a:p>
            <a:pPr lvl="1" algn="r">
              <a:spcAft>
                <a:spcPts val="1000"/>
              </a:spcAft>
              <a:defRPr sz="1600">
                <a:solidFill>
                  <a:srgbClr val="A0AEC0"/>
                </a:solidFill>
                <a:latin typeface="Arial"/>
              </a:defRPr>
            </a:pPr>
            <a:r>
              <a:t>  התמודדות עם ממשק דו-כיווני (RTL/LTR) במכשירים ניידים שונים, ותרגום דינמי של כפתורי הבחירה כמו "OK" / "אישור" / "موافق" בהתאם לשפת הלקוח כדי למנוע ממנו להתבלבל או להתייאש.</a:t>
            </a:r>
          </a:p>
          <a:p>
            <a:pPr algn="r">
              <a:spcAft>
                <a:spcPts val="1000"/>
              </a:spcAft>
              <a:defRPr sz="1900" b="1">
                <a:solidFill>
                  <a:srgbClr val="FFFFFF"/>
                </a:solidFill>
                <a:latin typeface="Arial"/>
              </a:defRPr>
            </a:pPr>
            <a:r>
              <a:t>  2. שיפור מנוע הקלטת הקול והמרת הדיבור לטקסט (Web Speech API):</a:t>
            </a:r>
          </a:p>
          <a:p>
            <a:pPr lvl="1" algn="r">
              <a:spcAft>
                <a:spcPts val="1000"/>
              </a:spcAft>
              <a:defRPr sz="1600">
                <a:solidFill>
                  <a:srgbClr val="A0AEC0"/>
                </a:solidFill>
                <a:latin typeface="Arial"/>
              </a:defRPr>
            </a:pPr>
            <a:r>
              <a:t>  תכנון ופיתוח מנגנון הקלטה רציף שיודע לשרשר את הדיבור של הלקוח ולמנוע מחיקת טקסט רפואי קודם כאשר הלקוח לוקח הפסקה קלה בדיבור במהלך תיאור הפציעה.</a:t>
            </a:r>
          </a:p>
          <a:p>
            <a:pPr algn="r">
              <a:spcAft>
                <a:spcPts val="1000"/>
              </a:spcAft>
              <a:defRPr sz="1900" b="1">
                <a:solidFill>
                  <a:srgbClr val="FFFFFF"/>
                </a:solidFill>
                <a:latin typeface="Arial"/>
              </a:defRPr>
            </a:pPr>
            <a:r>
              <a:t>  3. פתרון מגבלות האבטחה באינטגרציית Microsoft Outlook:</a:t>
            </a:r>
          </a:p>
          <a:p>
            <a:pPr lvl="1" algn="r">
              <a:spcAft>
                <a:spcPts val="1000"/>
              </a:spcAft>
              <a:defRPr sz="1600">
                <a:solidFill>
                  <a:srgbClr val="A0AEC0"/>
                </a:solidFill>
                <a:latin typeface="Arial"/>
              </a:defRPr>
            </a:pPr>
            <a:r>
              <a:t>  הדפדפנים המודרניים מונעים טעינה של מערכות מיקרוסופט ישירות בתוך Iframe עקב מגבלות אבטחה. פתרנו זאת על ידי פיתוח של מנגנון ייחודי בצד הלקוח הפותח חלונות נפרדים ומאובטחים העושים שימוש ב-SSO ובעוגיות הדפדפן הקיימות כדי לחבר את עורך הדין אוטומטית לחשבון שלו ללא צורך בהקשת סיסמה מחדש.</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