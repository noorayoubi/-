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Aioby" userId="38146ebc-8545-46bf-9d83-28dbd61da7d6" providerId="ADAL" clId="{9D132DA4-9AD7-4C07-B54E-5655E6903186}"/>
    <pc:docChg chg="modSld">
      <pc:chgData name="Noor Aioby" userId="38146ebc-8545-46bf-9d83-28dbd61da7d6" providerId="ADAL" clId="{9D132DA4-9AD7-4C07-B54E-5655E6903186}" dt="2026-06-30T11:56:31.879" v="16" actId="20577"/>
      <pc:docMkLst>
        <pc:docMk/>
      </pc:docMkLst>
      <pc:sldChg chg="modSp mod">
        <pc:chgData name="Noor Aioby" userId="38146ebc-8545-46bf-9d83-28dbd61da7d6" providerId="ADAL" clId="{9D132DA4-9AD7-4C07-B54E-5655E6903186}" dt="2026-06-30T11:56:31.879" v="16" actId="20577"/>
        <pc:sldMkLst>
          <pc:docMk/>
          <pc:sldMk cId="0" sldId="259"/>
        </pc:sldMkLst>
        <pc:spChg chg="mod">
          <ac:chgData name="Noor Aioby" userId="38146ebc-8545-46bf-9d83-28dbd61da7d6" providerId="ADAL" clId="{9D132DA4-9AD7-4C07-B54E-5655E6903186}" dt="2026-06-30T11:56:31.879" v="16" actId="20577"/>
          <ac:spMkLst>
            <pc:docMk/>
            <pc:sldMk cId="0" sldId="259"/>
            <ac:spMk id="2" creationId="{00000000-0000-0000-0000-000000000000}"/>
          </ac:spMkLst>
        </pc:spChg>
        <pc:spChg chg="mod">
          <ac:chgData name="Noor Aioby" userId="38146ebc-8545-46bf-9d83-28dbd61da7d6" providerId="ADAL" clId="{9D132DA4-9AD7-4C07-B54E-5655E6903186}" dt="2026-06-30T11:56:27.518" v="14" actId="1076"/>
          <ac:spMkLst>
            <pc:docMk/>
            <pc:sldMk cId="0" sldId="259"/>
            <ac:spMk id="3" creationId="{00000000-0000-0000-0000-000000000000}"/>
          </ac:spMkLst>
        </pc:spChg>
      </pc:sldChg>
      <pc:sldChg chg="modSp mod">
        <pc:chgData name="Noor Aioby" userId="38146ebc-8545-46bf-9d83-28dbd61da7d6" providerId="ADAL" clId="{9D132DA4-9AD7-4C07-B54E-5655E6903186}" dt="2026-06-30T11:49:00.313" v="13" actId="20577"/>
        <pc:sldMkLst>
          <pc:docMk/>
          <pc:sldMk cId="0" sldId="268"/>
        </pc:sldMkLst>
        <pc:spChg chg="mod">
          <ac:chgData name="Noor Aioby" userId="38146ebc-8545-46bf-9d83-28dbd61da7d6" providerId="ADAL" clId="{9D132DA4-9AD7-4C07-B54E-5655E6903186}" dt="2026-06-30T11:49:00.313" v="13" actId="20577"/>
          <ac:spMkLst>
            <pc:docMk/>
            <pc:sldMk cId="0" sldId="268"/>
            <ac:spMk id="3" creationId="{00000000-0000-0000-0000-000000000000}"/>
          </ac:spMkLst>
        </pc:spChg>
      </pc:sldChg>
      <pc:sldChg chg="modSp mod">
        <pc:chgData name="Noor Aioby" userId="38146ebc-8545-46bf-9d83-28dbd61da7d6" providerId="ADAL" clId="{9D132DA4-9AD7-4C07-B54E-5655E6903186}" dt="2026-06-30T11:46:16.343" v="1" actId="20577"/>
        <pc:sldMkLst>
          <pc:docMk/>
          <pc:sldMk cId="0" sldId="269"/>
        </pc:sldMkLst>
        <pc:spChg chg="mod">
          <ac:chgData name="Noor Aioby" userId="38146ebc-8545-46bf-9d83-28dbd61da7d6" providerId="ADAL" clId="{9D132DA4-9AD7-4C07-B54E-5655E6903186}" dt="2026-06-30T11:46:16.343" v="1" actId="20577"/>
          <ac:spMkLst>
            <pc:docMk/>
            <pc:sldMk cId="0" sldId="269"/>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0152" cy="2743200"/>
          </a:xfrm>
          <a:prstGeom prst="rect">
            <a:avLst/>
          </a:prstGeom>
          <a:noFill/>
        </p:spPr>
        <p:txBody>
          <a:bodyPr wrap="square">
            <a:spAutoFit/>
          </a:bodyPr>
          <a:lstStyle/>
          <a:p>
            <a:pPr algn="ctr">
              <a:defRPr sz="4400" b="1">
                <a:solidFill>
                  <a:srgbClr val="FBBF24"/>
                </a:solidFill>
                <a:latin typeface="Arial"/>
              </a:defRPr>
            </a:pPr>
            <a:r>
              <a:t>גשר אל-קודס (JLM Legal Bridge)</a:t>
            </a:r>
          </a:p>
          <a:p>
            <a:pPr algn="ctr">
              <a:spcBef>
                <a:spcPts val="2000"/>
              </a:spcBef>
              <a:defRPr sz="2200">
                <a:solidFill>
                  <a:srgbClr val="F1F5F9"/>
                </a:solidFill>
                <a:latin typeface="Arial"/>
              </a:defRPr>
            </a:pPr>
            <a:r>
              <a:t>פלטפורמת אינטייק דיגיטלית חכמה ומותאמת תרבותית למזרח ירושלים</a:t>
            </a:r>
          </a:p>
          <a:p>
            <a:pPr algn="ctr">
              <a:spcBef>
                <a:spcPts val="4000"/>
              </a:spcBef>
              <a:defRPr sz="1400">
                <a:solidFill>
                  <a:srgbClr val="94A3B8"/>
                </a:solidFill>
                <a:latin typeface="Arial"/>
              </a:defRPr>
            </a:pPr>
            <a:r>
              <a:t>פרויקט גמר בניהול מוצר 2026 | הקריה האקדמית אונו</a:t>
            </a:r>
            <a:br/>
            <a:r>
              <a:t>קישור לפרוטוטייפ לקוח: http://localhost:8000/client_intake.html</a:t>
            </a:r>
            <a:br/>
            <a:r>
              <a:t>קישור ללוח בקרה עורך דין: http://localhost:8000/lawyer_dashboard.html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הבעיה: חסמים קריטיים בנגישות לצדק ופיצויים רפואיים</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2000"/>
              </a:spcAft>
              <a:defRPr sz="1800" b="1">
                <a:solidFill>
                  <a:srgbClr val="FBBF24"/>
                </a:solidFill>
                <a:latin typeface="Arial"/>
              </a:defRPr>
            </a:pPr>
            <a:r>
              <a:t>• פחד פיננסי משתק: </a:t>
            </a:r>
            <a:r>
              <a:rPr sz="1600" b="0">
                <a:solidFill>
                  <a:srgbClr val="F1F5F9"/>
                </a:solidFill>
                <a:latin typeface="Arial"/>
              </a:rPr>
              <a:t>נפגעי תאונות עבודה ודרכים במזרח ירושלים נמנעים מפנייה לעורכי דין בשל חשש מעלויות ייעוץ ראשוניות גבוהות.</a:t>
            </a:r>
          </a:p>
          <a:p>
            <a:pPr algn="r">
              <a:spcAft>
                <a:spcPts val="2000"/>
              </a:spcAft>
              <a:defRPr sz="1800" b="1">
                <a:solidFill>
                  <a:srgbClr val="FBBF24"/>
                </a:solidFill>
                <a:latin typeface="Arial"/>
              </a:defRPr>
            </a:pPr>
            <a:r>
              <a:t>• מחסום שפה ותרבות: </a:t>
            </a:r>
            <a:r>
              <a:rPr sz="1600" b="0">
                <a:solidFill>
                  <a:srgbClr val="F1F5F9"/>
                </a:solidFill>
                <a:latin typeface="Arial"/>
              </a:rPr>
              <a:t>רוב המידע וחוקי המוסד לביטוח לאומי כתובים בעברית משפטית מורכבת, דבר היוצר פער הבנה אצל אוכלוסייה דוברת ערבית.</a:t>
            </a:r>
          </a:p>
          <a:p>
            <a:pPr algn="r">
              <a:spcAft>
                <a:spcPts val="2000"/>
              </a:spcAft>
              <a:defRPr sz="1800" b="1">
                <a:solidFill>
                  <a:srgbClr val="FBBF24"/>
                </a:solidFill>
                <a:latin typeface="Arial"/>
              </a:defRPr>
            </a:pPr>
            <a:r>
              <a:t>• חששות רגשיים ואישיים: </a:t>
            </a:r>
            <a:r>
              <a:rPr sz="1600" b="0">
                <a:solidFill>
                  <a:srgbClr val="F1F5F9"/>
                </a:solidFill>
                <a:latin typeface="Arial"/>
              </a:rPr>
              <a:t>פחד מפני מעסיקים ('מה יקרה לעבודה שלי?') וחוסר נוחות לשתף פרטים רפואיים אינטימיים עם גורמים זרים.</a:t>
            </a:r>
          </a:p>
          <a:p>
            <a:pPr algn="r">
              <a:spcAft>
                <a:spcPts val="2000"/>
              </a:spcAft>
              <a:defRPr sz="1800" b="1">
                <a:solidFill>
                  <a:srgbClr val="FBBF24"/>
                </a:solidFill>
                <a:latin typeface="Arial"/>
              </a:defRPr>
            </a:pPr>
            <a:r>
              <a:t>• סרבול ביורוקרטי: </a:t>
            </a:r>
            <a:r>
              <a:rPr sz="1600" b="0">
                <a:solidFill>
                  <a:srgbClr val="F1F5F9"/>
                </a:solidFill>
                <a:latin typeface="Arial"/>
              </a:rPr>
              <a:t>איסוף מסמכים ראשוניים, הוכחת רצף אירועים וקביעת סמכות שיפוטית (חוק ישראלי מול חוק פלסטיני באזור יהודה ושומרון).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קהל היעד והנחות העבודה (Hypotheses)</a:t>
            </a:r>
          </a:p>
        </p:txBody>
      </p:sp>
      <p:sp>
        <p:nvSpPr>
          <p:cNvPr id="3" name="TextBox 2"/>
          <p:cNvSpPr txBox="1"/>
          <p:nvPr/>
        </p:nvSpPr>
        <p:spPr>
          <a:xfrm>
            <a:off x="685800" y="1645920"/>
            <a:ext cx="10817352" cy="4572000"/>
          </a:xfrm>
          <a:prstGeom prst="rect">
            <a:avLst/>
          </a:prstGeom>
          <a:noFill/>
        </p:spPr>
        <p:txBody>
          <a:bodyPr wrap="square">
            <a:spAutoFit/>
          </a:bodyPr>
          <a:lstStyle/>
          <a:p>
            <a:pPr algn="r">
              <a:spcAft>
                <a:spcPts val="3000"/>
              </a:spcAft>
              <a:defRPr sz="1800" b="1">
                <a:solidFill>
                  <a:srgbClr val="F1F5F9"/>
                </a:solidFill>
                <a:latin typeface="Arial"/>
              </a:defRPr>
            </a:pPr>
            <a:r>
              <a:t>קהל היעד: פועלים ואנשי צווארון כחול במזרח ירושלים (ענפי בנייה, מוסכים, תעשייה) אשר נפגעו פיזית בעבודה או בדרך אליה.</a:t>
            </a:r>
          </a:p>
          <a:p>
            <a:pPr algn="r">
              <a:spcAft>
                <a:spcPts val="2000"/>
              </a:spcAft>
              <a:defRPr sz="1800" b="1">
                <a:solidFill>
                  <a:srgbClr val="FBBF24"/>
                </a:solidFill>
                <a:latin typeface="Arial"/>
              </a:defRPr>
            </a:pPr>
            <a:r>
              <a:t>• השערת ערך (Value Hypothesis): </a:t>
            </a:r>
            <a:r>
              <a:rPr sz="1600" b="0">
                <a:solidFill>
                  <a:srgbClr val="F1F5F9"/>
                </a:solidFill>
                <a:latin typeface="Arial"/>
              </a:rPr>
              <a:t>מתן כלי אינטייק דיגיטלי אינטראקטיבי, אנונימי וחינמי בשפת האם (ערבית/עברית) יוריד את רמת החשש ויעלה את נכונות המשתמשים להתחיל בתהליך ב-40%.</a:t>
            </a:r>
          </a:p>
          <a:p>
            <a:pPr algn="r">
              <a:spcAft>
                <a:spcPts val="2000"/>
              </a:spcAft>
              <a:defRPr sz="1800" b="1">
                <a:solidFill>
                  <a:srgbClr val="FBBF24"/>
                </a:solidFill>
                <a:latin typeface="Arial"/>
              </a:defRPr>
            </a:pPr>
            <a:r>
              <a:t>• השערת שמישות (Usability Hypothesis): </a:t>
            </a:r>
            <a:r>
              <a:rPr sz="1600" b="0">
                <a:solidFill>
                  <a:srgbClr val="F1F5F9"/>
                </a:solidFill>
                <a:latin typeface="Arial"/>
              </a:rPr>
              <a:t>שילוב של זיהוי קולי (Voice-to-Text) מותאם לשפת המשתמש יפתור את בעיית סרבול ההקלדה בטלפון הנייד וישפר את אחוזי השלמת השאלון בקרב פועלים.</a:t>
            </a:r>
          </a:p>
          <a:p>
            <a:pPr algn="r">
              <a:spcAft>
                <a:spcPts val="2000"/>
              </a:spcAft>
              <a:defRPr sz="1800" b="1">
                <a:solidFill>
                  <a:srgbClr val="FBBF24"/>
                </a:solidFill>
                <a:latin typeface="Arial"/>
              </a:defRPr>
            </a:pPr>
            <a:r>
              <a:t>• השערת ישימות (Viability Hypothesis): </a:t>
            </a:r>
            <a:r>
              <a:rPr sz="1600" b="0">
                <a:solidFill>
                  <a:srgbClr val="F1F5F9"/>
                </a:solidFill>
                <a:latin typeface="Arial"/>
              </a:rPr>
              <a:t>הבהרת מודל 'תשלום מבוסס הצלחה בלבד' (No Win = No Fee) ו-0 ש"ח עלות מראש תסיר את חסם החרדה הכלכלית.</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646331"/>
          </a:xfrm>
          <a:prstGeom prst="rect">
            <a:avLst/>
          </a:prstGeom>
          <a:noFill/>
        </p:spPr>
        <p:txBody>
          <a:bodyPr wrap="square">
            <a:spAutoFit/>
          </a:bodyPr>
          <a:lstStyle/>
          <a:p>
            <a:pPr algn="r">
              <a:defRPr sz="3600" b="1">
                <a:solidFill>
                  <a:srgbClr val="FBBF24"/>
                </a:solidFill>
                <a:latin typeface="Arial"/>
              </a:defRPr>
            </a:pPr>
            <a:r>
              <a:rPr lang="ar-SA" dirty="0"/>
              <a:t> </a:t>
            </a:r>
            <a:r>
              <a:rPr dirty="0" err="1"/>
              <a:t>פרסונה</a:t>
            </a:r>
            <a:r>
              <a:rPr dirty="0"/>
              <a:t> </a:t>
            </a:r>
            <a:r>
              <a:rPr lang="ar-SA" dirty="0"/>
              <a:t> </a:t>
            </a:r>
            <a:r>
              <a:rPr dirty="0"/>
              <a:t>1: </a:t>
            </a:r>
            <a:r>
              <a:rPr dirty="0" err="1"/>
              <a:t>הלקוח</a:t>
            </a:r>
            <a:r>
              <a:rPr dirty="0"/>
              <a:t> </a:t>
            </a:r>
            <a:r>
              <a:rPr dirty="0" err="1"/>
              <a:t>הקצה</a:t>
            </a:r>
            <a:r>
              <a:rPr dirty="0"/>
              <a:t> - </a:t>
            </a:r>
            <a:r>
              <a:rPr dirty="0" err="1"/>
              <a:t>נפגע</a:t>
            </a:r>
            <a:r>
              <a:rPr dirty="0"/>
              <a:t> </a:t>
            </a:r>
            <a:r>
              <a:rPr dirty="0" err="1"/>
              <a:t>עבודה</a:t>
            </a:r>
            <a:endParaRPr dirty="0"/>
          </a:p>
        </p:txBody>
      </p:sp>
      <p:sp>
        <p:nvSpPr>
          <p:cNvPr id="3" name="TextBox 2"/>
          <p:cNvSpPr txBox="1"/>
          <p:nvPr/>
        </p:nvSpPr>
        <p:spPr>
          <a:xfrm>
            <a:off x="790732" y="1828800"/>
            <a:ext cx="10817352" cy="4572000"/>
          </a:xfrm>
          <a:prstGeom prst="rect">
            <a:avLst/>
          </a:prstGeom>
          <a:noFill/>
        </p:spPr>
        <p:txBody>
          <a:bodyPr wrap="square">
            <a:spAutoFit/>
          </a:bodyPr>
          <a:lstStyle/>
          <a:p>
            <a:pPr algn="r">
              <a:spcAft>
                <a:spcPts val="2000"/>
              </a:spcAft>
              <a:defRPr sz="2000" b="1">
                <a:solidFill>
                  <a:srgbClr val="FBBF24"/>
                </a:solidFill>
                <a:latin typeface="Arial"/>
              </a:defRPr>
            </a:pPr>
            <a:r>
              <a:rPr dirty="0" err="1"/>
              <a:t>פרופיל</a:t>
            </a:r>
            <a:r>
              <a:rPr dirty="0"/>
              <a:t>: </a:t>
            </a:r>
            <a:r>
              <a:rPr dirty="0" err="1"/>
              <a:t>עאדל</a:t>
            </a:r>
            <a:r>
              <a:rPr dirty="0"/>
              <a:t>, </a:t>
            </a:r>
            <a:r>
              <a:rPr dirty="0" err="1"/>
              <a:t>בן</a:t>
            </a:r>
            <a:r>
              <a:rPr dirty="0"/>
              <a:t> 42, </a:t>
            </a:r>
            <a:r>
              <a:rPr dirty="0" err="1"/>
              <a:t>פועל</a:t>
            </a:r>
            <a:r>
              <a:rPr dirty="0"/>
              <a:t> </a:t>
            </a:r>
            <a:r>
              <a:rPr dirty="0" err="1"/>
              <a:t>בניין</a:t>
            </a:r>
            <a:r>
              <a:rPr dirty="0"/>
              <a:t>, </a:t>
            </a:r>
            <a:r>
              <a:rPr dirty="0" err="1"/>
              <a:t>תושב</a:t>
            </a:r>
            <a:r>
              <a:rPr dirty="0"/>
              <a:t> </a:t>
            </a:r>
            <a:r>
              <a:rPr dirty="0" err="1"/>
              <a:t>עיסאוויה</a:t>
            </a:r>
            <a:r>
              <a:rPr dirty="0"/>
              <a:t> (</a:t>
            </a:r>
            <a:r>
              <a:rPr dirty="0" err="1"/>
              <a:t>מזרח</a:t>
            </a:r>
            <a:r>
              <a:rPr dirty="0"/>
              <a:t> </a:t>
            </a:r>
            <a:r>
              <a:rPr dirty="0" err="1"/>
              <a:t>ירושלים</a:t>
            </a:r>
            <a:r>
              <a:rPr dirty="0"/>
              <a:t>)</a:t>
            </a:r>
          </a:p>
          <a:p>
            <a:pPr algn="r">
              <a:spcAft>
                <a:spcPts val="2000"/>
              </a:spcAft>
              <a:defRPr sz="1800" i="1">
                <a:solidFill>
                  <a:srgbClr val="F1F5F9"/>
                </a:solidFill>
                <a:latin typeface="Arial"/>
              </a:defRPr>
            </a:pPr>
            <a:r>
              <a:rPr dirty="0" err="1"/>
              <a:t>ציטוט</a:t>
            </a:r>
            <a:r>
              <a:rPr dirty="0"/>
              <a:t> </a:t>
            </a:r>
            <a:r>
              <a:rPr dirty="0" err="1"/>
              <a:t>מהראיון</a:t>
            </a:r>
            <a:r>
              <a:rPr dirty="0"/>
              <a:t>: "</a:t>
            </a:r>
            <a:r>
              <a:rPr dirty="0" err="1"/>
              <a:t>אני</a:t>
            </a:r>
            <a:r>
              <a:rPr dirty="0"/>
              <a:t> </a:t>
            </a:r>
            <a:r>
              <a:rPr dirty="0" err="1"/>
              <a:t>פוחד</a:t>
            </a:r>
            <a:r>
              <a:rPr dirty="0"/>
              <a:t> </a:t>
            </a:r>
            <a:r>
              <a:rPr dirty="0" err="1"/>
              <a:t>לפנות</a:t>
            </a:r>
            <a:r>
              <a:rPr dirty="0"/>
              <a:t> </a:t>
            </a:r>
            <a:r>
              <a:rPr dirty="0" err="1"/>
              <a:t>לעורך</a:t>
            </a:r>
            <a:r>
              <a:rPr dirty="0"/>
              <a:t> </a:t>
            </a:r>
            <a:r>
              <a:rPr dirty="0" err="1"/>
              <a:t>דין</a:t>
            </a:r>
            <a:r>
              <a:rPr dirty="0"/>
              <a:t>, </a:t>
            </a:r>
            <a:r>
              <a:rPr dirty="0" err="1"/>
              <a:t>אין</a:t>
            </a:r>
            <a:r>
              <a:rPr dirty="0"/>
              <a:t> </a:t>
            </a:r>
            <a:r>
              <a:rPr dirty="0" err="1"/>
              <a:t>לי</a:t>
            </a:r>
            <a:r>
              <a:rPr dirty="0"/>
              <a:t> </a:t>
            </a:r>
            <a:r>
              <a:rPr dirty="0" err="1"/>
              <a:t>אלפי</a:t>
            </a:r>
            <a:r>
              <a:rPr dirty="0"/>
              <a:t> </a:t>
            </a:r>
            <a:r>
              <a:rPr dirty="0" err="1"/>
              <a:t>שקלים</a:t>
            </a:r>
            <a:r>
              <a:rPr dirty="0"/>
              <a:t> </a:t>
            </a:r>
            <a:r>
              <a:rPr dirty="0" err="1"/>
              <a:t>לשלם</a:t>
            </a:r>
            <a:r>
              <a:rPr dirty="0"/>
              <a:t> </a:t>
            </a:r>
            <a:r>
              <a:rPr dirty="0" err="1"/>
              <a:t>רק</a:t>
            </a:r>
            <a:r>
              <a:rPr dirty="0"/>
              <a:t> </a:t>
            </a:r>
            <a:r>
              <a:rPr dirty="0" err="1"/>
              <a:t>כדי</a:t>
            </a:r>
            <a:r>
              <a:rPr dirty="0"/>
              <a:t> </a:t>
            </a:r>
            <a:r>
              <a:rPr dirty="0" err="1"/>
              <a:t>שיגיד</a:t>
            </a:r>
            <a:r>
              <a:rPr dirty="0"/>
              <a:t> </a:t>
            </a:r>
            <a:r>
              <a:rPr dirty="0" err="1"/>
              <a:t>לי</a:t>
            </a:r>
            <a:r>
              <a:rPr dirty="0"/>
              <a:t> </a:t>
            </a:r>
            <a:r>
              <a:rPr dirty="0" err="1"/>
              <a:t>אם</a:t>
            </a:r>
            <a:r>
              <a:rPr dirty="0"/>
              <a:t> </a:t>
            </a:r>
            <a:r>
              <a:rPr dirty="0" err="1"/>
              <a:t>יש</a:t>
            </a:r>
            <a:r>
              <a:rPr dirty="0"/>
              <a:t> </a:t>
            </a:r>
            <a:r>
              <a:rPr dirty="0" err="1"/>
              <a:t>לי</a:t>
            </a:r>
            <a:r>
              <a:rPr dirty="0"/>
              <a:t> </a:t>
            </a:r>
            <a:r>
              <a:rPr dirty="0" err="1"/>
              <a:t>סיכוי</a:t>
            </a:r>
            <a:r>
              <a:rPr dirty="0"/>
              <a:t>. </a:t>
            </a:r>
            <a:r>
              <a:rPr dirty="0" err="1"/>
              <a:t>בינתיים</a:t>
            </a:r>
            <a:r>
              <a:rPr dirty="0"/>
              <a:t> </a:t>
            </a:r>
            <a:r>
              <a:rPr dirty="0" err="1"/>
              <a:t>אני</a:t>
            </a:r>
            <a:r>
              <a:rPr dirty="0"/>
              <a:t> </a:t>
            </a:r>
            <a:r>
              <a:rPr dirty="0" err="1"/>
              <a:t>יושב</a:t>
            </a:r>
            <a:r>
              <a:rPr dirty="0"/>
              <a:t> </a:t>
            </a:r>
            <a:r>
              <a:rPr dirty="0" err="1"/>
              <a:t>בבית</a:t>
            </a:r>
            <a:r>
              <a:rPr dirty="0"/>
              <a:t> </a:t>
            </a:r>
            <a:r>
              <a:rPr dirty="0" err="1"/>
              <a:t>בלי</a:t>
            </a:r>
            <a:r>
              <a:rPr dirty="0"/>
              <a:t> </a:t>
            </a:r>
            <a:r>
              <a:rPr dirty="0" err="1"/>
              <a:t>שכר</a:t>
            </a:r>
            <a:r>
              <a:rPr dirty="0"/>
              <a:t>"</a:t>
            </a:r>
          </a:p>
          <a:p>
            <a:pPr algn="r">
              <a:spcAft>
                <a:spcPts val="1500"/>
              </a:spcAft>
              <a:defRPr sz="1800" b="1">
                <a:solidFill>
                  <a:srgbClr val="FBBF24"/>
                </a:solidFill>
                <a:latin typeface="Arial"/>
              </a:defRPr>
            </a:pPr>
            <a:r>
              <a:rPr dirty="0"/>
              <a:t>• </a:t>
            </a:r>
            <a:r>
              <a:rPr dirty="0" err="1"/>
              <a:t>מטרות</a:t>
            </a:r>
            <a:r>
              <a:rPr dirty="0"/>
              <a:t> </a:t>
            </a:r>
            <a:r>
              <a:rPr dirty="0" err="1"/>
              <a:t>ויעדים</a:t>
            </a:r>
            <a:r>
              <a:rPr dirty="0"/>
              <a:t>: </a:t>
            </a:r>
            <a:r>
              <a:rPr sz="1600" dirty="0" err="1">
                <a:solidFill>
                  <a:srgbClr val="F1F5F9"/>
                </a:solidFill>
                <a:latin typeface="Arial"/>
              </a:rPr>
              <a:t>לקבל</a:t>
            </a:r>
            <a:r>
              <a:rPr sz="1600" dirty="0">
                <a:solidFill>
                  <a:srgbClr val="F1F5F9"/>
                </a:solidFill>
                <a:latin typeface="Arial"/>
              </a:rPr>
              <a:t> </a:t>
            </a:r>
            <a:r>
              <a:rPr sz="1600" dirty="0" err="1">
                <a:solidFill>
                  <a:srgbClr val="F1F5F9"/>
                </a:solidFill>
                <a:latin typeface="Arial"/>
              </a:rPr>
              <a:t>הערכה</a:t>
            </a:r>
            <a:r>
              <a:rPr sz="1600" dirty="0">
                <a:solidFill>
                  <a:srgbClr val="F1F5F9"/>
                </a:solidFill>
                <a:latin typeface="Arial"/>
              </a:rPr>
              <a:t> </a:t>
            </a:r>
            <a:r>
              <a:rPr sz="1600" dirty="0" err="1">
                <a:solidFill>
                  <a:srgbClr val="F1F5F9"/>
                </a:solidFill>
                <a:latin typeface="Arial"/>
              </a:rPr>
              <a:t>מהירה</a:t>
            </a:r>
            <a:r>
              <a:rPr sz="1600" dirty="0">
                <a:solidFill>
                  <a:srgbClr val="F1F5F9"/>
                </a:solidFill>
                <a:latin typeface="Arial"/>
              </a:rPr>
              <a:t> </a:t>
            </a:r>
            <a:r>
              <a:rPr sz="1600" dirty="0" err="1">
                <a:solidFill>
                  <a:srgbClr val="F1F5F9"/>
                </a:solidFill>
                <a:latin typeface="Arial"/>
              </a:rPr>
              <a:t>ואמינה</a:t>
            </a:r>
            <a:r>
              <a:rPr sz="1600" dirty="0">
                <a:solidFill>
                  <a:srgbClr val="F1F5F9"/>
                </a:solidFill>
                <a:latin typeface="Arial"/>
              </a:rPr>
              <a:t> </a:t>
            </a:r>
            <a:r>
              <a:rPr sz="1600" dirty="0" err="1">
                <a:solidFill>
                  <a:srgbClr val="F1F5F9"/>
                </a:solidFill>
                <a:latin typeface="Arial"/>
              </a:rPr>
              <a:t>אם</a:t>
            </a:r>
            <a:r>
              <a:rPr sz="1600" dirty="0">
                <a:solidFill>
                  <a:srgbClr val="F1F5F9"/>
                </a:solidFill>
                <a:latin typeface="Arial"/>
              </a:rPr>
              <a:t> </a:t>
            </a:r>
            <a:r>
              <a:rPr sz="1600" dirty="0" err="1">
                <a:solidFill>
                  <a:srgbClr val="F1F5F9"/>
                </a:solidFill>
                <a:latin typeface="Arial"/>
              </a:rPr>
              <a:t>מגיע</a:t>
            </a:r>
            <a:r>
              <a:rPr sz="1600" dirty="0">
                <a:solidFill>
                  <a:srgbClr val="F1F5F9"/>
                </a:solidFill>
                <a:latin typeface="Arial"/>
              </a:rPr>
              <a:t> </a:t>
            </a:r>
            <a:r>
              <a:rPr sz="1600" dirty="0" err="1">
                <a:solidFill>
                  <a:srgbClr val="F1F5F9"/>
                </a:solidFill>
                <a:latin typeface="Arial"/>
              </a:rPr>
              <a:t>לו</a:t>
            </a:r>
            <a:r>
              <a:rPr sz="1600" dirty="0">
                <a:solidFill>
                  <a:srgbClr val="F1F5F9"/>
                </a:solidFill>
                <a:latin typeface="Arial"/>
              </a:rPr>
              <a:t> </a:t>
            </a:r>
            <a:r>
              <a:rPr sz="1600" dirty="0" err="1">
                <a:solidFill>
                  <a:srgbClr val="F1F5F9"/>
                </a:solidFill>
                <a:latin typeface="Arial"/>
              </a:rPr>
              <a:t>פיצוי</a:t>
            </a:r>
            <a:r>
              <a:rPr sz="1600" dirty="0">
                <a:solidFill>
                  <a:srgbClr val="F1F5F9"/>
                </a:solidFill>
                <a:latin typeface="Arial"/>
              </a:rPr>
              <a:t> </a:t>
            </a:r>
            <a:r>
              <a:rPr sz="1600" dirty="0" err="1">
                <a:solidFill>
                  <a:srgbClr val="F1F5F9"/>
                </a:solidFill>
                <a:latin typeface="Arial"/>
              </a:rPr>
              <a:t>כספי</a:t>
            </a:r>
            <a:r>
              <a:rPr sz="1600" dirty="0">
                <a:solidFill>
                  <a:srgbClr val="F1F5F9"/>
                </a:solidFill>
                <a:latin typeface="Arial"/>
              </a:rPr>
              <a:t> </a:t>
            </a:r>
            <a:r>
              <a:rPr sz="1600" dirty="0" err="1">
                <a:solidFill>
                  <a:srgbClr val="F1F5F9"/>
                </a:solidFill>
                <a:latin typeface="Arial"/>
              </a:rPr>
              <a:t>מביטוח</a:t>
            </a:r>
            <a:r>
              <a:rPr sz="1600" dirty="0">
                <a:solidFill>
                  <a:srgbClr val="F1F5F9"/>
                </a:solidFill>
                <a:latin typeface="Arial"/>
              </a:rPr>
              <a:t> </a:t>
            </a:r>
            <a:r>
              <a:rPr sz="1600" dirty="0" err="1">
                <a:solidFill>
                  <a:srgbClr val="F1F5F9"/>
                </a:solidFill>
                <a:latin typeface="Arial"/>
              </a:rPr>
              <a:t>לאומי</a:t>
            </a:r>
            <a:r>
              <a:rPr sz="1600" dirty="0">
                <a:solidFill>
                  <a:srgbClr val="F1F5F9"/>
                </a:solidFill>
                <a:latin typeface="Arial"/>
              </a:rPr>
              <a:t>. </a:t>
            </a:r>
            <a:r>
              <a:rPr sz="1600" dirty="0" err="1">
                <a:solidFill>
                  <a:srgbClr val="F1F5F9"/>
                </a:solidFill>
                <a:latin typeface="Arial"/>
              </a:rPr>
              <a:t>להעביר</a:t>
            </a:r>
            <a:r>
              <a:rPr sz="1600" dirty="0">
                <a:solidFill>
                  <a:srgbClr val="F1F5F9"/>
                </a:solidFill>
                <a:latin typeface="Arial"/>
              </a:rPr>
              <a:t> </a:t>
            </a:r>
            <a:r>
              <a:rPr sz="1600" dirty="0" err="1">
                <a:solidFill>
                  <a:srgbClr val="F1F5F9"/>
                </a:solidFill>
                <a:latin typeface="Arial"/>
              </a:rPr>
              <a:t>את</a:t>
            </a:r>
            <a:r>
              <a:rPr sz="1600" dirty="0">
                <a:solidFill>
                  <a:srgbClr val="F1F5F9"/>
                </a:solidFill>
                <a:latin typeface="Arial"/>
              </a:rPr>
              <a:t> </a:t>
            </a:r>
            <a:r>
              <a:rPr sz="1600" dirty="0" err="1">
                <a:solidFill>
                  <a:srgbClr val="F1F5F9"/>
                </a:solidFill>
                <a:latin typeface="Arial"/>
              </a:rPr>
              <a:t>הטיפול</a:t>
            </a:r>
            <a:r>
              <a:rPr sz="1600" dirty="0">
                <a:solidFill>
                  <a:srgbClr val="F1F5F9"/>
                </a:solidFill>
                <a:latin typeface="Arial"/>
              </a:rPr>
              <a:t> </a:t>
            </a:r>
            <a:r>
              <a:rPr sz="1600" dirty="0" err="1">
                <a:solidFill>
                  <a:srgbClr val="F1F5F9"/>
                </a:solidFill>
                <a:latin typeface="Arial"/>
              </a:rPr>
              <a:t>המשפטי</a:t>
            </a:r>
            <a:r>
              <a:rPr sz="1600" dirty="0">
                <a:solidFill>
                  <a:srgbClr val="F1F5F9"/>
                </a:solidFill>
                <a:latin typeface="Arial"/>
              </a:rPr>
              <a:t> </a:t>
            </a:r>
            <a:r>
              <a:rPr sz="1600" dirty="0" err="1">
                <a:solidFill>
                  <a:srgbClr val="F1F5F9"/>
                </a:solidFill>
                <a:latin typeface="Arial"/>
              </a:rPr>
              <a:t>לידיים</a:t>
            </a:r>
            <a:r>
              <a:rPr sz="1600" dirty="0">
                <a:solidFill>
                  <a:srgbClr val="F1F5F9"/>
                </a:solidFill>
                <a:latin typeface="Arial"/>
              </a:rPr>
              <a:t> </a:t>
            </a:r>
            <a:r>
              <a:rPr sz="1600" dirty="0" err="1">
                <a:solidFill>
                  <a:srgbClr val="F1F5F9"/>
                </a:solidFill>
                <a:latin typeface="Arial"/>
              </a:rPr>
              <a:t>אמינות</a:t>
            </a:r>
            <a:r>
              <a:rPr sz="1600" dirty="0">
                <a:solidFill>
                  <a:srgbClr val="F1F5F9"/>
                </a:solidFill>
                <a:latin typeface="Arial"/>
              </a:rPr>
              <a:t> </a:t>
            </a:r>
            <a:r>
              <a:rPr sz="1600" dirty="0" err="1">
                <a:solidFill>
                  <a:srgbClr val="F1F5F9"/>
                </a:solidFill>
                <a:latin typeface="Arial"/>
              </a:rPr>
              <a:t>ללא</a:t>
            </a:r>
            <a:r>
              <a:rPr sz="1600" dirty="0">
                <a:solidFill>
                  <a:srgbClr val="F1F5F9"/>
                </a:solidFill>
                <a:latin typeface="Arial"/>
              </a:rPr>
              <a:t> </a:t>
            </a:r>
            <a:r>
              <a:rPr sz="1600" dirty="0" err="1">
                <a:solidFill>
                  <a:srgbClr val="F1F5F9"/>
                </a:solidFill>
                <a:latin typeface="Arial"/>
              </a:rPr>
              <a:t>סיכון</a:t>
            </a:r>
            <a:r>
              <a:rPr sz="1600" dirty="0">
                <a:solidFill>
                  <a:srgbClr val="F1F5F9"/>
                </a:solidFill>
                <a:latin typeface="Arial"/>
              </a:rPr>
              <a:t> </a:t>
            </a:r>
            <a:r>
              <a:rPr sz="1600" dirty="0" err="1">
                <a:solidFill>
                  <a:srgbClr val="F1F5F9"/>
                </a:solidFill>
                <a:latin typeface="Arial"/>
              </a:rPr>
              <a:t>כלכלי</a:t>
            </a:r>
            <a:r>
              <a:rPr sz="1600" dirty="0">
                <a:solidFill>
                  <a:srgbClr val="F1F5F9"/>
                </a:solidFill>
                <a:latin typeface="Arial"/>
              </a:rPr>
              <a:t> </a:t>
            </a:r>
            <a:r>
              <a:rPr sz="1600" dirty="0" err="1">
                <a:solidFill>
                  <a:srgbClr val="F1F5F9"/>
                </a:solidFill>
                <a:latin typeface="Arial"/>
              </a:rPr>
              <a:t>מראש</a:t>
            </a:r>
            <a:r>
              <a:rPr sz="1600" dirty="0">
                <a:solidFill>
                  <a:srgbClr val="F1F5F9"/>
                </a:solidFill>
                <a:latin typeface="Arial"/>
              </a:rPr>
              <a:t>.</a:t>
            </a:r>
          </a:p>
          <a:p>
            <a:pPr algn="r">
              <a:spcAft>
                <a:spcPts val="1500"/>
              </a:spcAft>
              <a:defRPr sz="1800" b="1">
                <a:solidFill>
                  <a:srgbClr val="FBBF24"/>
                </a:solidFill>
                <a:latin typeface="Arial"/>
              </a:defRPr>
            </a:pPr>
            <a:r>
              <a:rPr dirty="0"/>
              <a:t>• </a:t>
            </a:r>
            <a:r>
              <a:rPr dirty="0" err="1"/>
              <a:t>נקודות</a:t>
            </a:r>
            <a:r>
              <a:rPr dirty="0"/>
              <a:t> </a:t>
            </a:r>
            <a:r>
              <a:rPr dirty="0" err="1"/>
              <a:t>כאב</a:t>
            </a:r>
            <a:r>
              <a:rPr dirty="0"/>
              <a:t>: </a:t>
            </a:r>
            <a:r>
              <a:rPr sz="1600" dirty="0" err="1">
                <a:solidFill>
                  <a:srgbClr val="F1F5F9"/>
                </a:solidFill>
                <a:latin typeface="Arial"/>
              </a:rPr>
              <a:t>עברית</a:t>
            </a:r>
            <a:r>
              <a:rPr sz="1600" dirty="0">
                <a:solidFill>
                  <a:srgbClr val="F1F5F9"/>
                </a:solidFill>
                <a:latin typeface="Arial"/>
              </a:rPr>
              <a:t> </a:t>
            </a:r>
            <a:r>
              <a:rPr sz="1600" dirty="0" err="1">
                <a:solidFill>
                  <a:srgbClr val="F1F5F9"/>
                </a:solidFill>
                <a:latin typeface="Arial"/>
              </a:rPr>
              <a:t>דלה</a:t>
            </a:r>
            <a:r>
              <a:rPr sz="1600" dirty="0">
                <a:solidFill>
                  <a:srgbClr val="F1F5F9"/>
                </a:solidFill>
                <a:latin typeface="Arial"/>
              </a:rPr>
              <a:t> </a:t>
            </a:r>
            <a:r>
              <a:rPr sz="1600" dirty="0" err="1">
                <a:solidFill>
                  <a:srgbClr val="F1F5F9"/>
                </a:solidFill>
                <a:latin typeface="Arial"/>
              </a:rPr>
              <a:t>מקשה</a:t>
            </a:r>
            <a:r>
              <a:rPr sz="1600" dirty="0">
                <a:solidFill>
                  <a:srgbClr val="F1F5F9"/>
                </a:solidFill>
                <a:latin typeface="Arial"/>
              </a:rPr>
              <a:t> </a:t>
            </a:r>
            <a:r>
              <a:rPr sz="1600" dirty="0" err="1">
                <a:solidFill>
                  <a:srgbClr val="F1F5F9"/>
                </a:solidFill>
                <a:latin typeface="Arial"/>
              </a:rPr>
              <a:t>על</a:t>
            </a:r>
            <a:r>
              <a:rPr sz="1600" dirty="0">
                <a:solidFill>
                  <a:srgbClr val="F1F5F9"/>
                </a:solidFill>
                <a:latin typeface="Arial"/>
              </a:rPr>
              <a:t> </a:t>
            </a:r>
            <a:r>
              <a:rPr sz="1600" dirty="0" err="1">
                <a:solidFill>
                  <a:srgbClr val="F1F5F9"/>
                </a:solidFill>
                <a:latin typeface="Arial"/>
              </a:rPr>
              <a:t>קריאת</a:t>
            </a:r>
            <a:r>
              <a:rPr sz="1600" dirty="0">
                <a:solidFill>
                  <a:srgbClr val="F1F5F9"/>
                </a:solidFill>
                <a:latin typeface="Arial"/>
              </a:rPr>
              <a:t> </a:t>
            </a:r>
            <a:r>
              <a:rPr sz="1600" dirty="0" err="1">
                <a:solidFill>
                  <a:srgbClr val="F1F5F9"/>
                </a:solidFill>
                <a:latin typeface="Arial"/>
              </a:rPr>
              <a:t>טפסים</a:t>
            </a:r>
            <a:r>
              <a:rPr sz="1600" dirty="0">
                <a:solidFill>
                  <a:srgbClr val="F1F5F9"/>
                </a:solidFill>
                <a:latin typeface="Arial"/>
              </a:rPr>
              <a:t> </a:t>
            </a:r>
            <a:r>
              <a:rPr sz="1600" dirty="0" err="1">
                <a:solidFill>
                  <a:srgbClr val="F1F5F9"/>
                </a:solidFill>
                <a:latin typeface="Arial"/>
              </a:rPr>
              <a:t>רפואיים</a:t>
            </a:r>
            <a:r>
              <a:rPr sz="1600" dirty="0">
                <a:solidFill>
                  <a:srgbClr val="F1F5F9"/>
                </a:solidFill>
                <a:latin typeface="Arial"/>
              </a:rPr>
              <a:t> </a:t>
            </a:r>
            <a:r>
              <a:rPr sz="1600" dirty="0" err="1">
                <a:solidFill>
                  <a:srgbClr val="F1F5F9"/>
                </a:solidFill>
                <a:latin typeface="Arial"/>
              </a:rPr>
              <a:t>ומשפטיים</a:t>
            </a:r>
            <a:r>
              <a:rPr sz="1600" dirty="0">
                <a:solidFill>
                  <a:srgbClr val="F1F5F9"/>
                </a:solidFill>
                <a:latin typeface="Arial"/>
              </a:rPr>
              <a:t>. </a:t>
            </a:r>
            <a:r>
              <a:rPr sz="1600" dirty="0" err="1">
                <a:solidFill>
                  <a:srgbClr val="F1F5F9"/>
                </a:solidFill>
                <a:latin typeface="Arial"/>
              </a:rPr>
              <a:t>פחד</a:t>
            </a:r>
            <a:r>
              <a:rPr sz="1600" dirty="0">
                <a:solidFill>
                  <a:srgbClr val="F1F5F9"/>
                </a:solidFill>
                <a:latin typeface="Arial"/>
              </a:rPr>
              <a:t> </a:t>
            </a:r>
            <a:r>
              <a:rPr sz="1600" dirty="0" err="1">
                <a:solidFill>
                  <a:srgbClr val="F1F5F9"/>
                </a:solidFill>
                <a:latin typeface="Arial"/>
              </a:rPr>
              <a:t>מפיטורין</a:t>
            </a:r>
            <a:r>
              <a:rPr sz="1600" dirty="0">
                <a:solidFill>
                  <a:srgbClr val="F1F5F9"/>
                </a:solidFill>
                <a:latin typeface="Arial"/>
              </a:rPr>
              <a:t> </a:t>
            </a:r>
            <a:r>
              <a:rPr sz="1600" dirty="0" err="1">
                <a:solidFill>
                  <a:srgbClr val="F1F5F9"/>
                </a:solidFill>
                <a:latin typeface="Arial"/>
              </a:rPr>
              <a:t>על</a:t>
            </a:r>
            <a:r>
              <a:rPr sz="1600" dirty="0">
                <a:solidFill>
                  <a:srgbClr val="F1F5F9"/>
                </a:solidFill>
                <a:latin typeface="Arial"/>
              </a:rPr>
              <a:t> </a:t>
            </a:r>
            <a:r>
              <a:rPr sz="1600" dirty="0" err="1">
                <a:solidFill>
                  <a:srgbClr val="F1F5F9"/>
                </a:solidFill>
                <a:latin typeface="Arial"/>
              </a:rPr>
              <a:t>ידי</a:t>
            </a:r>
            <a:r>
              <a:rPr sz="1600" dirty="0">
                <a:solidFill>
                  <a:srgbClr val="F1F5F9"/>
                </a:solidFill>
                <a:latin typeface="Arial"/>
              </a:rPr>
              <a:t> </a:t>
            </a:r>
            <a:r>
              <a:rPr sz="1600" dirty="0" err="1">
                <a:solidFill>
                  <a:srgbClr val="F1F5F9"/>
                </a:solidFill>
                <a:latin typeface="Arial"/>
              </a:rPr>
              <a:t>המעסיק</a:t>
            </a:r>
            <a:r>
              <a:rPr sz="1600" dirty="0">
                <a:solidFill>
                  <a:srgbClr val="F1F5F9"/>
                </a:solidFill>
                <a:latin typeface="Arial"/>
              </a:rPr>
              <a:t> </a:t>
            </a:r>
            <a:r>
              <a:rPr sz="1600" dirty="0" err="1">
                <a:solidFill>
                  <a:srgbClr val="F1F5F9"/>
                </a:solidFill>
                <a:latin typeface="Arial"/>
              </a:rPr>
              <a:t>במידה</a:t>
            </a:r>
            <a:r>
              <a:rPr sz="1600" dirty="0">
                <a:solidFill>
                  <a:srgbClr val="F1F5F9"/>
                </a:solidFill>
                <a:latin typeface="Arial"/>
              </a:rPr>
              <a:t> </a:t>
            </a:r>
            <a:r>
              <a:rPr sz="1600" dirty="0" err="1">
                <a:solidFill>
                  <a:srgbClr val="F1F5F9"/>
                </a:solidFill>
                <a:latin typeface="Arial"/>
              </a:rPr>
              <a:t>ויתבע</a:t>
            </a:r>
            <a:r>
              <a:rPr sz="1600" dirty="0">
                <a:solidFill>
                  <a:srgbClr val="F1F5F9"/>
                </a:solidFill>
                <a:latin typeface="Arial"/>
              </a:rPr>
              <a:t> </a:t>
            </a:r>
            <a:r>
              <a:rPr sz="1600" dirty="0" err="1">
                <a:solidFill>
                  <a:srgbClr val="F1F5F9"/>
                </a:solidFill>
                <a:latin typeface="Arial"/>
              </a:rPr>
              <a:t>את</a:t>
            </a:r>
            <a:r>
              <a:rPr sz="1600" dirty="0">
                <a:solidFill>
                  <a:srgbClr val="F1F5F9"/>
                </a:solidFill>
                <a:latin typeface="Arial"/>
              </a:rPr>
              <a:t> </a:t>
            </a:r>
            <a:r>
              <a:rPr sz="1600" dirty="0" err="1">
                <a:solidFill>
                  <a:srgbClr val="F1F5F9"/>
                </a:solidFill>
                <a:latin typeface="Arial"/>
              </a:rPr>
              <a:t>חברת</a:t>
            </a:r>
            <a:r>
              <a:rPr sz="1600" dirty="0">
                <a:solidFill>
                  <a:srgbClr val="F1F5F9"/>
                </a:solidFill>
                <a:latin typeface="Arial"/>
              </a:rPr>
              <a:t> </a:t>
            </a:r>
            <a:r>
              <a:rPr sz="1600" dirty="0" err="1">
                <a:solidFill>
                  <a:srgbClr val="F1F5F9"/>
                </a:solidFill>
                <a:latin typeface="Arial"/>
              </a:rPr>
              <a:t>הביטוח</a:t>
            </a:r>
            <a:r>
              <a:rPr sz="1600" dirty="0">
                <a:solidFill>
                  <a:srgbClr val="F1F5F9"/>
                </a:solidFill>
                <a:latin typeface="Arial"/>
              </a:rPr>
              <a:t>. </a:t>
            </a:r>
            <a:r>
              <a:rPr sz="1600" dirty="0" err="1">
                <a:solidFill>
                  <a:srgbClr val="F1F5F9"/>
                </a:solidFill>
                <a:latin typeface="Arial"/>
              </a:rPr>
              <a:t>חוסר</a:t>
            </a:r>
            <a:r>
              <a:rPr sz="1600" dirty="0">
                <a:solidFill>
                  <a:srgbClr val="F1F5F9"/>
                </a:solidFill>
                <a:latin typeface="Arial"/>
              </a:rPr>
              <a:t> </a:t>
            </a:r>
            <a:r>
              <a:rPr sz="1600" dirty="0" err="1">
                <a:solidFill>
                  <a:srgbClr val="F1F5F9"/>
                </a:solidFill>
                <a:latin typeface="Arial"/>
              </a:rPr>
              <a:t>נגישות</a:t>
            </a:r>
            <a:r>
              <a:rPr sz="1600" dirty="0">
                <a:solidFill>
                  <a:srgbClr val="F1F5F9"/>
                </a:solidFill>
                <a:latin typeface="Arial"/>
              </a:rPr>
              <a:t> </a:t>
            </a:r>
            <a:r>
              <a:rPr sz="1600" dirty="0" err="1">
                <a:solidFill>
                  <a:srgbClr val="F1F5F9"/>
                </a:solidFill>
                <a:latin typeface="Arial"/>
              </a:rPr>
              <a:t>למחשב</a:t>
            </a:r>
            <a:r>
              <a:rPr sz="1600" dirty="0">
                <a:solidFill>
                  <a:srgbClr val="F1F5F9"/>
                </a:solidFill>
                <a:latin typeface="Arial"/>
              </a:rPr>
              <a:t> (</a:t>
            </a:r>
            <a:r>
              <a:rPr sz="1600" dirty="0" err="1">
                <a:solidFill>
                  <a:srgbClr val="F1F5F9"/>
                </a:solidFill>
                <a:latin typeface="Arial"/>
              </a:rPr>
              <a:t>עובד</a:t>
            </a:r>
            <a:r>
              <a:rPr sz="1600" dirty="0">
                <a:solidFill>
                  <a:srgbClr val="F1F5F9"/>
                </a:solidFill>
                <a:latin typeface="Arial"/>
              </a:rPr>
              <a:t> </a:t>
            </a:r>
            <a:r>
              <a:rPr sz="1600" dirty="0" err="1">
                <a:solidFill>
                  <a:srgbClr val="F1F5F9"/>
                </a:solidFill>
                <a:latin typeface="Arial"/>
              </a:rPr>
              <a:t>רק</a:t>
            </a:r>
            <a:r>
              <a:rPr sz="1600" dirty="0">
                <a:solidFill>
                  <a:srgbClr val="F1F5F9"/>
                </a:solidFill>
                <a:latin typeface="Arial"/>
              </a:rPr>
              <a:t> </a:t>
            </a:r>
            <a:r>
              <a:rPr sz="1600" dirty="0" err="1">
                <a:solidFill>
                  <a:srgbClr val="F1F5F9"/>
                </a:solidFill>
                <a:latin typeface="Arial"/>
              </a:rPr>
              <a:t>מהטלפון</a:t>
            </a:r>
            <a:r>
              <a:rPr sz="1600" dirty="0">
                <a:solidFill>
                  <a:srgbClr val="F1F5F9"/>
                </a:solidFill>
                <a:latin typeface="Arial"/>
              </a:rPr>
              <a:t> </a:t>
            </a:r>
            <a:r>
              <a:rPr sz="1600" dirty="0" err="1">
                <a:solidFill>
                  <a:srgbClr val="F1F5F9"/>
                </a:solidFill>
                <a:latin typeface="Arial"/>
              </a:rPr>
              <a:t>הנייד</a:t>
            </a:r>
            <a:r>
              <a:rPr sz="1600" dirty="0">
                <a:solidFill>
                  <a:srgbClr val="F1F5F9"/>
                </a:solidFill>
                <a:latin typeface="Aria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פרסונה 2: הלקוח העסקי - משרד עורכי דין</a:t>
            </a:r>
          </a:p>
        </p:txBody>
      </p:sp>
      <p:sp>
        <p:nvSpPr>
          <p:cNvPr id="3" name="TextBox 2"/>
          <p:cNvSpPr txBox="1"/>
          <p:nvPr/>
        </p:nvSpPr>
        <p:spPr>
          <a:xfrm>
            <a:off x="685800" y="1645920"/>
            <a:ext cx="10817352" cy="4572000"/>
          </a:xfrm>
          <a:prstGeom prst="rect">
            <a:avLst/>
          </a:prstGeom>
          <a:noFill/>
        </p:spPr>
        <p:txBody>
          <a:bodyPr wrap="square">
            <a:spAutoFit/>
          </a:bodyPr>
          <a:lstStyle/>
          <a:p>
            <a:pPr algn="r">
              <a:spcAft>
                <a:spcPts val="2000"/>
              </a:spcAft>
              <a:defRPr sz="2000" b="1">
                <a:solidFill>
                  <a:srgbClr val="FBBF24"/>
                </a:solidFill>
                <a:latin typeface="Arial"/>
              </a:defRPr>
            </a:pPr>
            <a:r>
              <a:t>פרופיל: עו"ד יוסף, בן 35, שותף במשרד עורכי דין מומחה לנזקי גוף בירושלים</a:t>
            </a:r>
          </a:p>
          <a:p>
            <a:pPr algn="r">
              <a:spcAft>
                <a:spcPts val="2000"/>
              </a:spcAft>
              <a:defRPr sz="1800" i="1">
                <a:solidFill>
                  <a:srgbClr val="F1F5F9"/>
                </a:solidFill>
                <a:latin typeface="Arial"/>
              </a:defRPr>
            </a:pPr>
            <a:r>
              <a:t>ציטוט מהראיון: "אנחנו מבזבזים 60% מזמננו על לקוחות שמגיעים לפגישה פרונטלית ללא מסמכים מתאימים או מקרים שאין בהם עילה משפטית"</a:t>
            </a:r>
          </a:p>
          <a:p>
            <a:pPr algn="r">
              <a:spcAft>
                <a:spcPts val="1500"/>
              </a:spcAft>
              <a:defRPr sz="1800" b="1">
                <a:solidFill>
                  <a:srgbClr val="FBBF24"/>
                </a:solidFill>
                <a:latin typeface="Arial"/>
              </a:defRPr>
            </a:pPr>
            <a:r>
              <a:t>• מטרות ויעדים: </a:t>
            </a:r>
            <a:r>
              <a:rPr sz="1600">
                <a:solidFill>
                  <a:srgbClr val="F1F5F9"/>
                </a:solidFill>
                <a:latin typeface="Arial"/>
              </a:rPr>
              <a:t>לסנן מקרים לא רלוונטיים בצורה אוטומטית ויעילה לפני פגישת הייעוץ. לקבל תיק ראשוני מובנה ומאורגן עם סיווג סוג הפגיעה ומיקומה (למשל: תאונת דרכים לעומת תאונת עבודה במפעל).</a:t>
            </a:r>
          </a:p>
          <a:p>
            <a:pPr algn="r">
              <a:spcAft>
                <a:spcPts val="1500"/>
              </a:spcAft>
              <a:defRPr sz="1800" b="1">
                <a:solidFill>
                  <a:srgbClr val="FBBF24"/>
                </a:solidFill>
                <a:latin typeface="Arial"/>
              </a:defRPr>
            </a:pPr>
            <a:r>
              <a:t>• נקודות כאב: </a:t>
            </a:r>
            <a:r>
              <a:rPr sz="1600">
                <a:solidFill>
                  <a:srgbClr val="F1F5F9"/>
                </a:solidFill>
                <a:latin typeface="Arial"/>
              </a:rPr>
              <a:t>תהליך איסוף מסמכים רפואיים ארוך ומייגע מול לקוחות לא טכנולוגיים. קושי לתמחר ולהעריך את סיכויי התיק ללא תיאור ברור של נסיבות התאונה.</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ניתוח JTBD (Jobs To Be Done)</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600"/>
              </a:spcAft>
              <a:defRPr sz="1800" b="1">
                <a:solidFill>
                  <a:srgbClr val="FBBF24"/>
                </a:solidFill>
                <a:latin typeface="Arial"/>
              </a:defRPr>
            </a:pPr>
            <a:r>
              <a:t>• משימה 1: בדיקת זכאות מהירה וראשונית ללא עלות: </a:t>
            </a:r>
          </a:p>
          <a:p>
            <a:pPr algn="r">
              <a:spcAft>
                <a:spcPts val="2500"/>
              </a:spcAft>
              <a:defRPr sz="1500">
                <a:solidFill>
                  <a:srgbClr val="F1F5F9"/>
                </a:solidFill>
                <a:latin typeface="Arial"/>
              </a:defRPr>
            </a:pPr>
            <a:r>
              <a:t>הקשר: המשתמש נפצע בבית המלאכה, נמצא בביתו ומודאג לגבי עתידו הפיננסי.</a:t>
            </a:r>
            <a:br/>
            <a:r>
              <a:t>רגש: מתוסכל מהביורוקרטיה וחרד מתשלום שכר טרחה ראשוני.</a:t>
            </a:r>
            <a:br/>
            <a:r>
              <a:t>הגדרת הצלחה: קבלת תשובה ברורה: 'יש/אין עילת תביעה פוטנציאלית' תוך 2 דקות.</a:t>
            </a:r>
          </a:p>
          <a:p>
            <a:pPr algn="r">
              <a:spcAft>
                <a:spcPts val="600"/>
              </a:spcAft>
              <a:defRPr sz="1800" b="1">
                <a:solidFill>
                  <a:srgbClr val="FBBF24"/>
                </a:solidFill>
                <a:latin typeface="Arial"/>
              </a:defRPr>
            </a:pPr>
            <a:r>
              <a:t>• משימה 2: העברת מידע מובנה למחמחה בקלות ובדיסקרטיות: </a:t>
            </a:r>
          </a:p>
          <a:p>
            <a:pPr algn="r">
              <a:spcAft>
                <a:spcPts val="2500"/>
              </a:spcAft>
              <a:defRPr sz="1500">
                <a:solidFill>
                  <a:srgbClr val="F1F5F9"/>
                </a:solidFill>
                <a:latin typeface="Arial"/>
              </a:defRPr>
            </a:pPr>
            <a:r>
              <a:t>הקשר: רוצה לשלוח את גרסתו לאירוע ללא צורך בכתיבה ממושכת בעברית.</a:t>
            </a:r>
            <a:br/>
            <a:r>
              <a:t>הגדרת הצלחה: הקלטת תיאור המקרה בקולו, תמלול אוטומטי, והחלטה מודעת על אישור שליחה רק לאחר הצגת מנגנון הבטחת פרטיות (השמדת נתונים בלחיצת כפתור).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סיפורי משתמש (User Stories)</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600"/>
              </a:spcAft>
              <a:defRPr sz="1800" b="1">
                <a:solidFill>
                  <a:srgbClr val="FBBF24"/>
                </a:solidFill>
                <a:latin typeface="Arial"/>
              </a:defRPr>
            </a:pPr>
            <a:r>
              <a:t>• סיפור משתמש 1 (נפגע עבודה):</a:t>
            </a:r>
          </a:p>
          <a:p>
            <a:pPr algn="r">
              <a:spcAft>
                <a:spcPts val="3000"/>
              </a:spcAft>
              <a:defRPr sz="1600" i="1">
                <a:solidFill>
                  <a:srgbClr val="F1F5F9"/>
                </a:solidFill>
                <a:latin typeface="Arial"/>
              </a:defRPr>
            </a:pPr>
            <a:r>
              <a:t>"בתור פועל פצוע שאינו שולט בעברית, כאשר אני שוכב בבית לאחר תאונה, אני רוצה לענות על שאלון דינמי קצר בשפת האם שלי (ערבית), כדי שאוכל לדעת מיידית אם יש לי סיכוי לקבל פיצוי כספי ללא התחייבות כספית."</a:t>
            </a:r>
          </a:p>
          <a:p>
            <a:pPr algn="r">
              <a:spcAft>
                <a:spcPts val="600"/>
              </a:spcAft>
              <a:defRPr sz="1800" b="1">
                <a:solidFill>
                  <a:srgbClr val="FBBF24"/>
                </a:solidFill>
                <a:latin typeface="Arial"/>
              </a:defRPr>
            </a:pPr>
            <a:r>
              <a:t>• סיפור משתמש 2 (הגנה על פרטיות):</a:t>
            </a:r>
          </a:p>
          <a:p>
            <a:pPr algn="r">
              <a:spcAft>
                <a:spcPts val="3000"/>
              </a:spcAft>
              <a:defRPr sz="1600" i="1">
                <a:solidFill>
                  <a:srgbClr val="F1F5F9"/>
                </a:solidFill>
                <a:latin typeface="Arial"/>
              </a:defRPr>
            </a:pPr>
            <a:r>
              <a:t>"בתור משתמש חרד המשתף מידע רפואי רגיש, כאשר אני מסיים את הצ'אט הראשוני, אני רוצה שתהיה לי אפשרות בחירה מפורשת אם לשלוח את הפרטים למשרד או למחוק ולהשמיד אותם לצמיתות מהמערכת, כדי שארגיש שליטה מוחלטת בפרטיות שלי."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סקירת שוק - כיצד פותרים את הבעיה כיום?</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2000"/>
              </a:spcAft>
              <a:defRPr sz="1800" b="1">
                <a:solidFill>
                  <a:srgbClr val="FBBF24"/>
                </a:solidFill>
                <a:latin typeface="Arial"/>
              </a:defRPr>
            </a:pPr>
            <a:r>
              <a:t>• טפסים דיגיטליים סטטיים באתרים (Web Forms): </a:t>
            </a:r>
            <a:r>
              <a:rPr sz="1600" b="0">
                <a:solidFill>
                  <a:srgbClr val="F1F5F9"/>
                </a:solidFill>
                <a:latin typeface="Arial"/>
              </a:rPr>
              <a:t>יתרונות: פשוטים ליישום. חסרונות: ארוכים, קרים, אינם מתאימים את השאלות לתשובות המשתמש, קיימים רק בעברית, מייצרים אחוזי נטישה גבוהים (מעל 70%).</a:t>
            </a:r>
          </a:p>
          <a:p>
            <a:pPr algn="r">
              <a:spcAft>
                <a:spcPts val="2000"/>
              </a:spcAft>
              <a:defRPr sz="1800" b="1">
                <a:solidFill>
                  <a:srgbClr val="FBBF24"/>
                </a:solidFill>
                <a:latin typeface="Arial"/>
              </a:defRPr>
            </a:pPr>
            <a:r>
              <a:t>• פנייה טלפונית ישירה או הגעה פיזית למשרד: </a:t>
            </a:r>
            <a:r>
              <a:rPr sz="1600" b="0">
                <a:solidFill>
                  <a:srgbClr val="F1F5F9"/>
                </a:solidFill>
                <a:latin typeface="Arial"/>
              </a:rPr>
              <a:t>יתרונות: מגע אנושי ומקצועי. חסרונות: חסם כניסה פסיכולוגי גבוה, צורך בתיאום פגישה מראש, נסיעות וחשש מעלות הפגישה.</a:t>
            </a:r>
          </a:p>
          <a:p>
            <a:pPr algn="r">
              <a:spcAft>
                <a:spcPts val="2000"/>
              </a:spcAft>
              <a:defRPr sz="1800" b="1">
                <a:solidFill>
                  <a:srgbClr val="FBBF24"/>
                </a:solidFill>
                <a:latin typeface="Arial"/>
              </a:defRPr>
            </a:pPr>
            <a:r>
              <a:t>• הפער שזיהינו בשוק: </a:t>
            </a:r>
            <a:r>
              <a:rPr sz="1600" b="0">
                <a:solidFill>
                  <a:srgbClr val="F1F5F9"/>
                </a:solidFill>
                <a:latin typeface="Arial"/>
              </a:rPr>
              <a:t>אין כלי דיגיטלי דינמי, מותאם נייד (Mobile-Native), הפועל בשפת האם של המשתמש ומאפשר הזנת קול להקלת התהליך בירושלים.</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מגמות שוק וטכנולוגיה</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2000"/>
              </a:spcAft>
              <a:defRPr sz="1800" b="1">
                <a:solidFill>
                  <a:srgbClr val="FBBF24"/>
                </a:solidFill>
                <a:latin typeface="Arial"/>
              </a:defRPr>
            </a:pPr>
            <a:r>
              <a:t>• Conversational Intake: </a:t>
            </a:r>
            <a:r>
              <a:rPr sz="1600">
                <a:solidFill>
                  <a:srgbClr val="F1F5F9"/>
                </a:solidFill>
                <a:latin typeface="Arial"/>
              </a:rPr>
              <a:t>מעבר של משרדי עורכי דין מובילים בעולם מטפסים קשיחים לצ'אט-בוטים אינטראקטיביים המדמים שיחה אנושית.</a:t>
            </a:r>
          </a:p>
          <a:p>
            <a:pPr algn="r">
              <a:spcAft>
                <a:spcPts val="2000"/>
              </a:spcAft>
              <a:defRPr sz="1800" b="1">
                <a:solidFill>
                  <a:srgbClr val="FBBF24"/>
                </a:solidFill>
                <a:latin typeface="Arial"/>
              </a:defRPr>
            </a:pPr>
            <a:r>
              <a:t>• Voice Interfaces: </a:t>
            </a:r>
            <a:r>
              <a:rPr sz="1600">
                <a:solidFill>
                  <a:srgbClr val="F1F5F9"/>
                </a:solidFill>
                <a:latin typeface="Arial"/>
              </a:rPr>
              <a:t>שימוש גובר בממשקי קול (Voice-First) באוכלוסיות עובדות שאינן פנויות או מיומנות בהקלדת טקסט ארוך.</a:t>
            </a:r>
          </a:p>
          <a:p>
            <a:pPr algn="r">
              <a:spcAft>
                <a:spcPts val="2000"/>
              </a:spcAft>
              <a:defRPr sz="1800" b="1">
                <a:solidFill>
                  <a:srgbClr val="FBBF24"/>
                </a:solidFill>
                <a:latin typeface="Arial"/>
              </a:defRPr>
            </a:pPr>
            <a:r>
              <a:t>• Local Multi-lingualism: </a:t>
            </a:r>
            <a:r>
              <a:rPr sz="1600">
                <a:solidFill>
                  <a:srgbClr val="F1F5F9"/>
                </a:solidFill>
                <a:latin typeface="Arial"/>
              </a:rPr>
              <a:t>דרישה גוברת להתאמת שירותים ציבוריים ומשפטיים בירושלים לשתי השפות באופן שוויוני ומכבד.</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rPr dirty="0" err="1"/>
              <a:t>ניתוח</a:t>
            </a:r>
            <a:r>
              <a:rPr dirty="0"/>
              <a:t> SWOT </a:t>
            </a:r>
            <a:r>
              <a:rPr dirty="0" err="1"/>
              <a:t>של</a:t>
            </a:r>
            <a:r>
              <a:rPr dirty="0"/>
              <a:t> </a:t>
            </a:r>
            <a:r>
              <a:rPr dirty="0" err="1"/>
              <a:t>הפרויקט</a:t>
            </a:r>
            <a:endParaRPr dirty="0"/>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1500"/>
              </a:spcAft>
              <a:defRPr sz="1800" b="1">
                <a:solidFill>
                  <a:srgbClr val="FBBF24"/>
                </a:solidFill>
                <a:latin typeface="Arial"/>
              </a:defRPr>
            </a:pPr>
            <a:r>
              <a:t>• חוזקות (Strengths): </a:t>
            </a:r>
            <a:r>
              <a:rPr sz="1600">
                <a:solidFill>
                  <a:srgbClr val="F1F5F9"/>
                </a:solidFill>
                <a:latin typeface="Arial"/>
              </a:rPr>
              <a:t>מערכת דו-לשונית מלאה דינמית, מנגנון הקלטה והמרת קול לטקסט תלוי שפה, התאמה אישית של השאלות (מסלול תאונת דרכים מקצר את שאלות האשם).</a:t>
            </a:r>
          </a:p>
          <a:p>
            <a:pPr algn="r">
              <a:spcAft>
                <a:spcPts val="1500"/>
              </a:spcAft>
              <a:defRPr sz="1800" b="1">
                <a:solidFill>
                  <a:srgbClr val="FBBF24"/>
                </a:solidFill>
                <a:latin typeface="Arial"/>
              </a:defRPr>
            </a:pPr>
            <a:r>
              <a:t>• חולשות (Weaknesses): </a:t>
            </a:r>
            <a:r>
              <a:rPr sz="1600">
                <a:solidFill>
                  <a:srgbClr val="F1F5F9"/>
                </a:solidFill>
                <a:latin typeface="Arial"/>
              </a:rPr>
              <a:t>תלות בחיבור אינטרנט של המשתמש בנייד, דורש היכרות בסיסית עם שימוש בדפדפנים בנייד.</a:t>
            </a:r>
          </a:p>
          <a:p>
            <a:pPr algn="r">
              <a:spcAft>
                <a:spcPts val="1500"/>
              </a:spcAft>
              <a:defRPr sz="1800" b="1">
                <a:solidFill>
                  <a:srgbClr val="FBBF24"/>
                </a:solidFill>
                <a:latin typeface="Arial"/>
              </a:defRPr>
            </a:pPr>
            <a:r>
              <a:t>• הזדמנויות (Opportunities): </a:t>
            </a:r>
            <a:r>
              <a:rPr sz="1600">
                <a:solidFill>
                  <a:srgbClr val="F1F5F9"/>
                </a:solidFill>
                <a:latin typeface="Arial"/>
              </a:rPr>
              <a:t>שילוב ב-WhatsApp Business API להנגשה מקסימלית ללא צורך בכניסה לאתר, שותפויות עם מרכזים רפואיים קהילתיים במזרח ירושלים.</a:t>
            </a:r>
          </a:p>
          <a:p>
            <a:pPr algn="r">
              <a:spcAft>
                <a:spcPts val="1500"/>
              </a:spcAft>
              <a:defRPr sz="1800" b="1">
                <a:solidFill>
                  <a:srgbClr val="FBBF24"/>
                </a:solidFill>
                <a:latin typeface="Arial"/>
              </a:defRPr>
            </a:pPr>
            <a:r>
              <a:t>• איומים (Threats): </a:t>
            </a:r>
            <a:r>
              <a:rPr sz="1600">
                <a:solidFill>
                  <a:srgbClr val="F1F5F9"/>
                </a:solidFill>
                <a:latin typeface="Arial"/>
              </a:rPr>
              <a:t>העתקת הרעיון על ידי חברות LegalTech גדולות בשוק הישראלי, שינויים ברגולציה של המוסד למוסד לביטוח לאומי.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חזון המוצר והצעת הערך הייחודית</a:t>
            </a:r>
          </a:p>
        </p:txBody>
      </p:sp>
      <p:sp>
        <p:nvSpPr>
          <p:cNvPr id="3" name="TextBox 2"/>
          <p:cNvSpPr txBox="1"/>
          <p:nvPr/>
        </p:nvSpPr>
        <p:spPr>
          <a:xfrm>
            <a:off x="685800" y="1645920"/>
            <a:ext cx="10817352" cy="4572000"/>
          </a:xfrm>
          <a:prstGeom prst="rect">
            <a:avLst/>
          </a:prstGeom>
          <a:noFill/>
        </p:spPr>
        <p:txBody>
          <a:bodyPr wrap="square">
            <a:spAutoFit/>
          </a:bodyPr>
          <a:lstStyle/>
          <a:p>
            <a:pPr algn="r">
              <a:spcAft>
                <a:spcPts val="1000"/>
              </a:spcAft>
              <a:defRPr sz="2000" b="1">
                <a:solidFill>
                  <a:srgbClr val="FBBF24"/>
                </a:solidFill>
                <a:latin typeface="Arial"/>
              </a:defRPr>
            </a:pPr>
            <a:r>
              <a:t>חזון המוצר (Vision Statement):</a:t>
            </a:r>
          </a:p>
          <a:p>
            <a:pPr algn="r">
              <a:spcAft>
                <a:spcPts val="3000"/>
              </a:spcAft>
              <a:defRPr sz="1600">
                <a:solidFill>
                  <a:srgbClr val="F1F5F9"/>
                </a:solidFill>
                <a:latin typeface="Arial"/>
              </a:defRPr>
            </a:pPr>
            <a:r>
              <a:t>להסיר את חסמי השפה והפחד הכלכלי, ולהוות את הגשר הדיגיטלי הנגיש והאמין ביותר שמחבר בין נפגעי גוף במזרח ירושלים לבין מימוש זכויותיהם וקבלת פיצוי הוגן.</a:t>
            </a:r>
          </a:p>
          <a:p>
            <a:pPr algn="r">
              <a:spcAft>
                <a:spcPts val="1000"/>
              </a:spcAft>
              <a:defRPr sz="2000" b="1">
                <a:solidFill>
                  <a:srgbClr val="FBBF24"/>
                </a:solidFill>
                <a:latin typeface="Arial"/>
              </a:defRPr>
            </a:pPr>
            <a:r>
              <a:t>הצעת הערך הייחודית (Unique Value Proposition):</a:t>
            </a:r>
          </a:p>
          <a:p>
            <a:pPr algn="r">
              <a:spcAft>
                <a:spcPts val="2000"/>
              </a:spcAft>
              <a:defRPr sz="1800" b="1">
                <a:solidFill>
                  <a:srgbClr val="F1F5F9"/>
                </a:solidFill>
                <a:latin typeface="Arial"/>
              </a:defRPr>
            </a:pPr>
            <a:r>
              <a:t>הערכת זכאות משפטית ורפואית תוך 2 דקות בלבד, בשפת האם שלך, ללא עלות מראש וללא כל התחייבות – עם שליטה מלאה בפרטיות המידע שלך.</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השוואה מול חלופות בשוק (מתחרים)</a:t>
            </a:r>
          </a:p>
        </p:txBody>
      </p:sp>
      <p:graphicFrame>
        <p:nvGraphicFramePr>
          <p:cNvPr id="3" name="Table 2"/>
          <p:cNvGraphicFramePr>
            <a:graphicFrameLocks noGrp="1"/>
          </p:cNvGraphicFramePr>
          <p:nvPr/>
        </p:nvGraphicFramePr>
        <p:xfrm>
          <a:off x="685800" y="1645920"/>
          <a:ext cx="10817352" cy="4114800"/>
        </p:xfrm>
        <a:graphic>
          <a:graphicData uri="http://schemas.openxmlformats.org/drawingml/2006/table">
            <a:tbl>
              <a:tblPr firstRow="1" bandRow="1">
                <a:tableStyleId>{5C22544A-7EE6-4342-B048-85BDC9FD1C3A}</a:tableStyleId>
              </a:tblPr>
              <a:tblGrid>
                <a:gridCol w="2704338">
                  <a:extLst>
                    <a:ext uri="{9D8B030D-6E8A-4147-A177-3AD203B41FA5}">
                      <a16:colId xmlns:a16="http://schemas.microsoft.com/office/drawing/2014/main" val="20000"/>
                    </a:ext>
                  </a:extLst>
                </a:gridCol>
                <a:gridCol w="2704338">
                  <a:extLst>
                    <a:ext uri="{9D8B030D-6E8A-4147-A177-3AD203B41FA5}">
                      <a16:colId xmlns:a16="http://schemas.microsoft.com/office/drawing/2014/main" val="20001"/>
                    </a:ext>
                  </a:extLst>
                </a:gridCol>
                <a:gridCol w="2704338">
                  <a:extLst>
                    <a:ext uri="{9D8B030D-6E8A-4147-A177-3AD203B41FA5}">
                      <a16:colId xmlns:a16="http://schemas.microsoft.com/office/drawing/2014/main" val="20002"/>
                    </a:ext>
                  </a:extLst>
                </a:gridCol>
                <a:gridCol w="2704338">
                  <a:extLst>
                    <a:ext uri="{9D8B030D-6E8A-4147-A177-3AD203B41FA5}">
                      <a16:colId xmlns:a16="http://schemas.microsoft.com/office/drawing/2014/main" val="20003"/>
                    </a:ext>
                  </a:extLst>
                </a:gridCol>
              </a:tblGrid>
              <a:tr h="822960">
                <a:tc>
                  <a:txBody>
                    <a:bodyPr/>
                    <a:lstStyle/>
                    <a:p>
                      <a:pPr algn="ctr">
                        <a:defRPr sz="1500" b="1">
                          <a:solidFill>
                            <a:srgbClr val="FBBF24"/>
                          </a:solidFill>
                          <a:latin typeface="Arial"/>
                        </a:defRPr>
                      </a:pPr>
                      <a:r>
                        <a:t>פרמטר להשוואה</a:t>
                      </a:r>
                    </a:p>
                  </a:txBody>
                  <a:tcPr>
                    <a:solidFill>
                      <a:srgbClr val="151C2C"/>
                    </a:solidFill>
                  </a:tcPr>
                </a:tc>
                <a:tc>
                  <a:txBody>
                    <a:bodyPr/>
                    <a:lstStyle/>
                    <a:p>
                      <a:pPr algn="ctr">
                        <a:defRPr sz="1500" b="1">
                          <a:solidFill>
                            <a:srgbClr val="FBBF24"/>
                          </a:solidFill>
                          <a:latin typeface="Arial"/>
                        </a:defRPr>
                      </a:pPr>
                      <a:r>
                        <a:t>גשר אל-קודס (שלנו)</a:t>
                      </a:r>
                    </a:p>
                  </a:txBody>
                  <a:tcPr>
                    <a:solidFill>
                      <a:srgbClr val="151C2C"/>
                    </a:solidFill>
                  </a:tcPr>
                </a:tc>
                <a:tc>
                  <a:txBody>
                    <a:bodyPr/>
                    <a:lstStyle/>
                    <a:p>
                      <a:pPr algn="ctr">
                        <a:defRPr sz="1500" b="1">
                          <a:solidFill>
                            <a:srgbClr val="FBBF24"/>
                          </a:solidFill>
                          <a:latin typeface="Arial"/>
                        </a:defRPr>
                      </a:pPr>
                      <a:r>
                        <a:t>אתרי עורכי דין</a:t>
                      </a:r>
                    </a:p>
                  </a:txBody>
                  <a:tcPr>
                    <a:solidFill>
                      <a:srgbClr val="151C2C"/>
                    </a:solidFill>
                  </a:tcPr>
                </a:tc>
                <a:tc>
                  <a:txBody>
                    <a:bodyPr/>
                    <a:lstStyle/>
                    <a:p>
                      <a:pPr algn="ctr">
                        <a:defRPr sz="1500" b="1">
                          <a:solidFill>
                            <a:srgbClr val="FBBF24"/>
                          </a:solidFill>
                          <a:latin typeface="Arial"/>
                        </a:defRPr>
                      </a:pPr>
                      <a:r>
                        <a:t>חברות למימוש זכויות</a:t>
                      </a:r>
                    </a:p>
                  </a:txBody>
                  <a:tcPr>
                    <a:solidFill>
                      <a:srgbClr val="151C2C"/>
                    </a:solidFill>
                  </a:tcPr>
                </a:tc>
                <a:extLst>
                  <a:ext uri="{0D108BD9-81ED-4DB2-BD59-A6C34878D82A}">
                    <a16:rowId xmlns:a16="http://schemas.microsoft.com/office/drawing/2014/main" val="10000"/>
                  </a:ext>
                </a:extLst>
              </a:tr>
              <a:tr h="822960">
                <a:tc>
                  <a:txBody>
                    <a:bodyPr/>
                    <a:lstStyle/>
                    <a:p>
                      <a:pPr algn="ctr">
                        <a:defRPr sz="1400">
                          <a:solidFill>
                            <a:srgbClr val="F1F5F9"/>
                          </a:solidFill>
                          <a:latin typeface="Arial"/>
                        </a:defRPr>
                      </a:pPr>
                      <a:r>
                        <a:t>זמינות בשפה הערבית</a:t>
                      </a:r>
                    </a:p>
                  </a:txBody>
                  <a:tcPr>
                    <a:solidFill>
                      <a:srgbClr val="0B0F19"/>
                    </a:solidFill>
                  </a:tcPr>
                </a:tc>
                <a:tc>
                  <a:txBody>
                    <a:bodyPr/>
                    <a:lstStyle/>
                    <a:p>
                      <a:pPr algn="ctr">
                        <a:defRPr sz="1400">
                          <a:solidFill>
                            <a:srgbClr val="F1F5F9"/>
                          </a:solidFill>
                          <a:latin typeface="Arial"/>
                        </a:defRPr>
                      </a:pPr>
                      <a:r>
                        <a:t>מלאה ודינמית</a:t>
                      </a:r>
                    </a:p>
                  </a:txBody>
                  <a:tcPr>
                    <a:solidFill>
                      <a:srgbClr val="0B0F19"/>
                    </a:solidFill>
                  </a:tcPr>
                </a:tc>
                <a:tc>
                  <a:txBody>
                    <a:bodyPr/>
                    <a:lstStyle/>
                    <a:p>
                      <a:pPr algn="ctr">
                        <a:defRPr sz="1400">
                          <a:solidFill>
                            <a:srgbClr val="F1F5F9"/>
                          </a:solidFill>
                          <a:latin typeface="Arial"/>
                        </a:defRPr>
                      </a:pPr>
                      <a:r>
                        <a:t>חלקית מאוד / ללא</a:t>
                      </a:r>
                    </a:p>
                  </a:txBody>
                  <a:tcPr>
                    <a:solidFill>
                      <a:srgbClr val="0B0F19"/>
                    </a:solidFill>
                  </a:tcPr>
                </a:tc>
                <a:tc>
                  <a:txBody>
                    <a:bodyPr/>
                    <a:lstStyle/>
                    <a:p>
                      <a:pPr algn="ctr">
                        <a:defRPr sz="1400">
                          <a:solidFill>
                            <a:srgbClr val="F1F5F9"/>
                          </a:solidFill>
                          <a:latin typeface="Arial"/>
                        </a:defRPr>
                      </a:pPr>
                      <a:r>
                        <a:t>דפי נחיתה סטטיים בלבד</a:t>
                      </a:r>
                    </a:p>
                  </a:txBody>
                  <a:tcPr>
                    <a:solidFill>
                      <a:srgbClr val="0B0F19"/>
                    </a:solidFill>
                  </a:tcPr>
                </a:tc>
                <a:extLst>
                  <a:ext uri="{0D108BD9-81ED-4DB2-BD59-A6C34878D82A}">
                    <a16:rowId xmlns:a16="http://schemas.microsoft.com/office/drawing/2014/main" val="10001"/>
                  </a:ext>
                </a:extLst>
              </a:tr>
              <a:tr h="822960">
                <a:tc>
                  <a:txBody>
                    <a:bodyPr/>
                    <a:lstStyle/>
                    <a:p>
                      <a:pPr algn="ctr">
                        <a:defRPr sz="1400">
                          <a:solidFill>
                            <a:srgbClr val="F1F5F9"/>
                          </a:solidFill>
                          <a:latin typeface="Arial"/>
                        </a:defRPr>
                      </a:pPr>
                      <a:r>
                        <a:t>זיהוי קולי (Voice Input)</a:t>
                      </a:r>
                    </a:p>
                  </a:txBody>
                  <a:tcPr>
                    <a:solidFill>
                      <a:srgbClr val="0B0F19"/>
                    </a:solidFill>
                  </a:tcPr>
                </a:tc>
                <a:tc>
                  <a:txBody>
                    <a:bodyPr/>
                    <a:lstStyle/>
                    <a:p>
                      <a:pPr algn="ctr">
                        <a:defRPr sz="1400">
                          <a:solidFill>
                            <a:srgbClr val="F1F5F9"/>
                          </a:solidFill>
                          <a:latin typeface="Arial"/>
                        </a:defRPr>
                      </a:pPr>
                      <a:r>
                        <a:t>קיים ומובנה</a:t>
                      </a:r>
                    </a:p>
                  </a:txBody>
                  <a:tcPr>
                    <a:solidFill>
                      <a:srgbClr val="0B0F19"/>
                    </a:solidFill>
                  </a:tcPr>
                </a:tc>
                <a:tc>
                  <a:txBody>
                    <a:bodyPr/>
                    <a:lstStyle/>
                    <a:p>
                      <a:pPr algn="ctr">
                        <a:defRPr sz="1400">
                          <a:solidFill>
                            <a:srgbClr val="F1F5F9"/>
                          </a:solidFill>
                          <a:latin typeface="Arial"/>
                        </a:defRPr>
                      </a:pPr>
                      <a:r>
                        <a:t>לא קיים</a:t>
                      </a:r>
                    </a:p>
                  </a:txBody>
                  <a:tcPr>
                    <a:solidFill>
                      <a:srgbClr val="0B0F19"/>
                    </a:solidFill>
                  </a:tcPr>
                </a:tc>
                <a:tc>
                  <a:txBody>
                    <a:bodyPr/>
                    <a:lstStyle/>
                    <a:p>
                      <a:pPr algn="ctr">
                        <a:defRPr sz="1400">
                          <a:solidFill>
                            <a:srgbClr val="F1F5F9"/>
                          </a:solidFill>
                          <a:latin typeface="Arial"/>
                        </a:defRPr>
                      </a:pPr>
                      <a:r>
                        <a:t>לא קיים</a:t>
                      </a:r>
                    </a:p>
                  </a:txBody>
                  <a:tcPr>
                    <a:solidFill>
                      <a:srgbClr val="0B0F19"/>
                    </a:solidFill>
                  </a:tcPr>
                </a:tc>
                <a:extLst>
                  <a:ext uri="{0D108BD9-81ED-4DB2-BD59-A6C34878D82A}">
                    <a16:rowId xmlns:a16="http://schemas.microsoft.com/office/drawing/2014/main" val="10002"/>
                  </a:ext>
                </a:extLst>
              </a:tr>
              <a:tr h="822960">
                <a:tc>
                  <a:txBody>
                    <a:bodyPr/>
                    <a:lstStyle/>
                    <a:p>
                      <a:pPr algn="ctr">
                        <a:defRPr sz="1400">
                          <a:solidFill>
                            <a:srgbClr val="F1F5F9"/>
                          </a:solidFill>
                          <a:latin typeface="Arial"/>
                        </a:defRPr>
                      </a:pPr>
                      <a:r>
                        <a:t>מודל תמחור שקוף וחינמי</a:t>
                      </a:r>
                    </a:p>
                  </a:txBody>
                  <a:tcPr>
                    <a:solidFill>
                      <a:srgbClr val="0B0F19"/>
                    </a:solidFill>
                  </a:tcPr>
                </a:tc>
                <a:tc>
                  <a:txBody>
                    <a:bodyPr/>
                    <a:lstStyle/>
                    <a:p>
                      <a:pPr algn="ctr">
                        <a:defRPr sz="1400">
                          <a:solidFill>
                            <a:srgbClr val="F1F5F9"/>
                          </a:solidFill>
                          <a:latin typeface="Arial"/>
                        </a:defRPr>
                      </a:pPr>
                      <a:r>
                        <a:t>כן, 0 ש"ח מראש</a:t>
                      </a:r>
                    </a:p>
                  </a:txBody>
                  <a:tcPr>
                    <a:solidFill>
                      <a:srgbClr val="0B0F19"/>
                    </a:solidFill>
                  </a:tcPr>
                </a:tc>
                <a:tc>
                  <a:txBody>
                    <a:bodyPr/>
                    <a:lstStyle/>
                    <a:p>
                      <a:pPr algn="ctr">
                        <a:defRPr sz="1400">
                          <a:solidFill>
                            <a:srgbClr val="F1F5F9"/>
                          </a:solidFill>
                          <a:latin typeface="Arial"/>
                        </a:defRPr>
                      </a:pPr>
                      <a:r>
                        <a:t>לא תמיד שקוף</a:t>
                      </a:r>
                    </a:p>
                  </a:txBody>
                  <a:tcPr>
                    <a:solidFill>
                      <a:srgbClr val="0B0F19"/>
                    </a:solidFill>
                  </a:tcPr>
                </a:tc>
                <a:tc>
                  <a:txBody>
                    <a:bodyPr/>
                    <a:lstStyle/>
                    <a:p>
                      <a:pPr algn="ctr">
                        <a:defRPr sz="1400">
                          <a:solidFill>
                            <a:srgbClr val="F1F5F9"/>
                          </a:solidFill>
                          <a:latin typeface="Arial"/>
                        </a:defRPr>
                      </a:pPr>
                      <a:r>
                        <a:t>שכר טרחה ואחוזים גבוהים</a:t>
                      </a:r>
                    </a:p>
                  </a:txBody>
                  <a:tcPr>
                    <a:solidFill>
                      <a:srgbClr val="0B0F19"/>
                    </a:solidFill>
                  </a:tcPr>
                </a:tc>
                <a:extLst>
                  <a:ext uri="{0D108BD9-81ED-4DB2-BD59-A6C34878D82A}">
                    <a16:rowId xmlns:a16="http://schemas.microsoft.com/office/drawing/2014/main" val="10003"/>
                  </a:ext>
                </a:extLst>
              </a:tr>
              <a:tr h="822960">
                <a:tc>
                  <a:txBody>
                    <a:bodyPr/>
                    <a:lstStyle/>
                    <a:p>
                      <a:pPr algn="ctr">
                        <a:defRPr sz="1400">
                          <a:solidFill>
                            <a:srgbClr val="F1F5F9"/>
                          </a:solidFill>
                          <a:latin typeface="Arial"/>
                        </a:defRPr>
                      </a:pPr>
                      <a:r>
                        <a:t>מותאם מובייל (Mobile First)</a:t>
                      </a:r>
                    </a:p>
                  </a:txBody>
                  <a:tcPr>
                    <a:solidFill>
                      <a:srgbClr val="0B0F19"/>
                    </a:solidFill>
                  </a:tcPr>
                </a:tc>
                <a:tc>
                  <a:txBody>
                    <a:bodyPr/>
                    <a:lstStyle/>
                    <a:p>
                      <a:pPr algn="ctr">
                        <a:defRPr sz="1400">
                          <a:solidFill>
                            <a:srgbClr val="F1F5F9"/>
                          </a:solidFill>
                          <a:latin typeface="Arial"/>
                        </a:defRPr>
                      </a:pPr>
                      <a:r>
                        <a:t>מעולה ואינטראקטיבי</a:t>
                      </a:r>
                    </a:p>
                  </a:txBody>
                  <a:tcPr>
                    <a:solidFill>
                      <a:srgbClr val="0B0F19"/>
                    </a:solidFill>
                  </a:tcPr>
                </a:tc>
                <a:tc>
                  <a:txBody>
                    <a:bodyPr/>
                    <a:lstStyle/>
                    <a:p>
                      <a:pPr algn="ctr">
                        <a:defRPr sz="1400">
                          <a:solidFill>
                            <a:srgbClr val="F1F5F9"/>
                          </a:solidFill>
                          <a:latin typeface="Arial"/>
                        </a:defRPr>
                      </a:pPr>
                      <a:r>
                        <a:t>בינוני / מותאם דסקטופ</a:t>
                      </a:r>
                    </a:p>
                  </a:txBody>
                  <a:tcPr>
                    <a:solidFill>
                      <a:srgbClr val="0B0F19"/>
                    </a:solidFill>
                  </a:tcPr>
                </a:tc>
                <a:tc>
                  <a:txBody>
                    <a:bodyPr/>
                    <a:lstStyle/>
                    <a:p>
                      <a:pPr algn="ctr">
                        <a:defRPr sz="1400">
                          <a:solidFill>
                            <a:srgbClr val="F1F5F9"/>
                          </a:solidFill>
                          <a:latin typeface="Arial"/>
                        </a:defRPr>
                      </a:pPr>
                      <a:r>
                        <a:t>טפסים ארוכים ומסורבלים</a:t>
                      </a:r>
                    </a:p>
                  </a:txBody>
                  <a:tcPr>
                    <a:solidFill>
                      <a:srgbClr val="0B0F1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האם הנחות היסוד שלנו אומתו במחקר?</a:t>
            </a:r>
          </a:p>
        </p:txBody>
      </p:sp>
      <p:sp>
        <p:nvSpPr>
          <p:cNvPr id="3" name="TextBox 2"/>
          <p:cNvSpPr txBox="1"/>
          <p:nvPr/>
        </p:nvSpPr>
        <p:spPr>
          <a:xfrm>
            <a:off x="685800" y="1645920"/>
            <a:ext cx="10817352" cy="2382704"/>
          </a:xfrm>
          <a:prstGeom prst="rect">
            <a:avLst/>
          </a:prstGeom>
          <a:noFill/>
        </p:spPr>
        <p:txBody>
          <a:bodyPr wrap="square">
            <a:spAutoFit/>
          </a:bodyPr>
          <a:lstStyle/>
          <a:p>
            <a:endParaRPr dirty="0"/>
          </a:p>
          <a:p>
            <a:pPr algn="r">
              <a:spcAft>
                <a:spcPts val="600"/>
              </a:spcAft>
              <a:defRPr sz="1800" b="1">
                <a:solidFill>
                  <a:srgbClr val="FBBF24"/>
                </a:solidFill>
                <a:latin typeface="Arial"/>
              </a:defRPr>
            </a:pPr>
            <a:r>
              <a:rPr dirty="0"/>
              <a:t>• </a:t>
            </a:r>
            <a:r>
              <a:rPr dirty="0" err="1"/>
              <a:t>הנחה</a:t>
            </a:r>
            <a:r>
              <a:rPr dirty="0"/>
              <a:t> 1: </a:t>
            </a:r>
            <a:r>
              <a:rPr dirty="0" err="1"/>
              <a:t>המשתמשים</a:t>
            </a:r>
            <a:r>
              <a:rPr dirty="0"/>
              <a:t> </a:t>
            </a:r>
            <a:r>
              <a:rPr dirty="0" err="1"/>
              <a:t>ינטשו</a:t>
            </a:r>
            <a:r>
              <a:rPr dirty="0"/>
              <a:t> </a:t>
            </a:r>
            <a:r>
              <a:rPr dirty="0" err="1"/>
              <a:t>אם</a:t>
            </a:r>
            <a:r>
              <a:rPr dirty="0"/>
              <a:t> </a:t>
            </a:r>
            <a:r>
              <a:rPr dirty="0" err="1"/>
              <a:t>נבקש</a:t>
            </a:r>
            <a:r>
              <a:rPr dirty="0"/>
              <a:t> </a:t>
            </a:r>
            <a:r>
              <a:rPr dirty="0" err="1"/>
              <a:t>שם</a:t>
            </a:r>
            <a:r>
              <a:rPr dirty="0"/>
              <a:t> </a:t>
            </a:r>
            <a:r>
              <a:rPr dirty="0" err="1"/>
              <a:t>וטלפון</a:t>
            </a:r>
            <a:r>
              <a:rPr dirty="0"/>
              <a:t> </a:t>
            </a:r>
            <a:r>
              <a:rPr dirty="0" err="1"/>
              <a:t>בהתחלה</a:t>
            </a:r>
            <a:r>
              <a:rPr dirty="0"/>
              <a:t>.: </a:t>
            </a:r>
          </a:p>
          <a:p>
            <a:pPr algn="r">
              <a:spcAft>
                <a:spcPts val="2500"/>
              </a:spcAft>
              <a:defRPr sz="1600">
                <a:solidFill>
                  <a:srgbClr val="F1F5F9"/>
                </a:solidFill>
                <a:latin typeface="Arial"/>
              </a:defRPr>
            </a:pPr>
            <a:r>
              <a:rPr lang="ar-SA" dirty="0"/>
              <a:t> </a:t>
            </a:r>
            <a:r>
              <a:rPr dirty="0" err="1"/>
              <a:t>תוצאה</a:t>
            </a:r>
            <a:r>
              <a:rPr lang="ar-SA"/>
              <a:t> </a:t>
            </a:r>
            <a:r>
              <a:t>: </a:t>
            </a:r>
            <a:r>
              <a:rPr dirty="0" err="1"/>
              <a:t>אומתה</a:t>
            </a:r>
            <a:r>
              <a:rPr dirty="0"/>
              <a:t>. </a:t>
            </a:r>
            <a:r>
              <a:rPr dirty="0" err="1"/>
              <a:t>במחקר</a:t>
            </a:r>
            <a:r>
              <a:rPr dirty="0"/>
              <a:t> </a:t>
            </a:r>
            <a:r>
              <a:rPr dirty="0" err="1"/>
              <a:t>ראינו</a:t>
            </a:r>
            <a:r>
              <a:rPr dirty="0"/>
              <a:t> </a:t>
            </a:r>
            <a:r>
              <a:rPr dirty="0" err="1"/>
              <a:t>כי</a:t>
            </a:r>
            <a:r>
              <a:rPr dirty="0"/>
              <a:t> </a:t>
            </a:r>
            <a:r>
              <a:rPr dirty="0" err="1"/>
              <a:t>הצגת</a:t>
            </a:r>
            <a:r>
              <a:rPr dirty="0"/>
              <a:t> </a:t>
            </a:r>
            <a:r>
              <a:rPr dirty="0" err="1"/>
              <a:t>השאלות</a:t>
            </a:r>
            <a:r>
              <a:rPr dirty="0"/>
              <a:t> </a:t>
            </a:r>
            <a:r>
              <a:rPr dirty="0" err="1"/>
              <a:t>הרפואיות</a:t>
            </a:r>
            <a:r>
              <a:rPr dirty="0"/>
              <a:t> </a:t>
            </a:r>
            <a:r>
              <a:rPr dirty="0" err="1"/>
              <a:t>קודם</a:t>
            </a:r>
            <a:r>
              <a:rPr dirty="0"/>
              <a:t>, </a:t>
            </a:r>
            <a:r>
              <a:rPr dirty="0" err="1"/>
              <a:t>ובקשת</a:t>
            </a:r>
            <a:r>
              <a:rPr dirty="0"/>
              <a:t> </a:t>
            </a:r>
            <a:r>
              <a:rPr dirty="0" err="1"/>
              <a:t>פרטי</a:t>
            </a:r>
            <a:r>
              <a:rPr dirty="0"/>
              <a:t> </a:t>
            </a:r>
            <a:r>
              <a:rPr dirty="0" err="1"/>
              <a:t>קשר</a:t>
            </a:r>
            <a:r>
              <a:rPr dirty="0"/>
              <a:t> </a:t>
            </a:r>
            <a:r>
              <a:rPr dirty="0" err="1"/>
              <a:t>רק</a:t>
            </a:r>
            <a:r>
              <a:rPr dirty="0"/>
              <a:t> </a:t>
            </a:r>
            <a:r>
              <a:rPr dirty="0" err="1"/>
              <a:t>בסוף</a:t>
            </a:r>
            <a:r>
              <a:rPr dirty="0"/>
              <a:t> </a:t>
            </a:r>
            <a:r>
              <a:rPr dirty="0" err="1"/>
              <a:t>לאחר</a:t>
            </a:r>
            <a:r>
              <a:rPr dirty="0"/>
              <a:t> </a:t>
            </a:r>
            <a:r>
              <a:rPr dirty="0" err="1"/>
              <a:t>מתן</a:t>
            </a:r>
            <a:r>
              <a:rPr dirty="0"/>
              <a:t> </a:t>
            </a:r>
            <a:r>
              <a:rPr dirty="0" err="1"/>
              <a:t>הערכת</a:t>
            </a:r>
            <a:r>
              <a:rPr dirty="0"/>
              <a:t> </a:t>
            </a:r>
            <a:r>
              <a:rPr dirty="0" err="1"/>
              <a:t>שווי</a:t>
            </a:r>
            <a:r>
              <a:rPr dirty="0"/>
              <a:t> ('</a:t>
            </a:r>
            <a:r>
              <a:rPr dirty="0" err="1"/>
              <a:t>חוק</a:t>
            </a:r>
            <a:r>
              <a:rPr dirty="0"/>
              <a:t> 0 </a:t>
            </a:r>
            <a:r>
              <a:rPr dirty="0" err="1"/>
              <a:t>ש"ח</a:t>
            </a:r>
            <a:r>
              <a:rPr dirty="0"/>
              <a:t> </a:t>
            </a:r>
            <a:r>
              <a:rPr dirty="0" err="1"/>
              <a:t>מראש</a:t>
            </a:r>
            <a:r>
              <a:rPr dirty="0"/>
              <a:t>'), </a:t>
            </a:r>
            <a:r>
              <a:rPr dirty="0" err="1"/>
              <a:t>העלתה</a:t>
            </a:r>
            <a:r>
              <a:rPr dirty="0"/>
              <a:t> </a:t>
            </a:r>
            <a:r>
              <a:rPr dirty="0" err="1"/>
              <a:t>את</a:t>
            </a:r>
            <a:r>
              <a:rPr dirty="0"/>
              <a:t> </a:t>
            </a:r>
            <a:r>
              <a:rPr dirty="0" err="1"/>
              <a:t>אמון</a:t>
            </a:r>
            <a:r>
              <a:rPr dirty="0"/>
              <a:t> </a:t>
            </a:r>
            <a:r>
              <a:rPr dirty="0" err="1"/>
              <a:t>המשתמשים</a:t>
            </a:r>
            <a:r>
              <a:rPr dirty="0"/>
              <a:t>.</a:t>
            </a:r>
          </a:p>
          <a:p>
            <a:pPr algn="r">
              <a:spcAft>
                <a:spcPts val="600"/>
              </a:spcAft>
              <a:defRPr sz="1800" b="1">
                <a:solidFill>
                  <a:srgbClr val="FBBF24"/>
                </a:solidFill>
                <a:latin typeface="Arial"/>
              </a:defRPr>
            </a:pPr>
            <a:r>
              <a:rPr dirty="0"/>
              <a:t>• </a:t>
            </a:r>
            <a:r>
              <a:rPr dirty="0" err="1"/>
              <a:t>הנחה</a:t>
            </a:r>
            <a:r>
              <a:rPr dirty="0"/>
              <a:t> 2: </a:t>
            </a:r>
            <a:r>
              <a:rPr dirty="0" err="1"/>
              <a:t>פועלים</a:t>
            </a:r>
            <a:r>
              <a:rPr dirty="0"/>
              <a:t> </a:t>
            </a:r>
            <a:r>
              <a:rPr dirty="0" err="1"/>
              <a:t>יעדיפו</a:t>
            </a:r>
            <a:r>
              <a:rPr dirty="0"/>
              <a:t> </a:t>
            </a:r>
            <a:r>
              <a:rPr dirty="0" err="1"/>
              <a:t>להקליט</a:t>
            </a:r>
            <a:r>
              <a:rPr dirty="0"/>
              <a:t> </a:t>
            </a:r>
            <a:r>
              <a:rPr dirty="0" err="1"/>
              <a:t>מאשר</a:t>
            </a:r>
            <a:r>
              <a:rPr dirty="0"/>
              <a:t> </a:t>
            </a:r>
            <a:r>
              <a:rPr dirty="0" err="1"/>
              <a:t>להקליד</a:t>
            </a:r>
            <a:r>
              <a:rPr dirty="0"/>
              <a:t> </a:t>
            </a:r>
            <a:r>
              <a:rPr dirty="0" err="1"/>
              <a:t>בנייד</a:t>
            </a:r>
            <a:r>
              <a:rPr dirty="0"/>
              <a:t>.: </a:t>
            </a:r>
          </a:p>
          <a:p>
            <a:pPr algn="r">
              <a:spcAft>
                <a:spcPts val="2500"/>
              </a:spcAft>
              <a:defRPr sz="1600">
                <a:solidFill>
                  <a:srgbClr val="F1F5F9"/>
                </a:solidFill>
                <a:latin typeface="Arial"/>
              </a:defRPr>
            </a:pPr>
            <a:r>
              <a:rPr dirty="0" err="1"/>
              <a:t>תוצאה</a:t>
            </a:r>
            <a:r>
              <a:rPr dirty="0"/>
              <a:t>: </a:t>
            </a:r>
            <a:r>
              <a:rPr dirty="0" err="1"/>
              <a:t>אומתה</a:t>
            </a:r>
            <a:r>
              <a:rPr dirty="0"/>
              <a:t>. </a:t>
            </a:r>
            <a:r>
              <a:rPr dirty="0" err="1"/>
              <a:t>משתמשים</a:t>
            </a:r>
            <a:r>
              <a:rPr dirty="0"/>
              <a:t> </a:t>
            </a:r>
            <a:r>
              <a:rPr dirty="0" err="1"/>
              <a:t>שהתנסו</a:t>
            </a:r>
            <a:r>
              <a:rPr dirty="0"/>
              <a:t> </a:t>
            </a:r>
            <a:r>
              <a:rPr dirty="0" err="1"/>
              <a:t>בפרוטוטייפ</a:t>
            </a:r>
            <a:r>
              <a:rPr dirty="0"/>
              <a:t> </a:t>
            </a:r>
            <a:r>
              <a:rPr dirty="0" err="1"/>
              <a:t>ציינו</a:t>
            </a:r>
            <a:r>
              <a:rPr dirty="0"/>
              <a:t> </a:t>
            </a:r>
            <a:r>
              <a:rPr dirty="0" err="1"/>
              <a:t>כי</a:t>
            </a:r>
            <a:r>
              <a:rPr dirty="0"/>
              <a:t> </a:t>
            </a:r>
            <a:r>
              <a:rPr dirty="0" err="1"/>
              <a:t>האפשרות</a:t>
            </a:r>
            <a:r>
              <a:rPr dirty="0"/>
              <a:t> </a:t>
            </a:r>
            <a:r>
              <a:rPr dirty="0" err="1"/>
              <a:t>להקליט</a:t>
            </a:r>
            <a:r>
              <a:rPr dirty="0"/>
              <a:t> </a:t>
            </a:r>
            <a:r>
              <a:rPr dirty="0" err="1"/>
              <a:t>בערבית</a:t>
            </a:r>
            <a:r>
              <a:rPr dirty="0"/>
              <a:t> </a:t>
            </a:r>
            <a:r>
              <a:rPr dirty="0" err="1"/>
              <a:t>או</a:t>
            </a:r>
            <a:r>
              <a:rPr dirty="0"/>
              <a:t> </a:t>
            </a:r>
            <a:r>
              <a:rPr dirty="0" err="1"/>
              <a:t>עברית</a:t>
            </a:r>
            <a:r>
              <a:rPr dirty="0"/>
              <a:t> </a:t>
            </a:r>
            <a:r>
              <a:rPr dirty="0" err="1"/>
              <a:t>את</a:t>
            </a:r>
            <a:r>
              <a:rPr dirty="0"/>
              <a:t> </a:t>
            </a:r>
            <a:r>
              <a:rPr dirty="0" err="1"/>
              <a:t>סיפור</a:t>
            </a:r>
            <a:r>
              <a:rPr dirty="0"/>
              <a:t> </a:t>
            </a:r>
            <a:r>
              <a:rPr dirty="0" err="1"/>
              <a:t>התאונה</a:t>
            </a:r>
            <a:r>
              <a:rPr dirty="0"/>
              <a:t> </a:t>
            </a:r>
            <a:r>
              <a:rPr dirty="0" err="1"/>
              <a:t>חסכה</a:t>
            </a:r>
            <a:r>
              <a:rPr dirty="0"/>
              <a:t> </a:t>
            </a:r>
            <a:r>
              <a:rPr dirty="0" err="1"/>
              <a:t>להם</a:t>
            </a:r>
            <a:r>
              <a:rPr dirty="0"/>
              <a:t> </a:t>
            </a:r>
            <a:r>
              <a:rPr dirty="0" err="1"/>
              <a:t>מאמץ</a:t>
            </a:r>
            <a:r>
              <a:rPr dirty="0"/>
              <a:t> </a:t>
            </a:r>
            <a:r>
              <a:rPr dirty="0" err="1"/>
              <a:t>רב</a:t>
            </a:r>
            <a:r>
              <a:rPr dirty="0"/>
              <a:t> </a:t>
            </a:r>
            <a:r>
              <a:rPr dirty="0" err="1"/>
              <a:t>ומנעה</a:t>
            </a:r>
            <a:r>
              <a:rPr dirty="0"/>
              <a:t> </a:t>
            </a:r>
            <a:r>
              <a:rPr dirty="0" err="1"/>
              <a:t>נטישה</a:t>
            </a:r>
            <a:r>
              <a:rPr dirty="0"/>
              <a:t> </a:t>
            </a:r>
            <a:r>
              <a:rPr dirty="0" err="1"/>
              <a:t>בשל</a:t>
            </a:r>
            <a:r>
              <a:rPr dirty="0"/>
              <a:t> </a:t>
            </a:r>
            <a:r>
              <a:rPr dirty="0" err="1"/>
              <a:t>קשיי</a:t>
            </a:r>
            <a:r>
              <a:rPr dirty="0"/>
              <a:t> </a:t>
            </a:r>
            <a:r>
              <a:rPr dirty="0" err="1"/>
              <a:t>כתיבה</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646331"/>
          </a:xfrm>
          <a:prstGeom prst="rect">
            <a:avLst/>
          </a:prstGeom>
          <a:noFill/>
        </p:spPr>
        <p:txBody>
          <a:bodyPr wrap="square">
            <a:spAutoFit/>
          </a:bodyPr>
          <a:lstStyle/>
          <a:p>
            <a:pPr algn="r">
              <a:defRPr sz="3600" b="1">
                <a:solidFill>
                  <a:srgbClr val="FBBF24"/>
                </a:solidFill>
                <a:latin typeface="Arial"/>
              </a:defRPr>
            </a:pPr>
            <a:r>
              <a:rPr dirty="0" err="1"/>
              <a:t>מודל</a:t>
            </a:r>
            <a:r>
              <a:rPr dirty="0"/>
              <a:t> </a:t>
            </a:r>
            <a:r>
              <a:rPr dirty="0" err="1"/>
              <a:t>עסקי</a:t>
            </a:r>
            <a:r>
              <a:rPr dirty="0"/>
              <a:t> - </a:t>
            </a:r>
            <a:r>
              <a:rPr lang="ar-SA" dirty="0"/>
              <a:t> </a:t>
            </a:r>
            <a:r>
              <a:rPr dirty="0" err="1"/>
              <a:t>שלבים</a:t>
            </a:r>
            <a:r>
              <a:rPr dirty="0"/>
              <a:t> 1 </a:t>
            </a:r>
            <a:r>
              <a:rPr lang="ar-SA" dirty="0"/>
              <a:t> </a:t>
            </a:r>
            <a:r>
              <a:rPr dirty="0" err="1"/>
              <a:t>עד</a:t>
            </a:r>
            <a:r>
              <a:rPr dirty="0"/>
              <a:t> 4 ב-Canvas</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1500"/>
              </a:spcAft>
              <a:defRPr sz="1800" b="1">
                <a:solidFill>
                  <a:srgbClr val="FBBF24"/>
                </a:solidFill>
                <a:latin typeface="Arial"/>
              </a:defRPr>
            </a:pPr>
            <a:r>
              <a:t>• 1. פלחי לקוחות (Customer Segments): </a:t>
            </a:r>
            <a:r>
              <a:rPr sz="1600">
                <a:solidFill>
                  <a:srgbClr val="F1F5F9"/>
                </a:solidFill>
                <a:latin typeface="Arial"/>
              </a:rPr>
              <a:t>נפגעי תאונות עבודה ודרכים במזרח ירושלים דוברי ערבית ועברית. משרדי עורכי דין בירושלים המחפשים לקוחות מסוננים ואיכותיים מראש.</a:t>
            </a:r>
          </a:p>
          <a:p>
            <a:pPr algn="r">
              <a:spcAft>
                <a:spcPts val="1500"/>
              </a:spcAft>
              <a:defRPr sz="1800" b="1">
                <a:solidFill>
                  <a:srgbClr val="FBBF24"/>
                </a:solidFill>
                <a:latin typeface="Arial"/>
              </a:defRPr>
            </a:pPr>
            <a:r>
              <a:t>• 2. הצעת ערך (Value Propositions): </a:t>
            </a:r>
            <a:r>
              <a:rPr sz="1600">
                <a:solidFill>
                  <a:srgbClr val="F1F5F9"/>
                </a:solidFill>
                <a:latin typeface="Arial"/>
              </a:rPr>
              <a:t>בדיקת זכאות מהירה, אנונימית, בשפת האם ובממשק קולי. למשרדים: קבלת לידים מסווגים ומובנים עם מסמכים רפואיים ללא עבודת סינון ידנית.</a:t>
            </a:r>
          </a:p>
          <a:p>
            <a:pPr algn="r">
              <a:spcAft>
                <a:spcPts val="1500"/>
              </a:spcAft>
              <a:defRPr sz="1800" b="1">
                <a:solidFill>
                  <a:srgbClr val="FBBF24"/>
                </a:solidFill>
                <a:latin typeface="Arial"/>
              </a:defRPr>
            </a:pPr>
            <a:r>
              <a:t>• 3. ערוצים (Channels): </a:t>
            </a:r>
            <a:r>
              <a:rPr sz="1600">
                <a:solidFill>
                  <a:srgbClr val="F1F5F9"/>
                </a:solidFill>
                <a:latin typeface="Arial"/>
              </a:rPr>
              <a:t>קבוצות פייסבוק ופורומים מקומיים של עובדים בירושלים. שיווק אורגני וממומן במנועי חיפוש (SEO/SEM) תחת מילות מפתח בערבית. המלצות מפה לאוזן.</a:t>
            </a:r>
          </a:p>
          <a:p>
            <a:pPr algn="r">
              <a:spcAft>
                <a:spcPts val="1500"/>
              </a:spcAft>
              <a:defRPr sz="1800" b="1">
                <a:solidFill>
                  <a:srgbClr val="FBBF24"/>
                </a:solidFill>
                <a:latin typeface="Arial"/>
              </a:defRPr>
            </a:pPr>
            <a:r>
              <a:t>• 4. קשרי לקוחות (Customer Relationships): </a:t>
            </a:r>
            <a:r>
              <a:rPr sz="1600">
                <a:solidFill>
                  <a:srgbClr val="F1F5F9"/>
                </a:solidFill>
                <a:latin typeface="Arial"/>
              </a:rPr>
              <a:t>קשר מבוסס אמון גבוה (דיסקרטיות מלאה, הצגת אופציית 'השמדת נתונים'). ליווי בצ'אט בצורה קשובה, מכבדת ואנושית ללא לחץ.</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מטרת הפרוטוטייפ ואפיון הפיצ'רים (MVP)</a:t>
            </a:r>
          </a:p>
        </p:txBody>
      </p:sp>
      <p:sp>
        <p:nvSpPr>
          <p:cNvPr id="3" name="TextBox 2"/>
          <p:cNvSpPr txBox="1"/>
          <p:nvPr/>
        </p:nvSpPr>
        <p:spPr>
          <a:xfrm>
            <a:off x="685800" y="1645920"/>
            <a:ext cx="10817352" cy="4572000"/>
          </a:xfrm>
          <a:prstGeom prst="rect">
            <a:avLst/>
          </a:prstGeom>
          <a:noFill/>
        </p:spPr>
        <p:txBody>
          <a:bodyPr wrap="square">
            <a:spAutoFit/>
          </a:bodyPr>
          <a:lstStyle/>
          <a:p>
            <a:pPr algn="r">
              <a:spcAft>
                <a:spcPts val="2500"/>
              </a:spcAft>
              <a:defRPr sz="1800" b="1">
                <a:solidFill>
                  <a:srgbClr val="F1F5F9"/>
                </a:solidFill>
                <a:latin typeface="Arial"/>
              </a:defRPr>
            </a:pPr>
            <a:r>
              <a:t>מטרת הפרוטוטייפ: להוכיח כי פועלים מסוגלים להשלים את תהליך איסוף הפרטים הרפואיים (Intake) באופן עצמאי בטלפון הנייד שלהם, תוך אימות קלות השימוש ברכיב הקולי והאמון במערכת.</a:t>
            </a:r>
          </a:p>
          <a:p>
            <a:pPr algn="r">
              <a:spcAft>
                <a:spcPts val="1000"/>
              </a:spcAft>
              <a:defRPr sz="1600" b="1">
                <a:solidFill>
                  <a:srgbClr val="FBBF24"/>
                </a:solidFill>
                <a:latin typeface="Arial"/>
              </a:defRPr>
            </a:pPr>
            <a:r>
              <a:t>• מנגנון ניתוב שאלות דינמי (Dynamic Routing): </a:t>
            </a:r>
            <a:r>
              <a:rPr sz="1500">
                <a:solidFill>
                  <a:srgbClr val="F1F5F9"/>
                </a:solidFill>
                <a:latin typeface="Arial"/>
              </a:rPr>
              <a:t>השאלות משתנות אוטומטית לפי סוג התאונה (תאונת דרכים מדלגת על שאלת האשמה ועוברת ישירות למסמכים).</a:t>
            </a:r>
          </a:p>
          <a:p>
            <a:pPr algn="r">
              <a:spcAft>
                <a:spcPts val="1000"/>
              </a:spcAft>
              <a:defRPr sz="1600" b="1">
                <a:solidFill>
                  <a:srgbClr val="FBBF24"/>
                </a:solidFill>
                <a:latin typeface="Arial"/>
              </a:defRPr>
            </a:pPr>
            <a:r>
              <a:t>• ממשק הקלטה קולית (Voice Recognition API): </a:t>
            </a:r>
            <a:r>
              <a:rPr sz="1500">
                <a:solidFill>
                  <a:srgbClr val="F1F5F9"/>
                </a:solidFill>
                <a:latin typeface="Arial"/>
              </a:rPr>
              <a:t>המרת דיבור לטקסט חי בתוך שדה התשובה בשלוש שפות (ערבית, עברית, אנגלית).</a:t>
            </a:r>
          </a:p>
          <a:p>
            <a:pPr algn="r">
              <a:spcAft>
                <a:spcPts val="1000"/>
              </a:spcAft>
              <a:defRPr sz="1600" b="1">
                <a:solidFill>
                  <a:srgbClr val="FBBF24"/>
                </a:solidFill>
                <a:latin typeface="Arial"/>
              </a:defRPr>
            </a:pPr>
            <a:r>
              <a:t>• מנגנון הסכמה ופרטיות (Data Privacy Choice): </a:t>
            </a:r>
            <a:r>
              <a:rPr sz="1500">
                <a:solidFill>
                  <a:srgbClr val="F1F5F9"/>
                </a:solidFill>
                <a:latin typeface="Arial"/>
              </a:rPr>
              <a:t>אפשרות להשמדת מידע מיידית או אישור שליחה למשרד עורכי דין.</a:t>
            </a:r>
          </a:p>
          <a:p>
            <a:pPr algn="r">
              <a:spcAft>
                <a:spcPts val="1000"/>
              </a:spcAft>
              <a:defRPr sz="1600" b="1">
                <a:solidFill>
                  <a:srgbClr val="FBBF24"/>
                </a:solidFill>
                <a:latin typeface="Arial"/>
              </a:defRPr>
            </a:pPr>
            <a:r>
              <a:t>• לוח בקרה למשרד עורכי הדין (Lawyer Dashboard): </a:t>
            </a:r>
            <a:r>
              <a:rPr sz="1500">
                <a:solidFill>
                  <a:srgbClr val="F1F5F9"/>
                </a:solidFill>
                <a:latin typeface="Arial"/>
              </a:rPr>
              <a:t>טבלה המרכזת את הפניות שאושרו עם סינון מהיר לפי סטטוס וסוג קטגוריה.</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תעדוף פיצ'רים לפי מודל MoSCoW</a:t>
            </a:r>
          </a:p>
        </p:txBody>
      </p:sp>
      <p:graphicFrame>
        <p:nvGraphicFramePr>
          <p:cNvPr id="3" name="Table 2"/>
          <p:cNvGraphicFramePr>
            <a:graphicFrameLocks noGrp="1"/>
          </p:cNvGraphicFramePr>
          <p:nvPr/>
        </p:nvGraphicFramePr>
        <p:xfrm>
          <a:off x="685800" y="1645920"/>
          <a:ext cx="10817352" cy="4114800"/>
        </p:xfrm>
        <a:graphic>
          <a:graphicData uri="http://schemas.openxmlformats.org/drawingml/2006/table">
            <a:tbl>
              <a:tblPr firstRow="1" bandRow="1">
                <a:tableStyleId>{5C22544A-7EE6-4342-B048-85BDC9FD1C3A}</a:tableStyleId>
              </a:tblPr>
              <a:tblGrid>
                <a:gridCol w="2163470">
                  <a:extLst>
                    <a:ext uri="{9D8B030D-6E8A-4147-A177-3AD203B41FA5}">
                      <a16:colId xmlns:a16="http://schemas.microsoft.com/office/drawing/2014/main" val="20000"/>
                    </a:ext>
                  </a:extLst>
                </a:gridCol>
                <a:gridCol w="2163470">
                  <a:extLst>
                    <a:ext uri="{9D8B030D-6E8A-4147-A177-3AD203B41FA5}">
                      <a16:colId xmlns:a16="http://schemas.microsoft.com/office/drawing/2014/main" val="20001"/>
                    </a:ext>
                  </a:extLst>
                </a:gridCol>
                <a:gridCol w="2163470">
                  <a:extLst>
                    <a:ext uri="{9D8B030D-6E8A-4147-A177-3AD203B41FA5}">
                      <a16:colId xmlns:a16="http://schemas.microsoft.com/office/drawing/2014/main" val="20002"/>
                    </a:ext>
                  </a:extLst>
                </a:gridCol>
                <a:gridCol w="2163470">
                  <a:extLst>
                    <a:ext uri="{9D8B030D-6E8A-4147-A177-3AD203B41FA5}">
                      <a16:colId xmlns:a16="http://schemas.microsoft.com/office/drawing/2014/main" val="20003"/>
                    </a:ext>
                  </a:extLst>
                </a:gridCol>
                <a:gridCol w="2163472">
                  <a:extLst>
                    <a:ext uri="{9D8B030D-6E8A-4147-A177-3AD203B41FA5}">
                      <a16:colId xmlns:a16="http://schemas.microsoft.com/office/drawing/2014/main" val="20004"/>
                    </a:ext>
                  </a:extLst>
                </a:gridCol>
              </a:tblGrid>
              <a:tr h="685800">
                <a:tc>
                  <a:txBody>
                    <a:bodyPr/>
                    <a:lstStyle/>
                    <a:p>
                      <a:pPr algn="ctr">
                        <a:defRPr sz="1400" b="1">
                          <a:solidFill>
                            <a:srgbClr val="FBBF24"/>
                          </a:solidFill>
                          <a:latin typeface="Arial"/>
                        </a:defRPr>
                      </a:pPr>
                      <a:r>
                        <a:t>שם הפיצ'ר</a:t>
                      </a:r>
                    </a:p>
                  </a:txBody>
                  <a:tcPr>
                    <a:solidFill>
                      <a:srgbClr val="151C2C"/>
                    </a:solidFill>
                  </a:tcPr>
                </a:tc>
                <a:tc>
                  <a:txBody>
                    <a:bodyPr/>
                    <a:lstStyle/>
                    <a:p>
                      <a:pPr algn="ctr">
                        <a:defRPr sz="1400" b="1">
                          <a:solidFill>
                            <a:srgbClr val="FBBF24"/>
                          </a:solidFill>
                          <a:latin typeface="Arial"/>
                        </a:defRPr>
                      </a:pPr>
                      <a:r>
                        <a:t>ערך למשתמש</a:t>
                      </a:r>
                    </a:p>
                  </a:txBody>
                  <a:tcPr>
                    <a:solidFill>
                      <a:srgbClr val="151C2C"/>
                    </a:solidFill>
                  </a:tcPr>
                </a:tc>
                <a:tc>
                  <a:txBody>
                    <a:bodyPr/>
                    <a:lstStyle/>
                    <a:p>
                      <a:pPr algn="ctr">
                        <a:defRPr sz="1400" b="1">
                          <a:solidFill>
                            <a:srgbClr val="FBBF24"/>
                          </a:solidFill>
                          <a:latin typeface="Arial"/>
                        </a:defRPr>
                      </a:pPr>
                      <a:r>
                        <a:t>עדיפות</a:t>
                      </a:r>
                    </a:p>
                  </a:txBody>
                  <a:tcPr>
                    <a:solidFill>
                      <a:srgbClr val="151C2C"/>
                    </a:solidFill>
                  </a:tcPr>
                </a:tc>
                <a:tc>
                  <a:txBody>
                    <a:bodyPr/>
                    <a:lstStyle/>
                    <a:p>
                      <a:pPr algn="ctr">
                        <a:defRPr sz="1400" b="1">
                          <a:solidFill>
                            <a:srgbClr val="FBBF24"/>
                          </a:solidFill>
                          <a:latin typeface="Arial"/>
                        </a:defRPr>
                      </a:pPr>
                      <a:r>
                        <a:t>הערכת זמן</a:t>
                      </a:r>
                    </a:p>
                  </a:txBody>
                  <a:tcPr>
                    <a:solidFill>
                      <a:srgbClr val="151C2C"/>
                    </a:solidFill>
                  </a:tcPr>
                </a:tc>
                <a:tc>
                  <a:txBody>
                    <a:bodyPr/>
                    <a:lstStyle/>
                    <a:p>
                      <a:pPr algn="ctr">
                        <a:defRPr sz="1400" b="1">
                          <a:solidFill>
                            <a:srgbClr val="FBBF24"/>
                          </a:solidFill>
                          <a:latin typeface="Arial"/>
                        </a:defRPr>
                      </a:pPr>
                      <a:r>
                        <a:t>מדד הצלחה</a:t>
                      </a:r>
                    </a:p>
                  </a:txBody>
                  <a:tcPr>
                    <a:solidFill>
                      <a:srgbClr val="151C2C"/>
                    </a:solidFill>
                  </a:tcPr>
                </a:tc>
                <a:extLst>
                  <a:ext uri="{0D108BD9-81ED-4DB2-BD59-A6C34878D82A}">
                    <a16:rowId xmlns:a16="http://schemas.microsoft.com/office/drawing/2014/main" val="10000"/>
                  </a:ext>
                </a:extLst>
              </a:tr>
              <a:tr h="685800">
                <a:tc>
                  <a:txBody>
                    <a:bodyPr/>
                    <a:lstStyle/>
                    <a:p>
                      <a:pPr algn="ctr">
                        <a:defRPr sz="1300">
                          <a:solidFill>
                            <a:srgbClr val="F1F5F9"/>
                          </a:solidFill>
                          <a:latin typeface="Arial"/>
                        </a:defRPr>
                      </a:pPr>
                      <a:r>
                        <a:t>צ'אט דינמי</a:t>
                      </a:r>
                    </a:p>
                  </a:txBody>
                  <a:tcPr>
                    <a:solidFill>
                      <a:srgbClr val="0B0F19"/>
                    </a:solidFill>
                  </a:tcPr>
                </a:tc>
                <a:tc>
                  <a:txBody>
                    <a:bodyPr/>
                    <a:lstStyle/>
                    <a:p>
                      <a:pPr algn="ctr">
                        <a:defRPr sz="1300">
                          <a:solidFill>
                            <a:srgbClr val="F1F5F9"/>
                          </a:solidFill>
                          <a:latin typeface="Arial"/>
                        </a:defRPr>
                      </a:pPr>
                      <a:r>
                        <a:t>התאמת שאלות ומניעת סרבול</a:t>
                      </a:r>
                    </a:p>
                  </a:txBody>
                  <a:tcPr>
                    <a:solidFill>
                      <a:srgbClr val="0B0F19"/>
                    </a:solidFill>
                  </a:tcPr>
                </a:tc>
                <a:tc>
                  <a:txBody>
                    <a:bodyPr/>
                    <a:lstStyle/>
                    <a:p>
                      <a:pPr algn="ctr">
                        <a:defRPr sz="1300">
                          <a:solidFill>
                            <a:srgbClr val="F1F5F9"/>
                          </a:solidFill>
                          <a:latin typeface="Arial"/>
                        </a:defRPr>
                      </a:pPr>
                      <a:r>
                        <a:t>Must Have</a:t>
                      </a:r>
                    </a:p>
                  </a:txBody>
                  <a:tcPr>
                    <a:solidFill>
                      <a:srgbClr val="0B0F19"/>
                    </a:solidFill>
                  </a:tcPr>
                </a:tc>
                <a:tc>
                  <a:txBody>
                    <a:bodyPr/>
                    <a:lstStyle/>
                    <a:p>
                      <a:pPr algn="ctr">
                        <a:defRPr sz="1300">
                          <a:solidFill>
                            <a:srgbClr val="F1F5F9"/>
                          </a:solidFill>
                          <a:latin typeface="Arial"/>
                        </a:defRPr>
                      </a:pPr>
                      <a:r>
                        <a:t>15 שעות</a:t>
                      </a:r>
                    </a:p>
                  </a:txBody>
                  <a:tcPr>
                    <a:solidFill>
                      <a:srgbClr val="0B0F19"/>
                    </a:solidFill>
                  </a:tcPr>
                </a:tc>
                <a:tc>
                  <a:txBody>
                    <a:bodyPr/>
                    <a:lstStyle/>
                    <a:p>
                      <a:pPr algn="ctr">
                        <a:defRPr sz="1300">
                          <a:solidFill>
                            <a:srgbClr val="F1F5F9"/>
                          </a:solidFill>
                          <a:latin typeface="Arial"/>
                        </a:defRPr>
                      </a:pPr>
                      <a:r>
                        <a:t>אחוז השלמה מעל 85%</a:t>
                      </a:r>
                    </a:p>
                  </a:txBody>
                  <a:tcPr>
                    <a:solidFill>
                      <a:srgbClr val="0B0F19"/>
                    </a:solidFill>
                  </a:tcPr>
                </a:tc>
                <a:extLst>
                  <a:ext uri="{0D108BD9-81ED-4DB2-BD59-A6C34878D82A}">
                    <a16:rowId xmlns:a16="http://schemas.microsoft.com/office/drawing/2014/main" val="10001"/>
                  </a:ext>
                </a:extLst>
              </a:tr>
              <a:tr h="685800">
                <a:tc>
                  <a:txBody>
                    <a:bodyPr/>
                    <a:lstStyle/>
                    <a:p>
                      <a:pPr algn="ctr">
                        <a:defRPr sz="1300">
                          <a:solidFill>
                            <a:srgbClr val="F1F5F9"/>
                          </a:solidFill>
                          <a:latin typeface="Arial"/>
                        </a:defRPr>
                      </a:pPr>
                      <a:r>
                        <a:t>זיהוי והקלטה קולית</a:t>
                      </a:r>
                    </a:p>
                  </a:txBody>
                  <a:tcPr>
                    <a:solidFill>
                      <a:srgbClr val="0B0F19"/>
                    </a:solidFill>
                  </a:tcPr>
                </a:tc>
                <a:tc>
                  <a:txBody>
                    <a:bodyPr/>
                    <a:lstStyle/>
                    <a:p>
                      <a:pPr algn="ctr">
                        <a:defRPr sz="1300">
                          <a:solidFill>
                            <a:srgbClr val="F1F5F9"/>
                          </a:solidFill>
                          <a:latin typeface="Arial"/>
                        </a:defRPr>
                      </a:pPr>
                      <a:r>
                        <a:t>מניעת הקלדה קשה בנייד</a:t>
                      </a:r>
                    </a:p>
                  </a:txBody>
                  <a:tcPr>
                    <a:solidFill>
                      <a:srgbClr val="0B0F19"/>
                    </a:solidFill>
                  </a:tcPr>
                </a:tc>
                <a:tc>
                  <a:txBody>
                    <a:bodyPr/>
                    <a:lstStyle/>
                    <a:p>
                      <a:pPr algn="ctr">
                        <a:defRPr sz="1300">
                          <a:solidFill>
                            <a:srgbClr val="F1F5F9"/>
                          </a:solidFill>
                          <a:latin typeface="Arial"/>
                        </a:defRPr>
                      </a:pPr>
                      <a:r>
                        <a:t>Must Have</a:t>
                      </a:r>
                    </a:p>
                  </a:txBody>
                  <a:tcPr>
                    <a:solidFill>
                      <a:srgbClr val="0B0F19"/>
                    </a:solidFill>
                  </a:tcPr>
                </a:tc>
                <a:tc>
                  <a:txBody>
                    <a:bodyPr/>
                    <a:lstStyle/>
                    <a:p>
                      <a:pPr algn="ctr">
                        <a:defRPr sz="1300">
                          <a:solidFill>
                            <a:srgbClr val="F1F5F9"/>
                          </a:solidFill>
                          <a:latin typeface="Arial"/>
                        </a:defRPr>
                      </a:pPr>
                      <a:r>
                        <a:t>20 שעות</a:t>
                      </a:r>
                    </a:p>
                  </a:txBody>
                  <a:tcPr>
                    <a:solidFill>
                      <a:srgbClr val="0B0F19"/>
                    </a:solidFill>
                  </a:tcPr>
                </a:tc>
                <a:tc>
                  <a:txBody>
                    <a:bodyPr/>
                    <a:lstStyle/>
                    <a:p>
                      <a:pPr algn="ctr">
                        <a:defRPr sz="1300">
                          <a:solidFill>
                            <a:srgbClr val="F1F5F9"/>
                          </a:solidFill>
                          <a:latin typeface="Arial"/>
                        </a:defRPr>
                      </a:pPr>
                      <a:r>
                        <a:t>שימוש קולי ב-50% מהתשובות</a:t>
                      </a:r>
                    </a:p>
                  </a:txBody>
                  <a:tcPr>
                    <a:solidFill>
                      <a:srgbClr val="0B0F19"/>
                    </a:solidFill>
                  </a:tcPr>
                </a:tc>
                <a:extLst>
                  <a:ext uri="{0D108BD9-81ED-4DB2-BD59-A6C34878D82A}">
                    <a16:rowId xmlns:a16="http://schemas.microsoft.com/office/drawing/2014/main" val="10002"/>
                  </a:ext>
                </a:extLst>
              </a:tr>
              <a:tr h="685800">
                <a:tc>
                  <a:txBody>
                    <a:bodyPr/>
                    <a:lstStyle/>
                    <a:p>
                      <a:pPr algn="ctr">
                        <a:defRPr sz="1300">
                          <a:solidFill>
                            <a:srgbClr val="F1F5F9"/>
                          </a:solidFill>
                          <a:latin typeface="Arial"/>
                        </a:defRPr>
                      </a:pPr>
                      <a:r>
                        <a:t>מסך הסכמה וביטחון</a:t>
                      </a:r>
                    </a:p>
                  </a:txBody>
                  <a:tcPr>
                    <a:solidFill>
                      <a:srgbClr val="0B0F19"/>
                    </a:solidFill>
                  </a:tcPr>
                </a:tc>
                <a:tc>
                  <a:txBody>
                    <a:bodyPr/>
                    <a:lstStyle/>
                    <a:p>
                      <a:pPr algn="ctr">
                        <a:defRPr sz="1300">
                          <a:solidFill>
                            <a:srgbClr val="F1F5F9"/>
                          </a:solidFill>
                          <a:latin typeface="Arial"/>
                        </a:defRPr>
                      </a:pPr>
                      <a:r>
                        <a:t>הסרת חשש משפטי ופיננסי</a:t>
                      </a:r>
                    </a:p>
                  </a:txBody>
                  <a:tcPr>
                    <a:solidFill>
                      <a:srgbClr val="0B0F19"/>
                    </a:solidFill>
                  </a:tcPr>
                </a:tc>
                <a:tc>
                  <a:txBody>
                    <a:bodyPr/>
                    <a:lstStyle/>
                    <a:p>
                      <a:pPr algn="ctr">
                        <a:defRPr sz="1300">
                          <a:solidFill>
                            <a:srgbClr val="F1F5F9"/>
                          </a:solidFill>
                          <a:latin typeface="Arial"/>
                        </a:defRPr>
                      </a:pPr>
                      <a:r>
                        <a:t>Must Have</a:t>
                      </a:r>
                    </a:p>
                  </a:txBody>
                  <a:tcPr>
                    <a:solidFill>
                      <a:srgbClr val="0B0F19"/>
                    </a:solidFill>
                  </a:tcPr>
                </a:tc>
                <a:tc>
                  <a:txBody>
                    <a:bodyPr/>
                    <a:lstStyle/>
                    <a:p>
                      <a:pPr algn="ctr">
                        <a:defRPr sz="1300">
                          <a:solidFill>
                            <a:srgbClr val="F1F5F9"/>
                          </a:solidFill>
                          <a:latin typeface="Arial"/>
                        </a:defRPr>
                      </a:pPr>
                      <a:r>
                        <a:t>5 שעות</a:t>
                      </a:r>
                    </a:p>
                  </a:txBody>
                  <a:tcPr>
                    <a:solidFill>
                      <a:srgbClr val="0B0F19"/>
                    </a:solidFill>
                  </a:tcPr>
                </a:tc>
                <a:tc>
                  <a:txBody>
                    <a:bodyPr/>
                    <a:lstStyle/>
                    <a:p>
                      <a:pPr algn="ctr">
                        <a:defRPr sz="1300">
                          <a:solidFill>
                            <a:srgbClr val="F1F5F9"/>
                          </a:solidFill>
                          <a:latin typeface="Arial"/>
                        </a:defRPr>
                      </a:pPr>
                      <a:r>
                        <a:t>ירידה בנטישה בשלב הסופי</a:t>
                      </a:r>
                    </a:p>
                  </a:txBody>
                  <a:tcPr>
                    <a:solidFill>
                      <a:srgbClr val="0B0F19"/>
                    </a:solidFill>
                  </a:tcPr>
                </a:tc>
                <a:extLst>
                  <a:ext uri="{0D108BD9-81ED-4DB2-BD59-A6C34878D82A}">
                    <a16:rowId xmlns:a16="http://schemas.microsoft.com/office/drawing/2014/main" val="10003"/>
                  </a:ext>
                </a:extLst>
              </a:tr>
              <a:tr h="685800">
                <a:tc>
                  <a:txBody>
                    <a:bodyPr/>
                    <a:lstStyle/>
                    <a:p>
                      <a:pPr algn="ctr">
                        <a:defRPr sz="1300">
                          <a:solidFill>
                            <a:srgbClr val="F1F5F9"/>
                          </a:solidFill>
                          <a:latin typeface="Arial"/>
                        </a:defRPr>
                      </a:pPr>
                      <a:r>
                        <a:t>לוח בקרה לעו"ד</a:t>
                      </a:r>
                    </a:p>
                  </a:txBody>
                  <a:tcPr>
                    <a:solidFill>
                      <a:srgbClr val="0B0F19"/>
                    </a:solidFill>
                  </a:tcPr>
                </a:tc>
                <a:tc>
                  <a:txBody>
                    <a:bodyPr/>
                    <a:lstStyle/>
                    <a:p>
                      <a:pPr algn="ctr">
                        <a:defRPr sz="1300">
                          <a:solidFill>
                            <a:srgbClr val="F1F5F9"/>
                          </a:solidFill>
                          <a:latin typeface="Arial"/>
                        </a:defRPr>
                      </a:pPr>
                      <a:r>
                        <a:t>ארגון מובנה וחיסכון בזמן</a:t>
                      </a:r>
                    </a:p>
                  </a:txBody>
                  <a:tcPr>
                    <a:solidFill>
                      <a:srgbClr val="0B0F19"/>
                    </a:solidFill>
                  </a:tcPr>
                </a:tc>
                <a:tc>
                  <a:txBody>
                    <a:bodyPr/>
                    <a:lstStyle/>
                    <a:p>
                      <a:pPr algn="ctr">
                        <a:defRPr sz="1300">
                          <a:solidFill>
                            <a:srgbClr val="F1F5F9"/>
                          </a:solidFill>
                          <a:latin typeface="Arial"/>
                        </a:defRPr>
                      </a:pPr>
                      <a:r>
                        <a:t>Must Have</a:t>
                      </a:r>
                    </a:p>
                  </a:txBody>
                  <a:tcPr>
                    <a:solidFill>
                      <a:srgbClr val="0B0F19"/>
                    </a:solidFill>
                  </a:tcPr>
                </a:tc>
                <a:tc>
                  <a:txBody>
                    <a:bodyPr/>
                    <a:lstStyle/>
                    <a:p>
                      <a:pPr algn="ctr">
                        <a:defRPr sz="1300">
                          <a:solidFill>
                            <a:srgbClr val="F1F5F9"/>
                          </a:solidFill>
                          <a:latin typeface="Arial"/>
                        </a:defRPr>
                      </a:pPr>
                      <a:r>
                        <a:t>10 שעות</a:t>
                      </a:r>
                    </a:p>
                  </a:txBody>
                  <a:tcPr>
                    <a:solidFill>
                      <a:srgbClr val="0B0F19"/>
                    </a:solidFill>
                  </a:tcPr>
                </a:tc>
                <a:tc>
                  <a:txBody>
                    <a:bodyPr/>
                    <a:lstStyle/>
                    <a:p>
                      <a:pPr algn="ctr">
                        <a:defRPr sz="1300">
                          <a:solidFill>
                            <a:srgbClr val="F1F5F9"/>
                          </a:solidFill>
                          <a:latin typeface="Arial"/>
                        </a:defRPr>
                      </a:pPr>
                      <a:r>
                        <a:t>זמן קריאת תיק פחות מ-3 דק'</a:t>
                      </a:r>
                    </a:p>
                  </a:txBody>
                  <a:tcPr>
                    <a:solidFill>
                      <a:srgbClr val="0B0F19"/>
                    </a:solidFill>
                  </a:tcPr>
                </a:tc>
                <a:extLst>
                  <a:ext uri="{0D108BD9-81ED-4DB2-BD59-A6C34878D82A}">
                    <a16:rowId xmlns:a16="http://schemas.microsoft.com/office/drawing/2014/main" val="10004"/>
                  </a:ext>
                </a:extLst>
              </a:tr>
              <a:tr h="685800">
                <a:tc>
                  <a:txBody>
                    <a:bodyPr/>
                    <a:lstStyle/>
                    <a:p>
                      <a:pPr algn="ctr">
                        <a:defRPr sz="1300">
                          <a:solidFill>
                            <a:srgbClr val="F1F5F9"/>
                          </a:solidFill>
                          <a:latin typeface="Arial"/>
                        </a:defRPr>
                      </a:pPr>
                      <a:r>
                        <a:t>העלאת מסמכים חכמה</a:t>
                      </a:r>
                    </a:p>
                  </a:txBody>
                  <a:tcPr>
                    <a:solidFill>
                      <a:srgbClr val="0B0F19"/>
                    </a:solidFill>
                  </a:tcPr>
                </a:tc>
                <a:tc>
                  <a:txBody>
                    <a:bodyPr/>
                    <a:lstStyle/>
                    <a:p>
                      <a:pPr algn="ctr">
                        <a:defRPr sz="1300">
                          <a:solidFill>
                            <a:srgbClr val="F1F5F9"/>
                          </a:solidFill>
                          <a:latin typeface="Arial"/>
                        </a:defRPr>
                      </a:pPr>
                      <a:r>
                        <a:t>העלאת אישורים בקלות</a:t>
                      </a:r>
                    </a:p>
                  </a:txBody>
                  <a:tcPr>
                    <a:solidFill>
                      <a:srgbClr val="0B0F19"/>
                    </a:solidFill>
                  </a:tcPr>
                </a:tc>
                <a:tc>
                  <a:txBody>
                    <a:bodyPr/>
                    <a:lstStyle/>
                    <a:p>
                      <a:pPr algn="ctr">
                        <a:defRPr sz="1300">
                          <a:solidFill>
                            <a:srgbClr val="F1F5F9"/>
                          </a:solidFill>
                          <a:latin typeface="Arial"/>
                        </a:defRPr>
                      </a:pPr>
                      <a:r>
                        <a:t>Should Have</a:t>
                      </a:r>
                    </a:p>
                  </a:txBody>
                  <a:tcPr>
                    <a:solidFill>
                      <a:srgbClr val="0B0F19"/>
                    </a:solidFill>
                  </a:tcPr>
                </a:tc>
                <a:tc>
                  <a:txBody>
                    <a:bodyPr/>
                    <a:lstStyle/>
                    <a:p>
                      <a:pPr algn="ctr">
                        <a:defRPr sz="1300">
                          <a:solidFill>
                            <a:srgbClr val="F1F5F9"/>
                          </a:solidFill>
                          <a:latin typeface="Arial"/>
                        </a:defRPr>
                      </a:pPr>
                      <a:r>
                        <a:t>8 שעות</a:t>
                      </a:r>
                    </a:p>
                  </a:txBody>
                  <a:tcPr>
                    <a:solidFill>
                      <a:srgbClr val="0B0F19"/>
                    </a:solidFill>
                  </a:tcPr>
                </a:tc>
                <a:tc>
                  <a:txBody>
                    <a:bodyPr/>
                    <a:lstStyle/>
                    <a:p>
                      <a:pPr algn="ctr">
                        <a:defRPr sz="1300">
                          <a:solidFill>
                            <a:srgbClr val="F1F5F9"/>
                          </a:solidFill>
                          <a:latin typeface="Arial"/>
                        </a:defRPr>
                      </a:pPr>
                      <a:r>
                        <a:t>העלאת מסמך ב-40% מהמקרים</a:t>
                      </a:r>
                    </a:p>
                  </a:txBody>
                  <a:tcPr>
                    <a:solidFill>
                      <a:srgbClr val="0B0F1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ארכיטקטורת המערכת וזרימת המשתמש (User Flow)</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1500"/>
              </a:spcAft>
              <a:defRPr sz="1800">
                <a:solidFill>
                  <a:srgbClr val="F1F5F9"/>
                </a:solidFill>
                <a:latin typeface="Arial"/>
              </a:defRPr>
            </a:pPr>
            <a:r>
              <a:t>1. כניסה לדף נחיתה ובחירת שפת ממשק (ערבית / עברית / אנגלית).</a:t>
            </a:r>
          </a:p>
          <a:p>
            <a:pPr algn="r">
              <a:spcAft>
                <a:spcPts val="1500"/>
              </a:spcAft>
              <a:defRPr sz="1800">
                <a:solidFill>
                  <a:srgbClr val="F1F5F9"/>
                </a:solidFill>
                <a:latin typeface="Arial"/>
              </a:defRPr>
            </a:pPr>
            <a:r>
              <a:t>2. מעבר לצ'אט-בוט האינטראקטיבי בלחיצה על 'התחל בדיקה'.</a:t>
            </a:r>
          </a:p>
          <a:p>
            <a:pPr algn="r">
              <a:spcAft>
                <a:spcPts val="1500"/>
              </a:spcAft>
              <a:defRPr sz="1800">
                <a:solidFill>
                  <a:srgbClr val="F1F5F9"/>
                </a:solidFill>
                <a:latin typeface="Arial"/>
              </a:defRPr>
            </a:pPr>
            <a:r>
              <a:t>3. ניתוב שאלות דינמי: שאילת שאלות בהתאמה לסוג התאונה (עבודה / דרכים).</a:t>
            </a:r>
          </a:p>
          <a:p>
            <a:pPr algn="r">
              <a:spcAft>
                <a:spcPts val="1500"/>
              </a:spcAft>
              <a:defRPr sz="1800">
                <a:solidFill>
                  <a:srgbClr val="F1F5F9"/>
                </a:solidFill>
                <a:latin typeface="Arial"/>
              </a:defRPr>
            </a:pPr>
            <a:r>
              <a:t>4. מענה מילולי קל באמצעות ממשק ההקלטה והתמלול הקולי המובנה.</a:t>
            </a:r>
          </a:p>
          <a:p>
            <a:pPr algn="r">
              <a:spcAft>
                <a:spcPts val="1500"/>
              </a:spcAft>
              <a:defRPr sz="1800">
                <a:solidFill>
                  <a:srgbClr val="F1F5F9"/>
                </a:solidFill>
                <a:latin typeface="Arial"/>
              </a:defRPr>
            </a:pPr>
            <a:r>
              <a:t>5. הצגת הערכה ראשונית חינמית 100% והסרת חשש פיננסי או התחייבות.</a:t>
            </a:r>
          </a:p>
          <a:p>
            <a:pPr algn="r">
              <a:spcAft>
                <a:spcPts val="1500"/>
              </a:spcAft>
              <a:defRPr sz="1800">
                <a:solidFill>
                  <a:srgbClr val="F1F5F9"/>
                </a:solidFill>
                <a:latin typeface="Arial"/>
              </a:defRPr>
            </a:pPr>
            <a:r>
              <a:t>6. מסך אישור והסכמה: שליחה מאובטחת למשרד עורכי הדין או השמדה מיידית של הנתונים.</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דוח בדיקות שמישות – סבב 1 וסבב 2</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2000"/>
              </a:spcAft>
              <a:defRPr sz="1800" b="1">
                <a:solidFill>
                  <a:srgbClr val="FBBF24"/>
                </a:solidFill>
                <a:latin typeface="Arial"/>
              </a:defRPr>
            </a:pPr>
            <a:r>
              <a:t>• מתודולוגיית הבדיקה: </a:t>
            </a:r>
            <a:r>
              <a:rPr sz="1600">
                <a:solidFill>
                  <a:srgbClr val="F1F5F9"/>
                </a:solidFill>
                <a:latin typeface="Arial"/>
              </a:rPr>
              <a:t>תצפית ישירה במשתמשים (Moderated Usability Testing) וניתוח מדדים כמותיים מתוך לוגים של קוד המערכת. התאמה לכלל של 5 משתמשים לקבלת משוב איכותי מיידי.</a:t>
            </a:r>
          </a:p>
          <a:p>
            <a:pPr algn="r">
              <a:spcAft>
                <a:spcPts val="2000"/>
              </a:spcAft>
              <a:defRPr sz="1800" b="1">
                <a:solidFill>
                  <a:srgbClr val="FBBF24"/>
                </a:solidFill>
                <a:latin typeface="Arial"/>
              </a:defRPr>
            </a:pPr>
            <a:r>
              <a:t>• סבב בדיקות ראשון (על הגרסה הראשונית): </a:t>
            </a:r>
            <a:r>
              <a:rPr sz="1600">
                <a:solidFill>
                  <a:srgbClr val="F1F5F9"/>
                </a:solidFill>
                <a:latin typeface="Arial"/>
              </a:rPr>
              <a:t>השתתפו 3 משתתפים מקבוצת היעד (פועלים פצועים) ועורך דין אחד. מטרת הסבב הייתה זיהוי חסמים טכנולוגיים ורמות נטישה.</a:t>
            </a:r>
          </a:p>
          <a:p>
            <a:pPr algn="r">
              <a:spcAft>
                <a:spcPts val="2000"/>
              </a:spcAft>
              <a:defRPr sz="1800" b="1">
                <a:solidFill>
                  <a:srgbClr val="FBBF24"/>
                </a:solidFill>
                <a:latin typeface="Arial"/>
              </a:defRPr>
            </a:pPr>
            <a:r>
              <a:t>• סבב בדיקות שני (על הגרסה המשופרת): </a:t>
            </a:r>
            <a:r>
              <a:rPr sz="1600">
                <a:solidFill>
                  <a:srgbClr val="F1F5F9"/>
                </a:solidFill>
                <a:latin typeface="Arial"/>
              </a:rPr>
              <a:t>השתתפו 3 משתתפים חדשים לחלוטין לקבלת מבט רענן על פתרון הבעיות שהתגלו בסבב הראשון.</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בעיות מרכזיות שזוהו בסבב הראשון והשיפורים שבוצעו</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600"/>
              </a:spcAft>
              <a:defRPr sz="1800" b="1">
                <a:solidFill>
                  <a:srgbClr val="FBBF24"/>
                </a:solidFill>
                <a:latin typeface="Arial"/>
              </a:defRPr>
            </a:pPr>
            <a:r>
              <a:t>• בעיה 1 (חמורה): נטישה וחשש פיננסי בשלב בקשת הטלפון: </a:t>
            </a:r>
          </a:p>
          <a:p>
            <a:pPr algn="r">
              <a:spcAft>
                <a:spcPts val="2000"/>
              </a:spcAft>
              <a:defRPr sz="1600">
                <a:solidFill>
                  <a:srgbClr val="F1F5F9"/>
                </a:solidFill>
                <a:latin typeface="Arial"/>
              </a:defRPr>
            </a:pPr>
            <a:r>
              <a:t>פתרון: הוספנו מסך הערכת זכאות פנימי המבהיר: '0 ש"ח עלות, ללא התחייבות, סודיות מוחלטת'.</a:t>
            </a:r>
          </a:p>
          <a:p>
            <a:pPr algn="r">
              <a:spcAft>
                <a:spcPts val="600"/>
              </a:spcAft>
              <a:defRPr sz="1800" b="1">
                <a:solidFill>
                  <a:srgbClr val="FBBF24"/>
                </a:solidFill>
                <a:latin typeface="Arial"/>
              </a:defRPr>
            </a:pPr>
            <a:r>
              <a:t>• בעיה 2 (בינונית): כפתור אישור השדות המילוליים נשאר בערבית גם כשהשפה שונתה: </a:t>
            </a:r>
          </a:p>
          <a:p>
            <a:pPr algn="r">
              <a:spcAft>
                <a:spcPts val="2000"/>
              </a:spcAft>
              <a:defRPr sz="1600">
                <a:solidFill>
                  <a:srgbClr val="F1F5F9"/>
                </a:solidFill>
                <a:latin typeface="Arial"/>
              </a:defRPr>
            </a:pPr>
            <a:r>
              <a:t>פתרון: ביצענו לוקליזציה מלאה ותיקנו את קוד המרת השפות כך שהכפתור משתנה אוטומטית ל-'OK' או 'אישור' בהתאם ללשון הנבחרת.</a:t>
            </a:r>
          </a:p>
          <a:p>
            <a:pPr algn="r">
              <a:spcAft>
                <a:spcPts val="600"/>
              </a:spcAft>
              <a:defRPr sz="1800" b="1">
                <a:solidFill>
                  <a:srgbClr val="FBBF24"/>
                </a:solidFill>
                <a:latin typeface="Arial"/>
              </a:defRPr>
            </a:pPr>
            <a:r>
              <a:t>• בעיה 3 (בינונית): תמלול קולי נמחק כשמשתמשים לקחו הפסקה בדיבור: </a:t>
            </a:r>
          </a:p>
          <a:p>
            <a:pPr algn="r">
              <a:spcAft>
                <a:spcPts val="2000"/>
              </a:spcAft>
              <a:defRPr sz="1600">
                <a:solidFill>
                  <a:srgbClr val="F1F5F9"/>
                </a:solidFill>
                <a:latin typeface="Arial"/>
              </a:defRPr>
            </a:pPr>
            <a:r>
              <a:t>פתרון: שכתבנו את לולאת התמלול (Continuous Recognition) כך שתשמור את הטקסט הקודם ותשרשר אליו את ההקלטה החדשה ללא מחיקות.</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סבב בדיקות שני – השוואת מדדים כמותיים (Metrics)</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600"/>
              </a:spcAft>
              <a:defRPr sz="1800" b="1">
                <a:solidFill>
                  <a:srgbClr val="FBBF24"/>
                </a:solidFill>
                <a:latin typeface="Arial"/>
              </a:defRPr>
            </a:pPr>
            <a:r>
              <a:t>• מדד 1: אחוז השלמת השאלון (Completion Rate): </a:t>
            </a:r>
          </a:p>
          <a:p>
            <a:pPr algn="r">
              <a:spcAft>
                <a:spcPts val="2500"/>
              </a:spcAft>
              <a:defRPr sz="1600">
                <a:solidFill>
                  <a:srgbClr val="F1F5F9"/>
                </a:solidFill>
                <a:latin typeface="Arial"/>
              </a:defRPr>
            </a:pPr>
            <a:r>
              <a:t>לפני השיפור (סבב 1): 60% (בעיקר עקב חשש פיננסי וקשיי הקלדה).</a:t>
            </a:r>
            <a:br/>
            <a:r>
              <a:t>לאחר השיפור (סבב 2): 90% (שיפור דרמטי בעקבות תוספת הסבר הפרטיות והשימוש הקולי).</a:t>
            </a:r>
          </a:p>
          <a:p>
            <a:pPr algn="r">
              <a:spcAft>
                <a:spcPts val="600"/>
              </a:spcAft>
              <a:defRPr sz="1800" b="1">
                <a:solidFill>
                  <a:srgbClr val="FBBF24"/>
                </a:solidFill>
                <a:latin typeface="Arial"/>
              </a:defRPr>
            </a:pPr>
            <a:r>
              <a:t>• מדד 2: זמן ממוצע להשלמת השאלון (Time to Complete): </a:t>
            </a:r>
          </a:p>
          <a:p>
            <a:pPr algn="r">
              <a:spcAft>
                <a:spcPts val="2500"/>
              </a:spcAft>
              <a:defRPr sz="1600">
                <a:solidFill>
                  <a:srgbClr val="F1F5F9"/>
                </a:solidFill>
                <a:latin typeface="Arial"/>
              </a:defRPr>
            </a:pPr>
            <a:r>
              <a:t>לפני השיפור: 5 דקות (בשל הצורך בהקלדת טקסטים ארוכים במכשיר נייד).</a:t>
            </a:r>
            <a:br/>
            <a:r>
              <a:t>לאחר השיפור: 2 דקות בלבד (הודות לטכנולוגיית ההקלטה והתמלול הקולי המהיר).</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914400"/>
          </a:xfrm>
          <a:prstGeom prst="rect">
            <a:avLst/>
          </a:prstGeom>
          <a:noFill/>
        </p:spPr>
        <p:txBody>
          <a:bodyPr wrap="square">
            <a:spAutoFit/>
          </a:bodyPr>
          <a:lstStyle/>
          <a:p>
            <a:pPr algn="r">
              <a:defRPr sz="3600" b="1">
                <a:solidFill>
                  <a:srgbClr val="FBBF24"/>
                </a:solidFill>
                <a:latin typeface="Arial"/>
              </a:defRPr>
            </a:pPr>
            <a:r>
              <a:t>סיכום ותוכנית עבודה לעתיד (Next Steps)</a:t>
            </a:r>
          </a:p>
        </p:txBody>
      </p:sp>
      <p:sp>
        <p:nvSpPr>
          <p:cNvPr id="3" name="TextBox 2"/>
          <p:cNvSpPr txBox="1"/>
          <p:nvPr/>
        </p:nvSpPr>
        <p:spPr>
          <a:xfrm>
            <a:off x="685800" y="1645920"/>
            <a:ext cx="10817352" cy="4572000"/>
          </a:xfrm>
          <a:prstGeom prst="rect">
            <a:avLst/>
          </a:prstGeom>
          <a:noFill/>
        </p:spPr>
        <p:txBody>
          <a:bodyPr wrap="square">
            <a:spAutoFit/>
          </a:bodyPr>
          <a:lstStyle/>
          <a:p>
            <a:endParaRPr/>
          </a:p>
          <a:p>
            <a:pPr algn="r">
              <a:spcAft>
                <a:spcPts val="600"/>
              </a:spcAft>
              <a:defRPr sz="1800" b="1">
                <a:solidFill>
                  <a:srgbClr val="FBBF24"/>
                </a:solidFill>
                <a:latin typeface="Arial"/>
              </a:defRPr>
            </a:pPr>
            <a:r>
              <a:t>• מסקנה עיקרית מהפרויקט: </a:t>
            </a:r>
          </a:p>
          <a:p>
            <a:pPr algn="r">
              <a:spcAft>
                <a:spcPts val="2500"/>
              </a:spcAft>
              <a:defRPr sz="1600">
                <a:solidFill>
                  <a:srgbClr val="F1F5F9"/>
                </a:solidFill>
                <a:latin typeface="Arial"/>
              </a:defRPr>
            </a:pPr>
            <a:r>
              <a:t>הפרוטוטייפ הוכיח כי שילוב שפה מותאמת אישית ותרבותית יחד עם טכנולוגיית קול (AI Voice Tech) פותר את בעיית הנגישות המשפטית לאוכלוסיית מזרח ירושלים.</a:t>
            </a:r>
          </a:p>
          <a:p>
            <a:pPr algn="r">
              <a:spcAft>
                <a:spcPts val="600"/>
              </a:spcAft>
              <a:defRPr sz="1800" b="1">
                <a:solidFill>
                  <a:srgbClr val="FBBF24"/>
                </a:solidFill>
                <a:latin typeface="Arial"/>
              </a:defRPr>
            </a:pPr>
            <a:r>
              <a:t>• תוכנית עבודה לעתיד (Next Features): </a:t>
            </a:r>
          </a:p>
          <a:p>
            <a:pPr algn="r">
              <a:spcAft>
                <a:spcPts val="2500"/>
              </a:spcAft>
              <a:defRPr sz="1600">
                <a:solidFill>
                  <a:srgbClr val="F1F5F9"/>
                </a:solidFill>
                <a:latin typeface="Arial"/>
              </a:defRPr>
            </a:pPr>
            <a:r>
              <a:t>1. אינטגרציה ל-WhatsApp Business API: מעבר מלא לערוץ וואטסאפ שבו המשתמשים נמצאים ביומיום.</a:t>
            </a:r>
            <a:br/>
            <a:r>
              <a:t>2. מנוע סיווג רפואי אוטומטי (AI Classification): ניתוח אוטומטי של תמלול קול הלקוח לצורך קישורו לסעיפי נכות ספציפיים בחוק ביטוח לאומי.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170</TotalTime>
  <Words>2100</Words>
  <Application>Microsoft Office PowerPoint</Application>
  <PresentationFormat>Widescreen</PresentationFormat>
  <Paragraphs>160</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قمر</dc:creator>
  <cp:keywords/>
  <dc:description>generated using python-pptx</dc:description>
  <cp:lastModifiedBy>Noor Aioby</cp:lastModifiedBy>
  <cp:revision>1</cp:revision>
  <dcterms:created xsi:type="dcterms:W3CDTF">2013-01-27T09:14:16Z</dcterms:created>
  <dcterms:modified xsi:type="dcterms:W3CDTF">2026-06-30T11:56:47Z</dcterms:modified>
  <cp:category/>
</cp:coreProperties>
</file>