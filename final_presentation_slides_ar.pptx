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39" d="100"/>
          <a:sy n="39" d="100"/>
        </p:scale>
        <p:origin x="180" y="6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Aioby" userId="38146ebc-8545-46bf-9d83-28dbd61da7d6" providerId="ADAL" clId="{9D132DA4-9AD7-4C07-B54E-5655E6903186}"/>
    <pc:docChg chg="undo custSel modSld">
      <pc:chgData name="Noor Aioby" userId="38146ebc-8545-46bf-9d83-28dbd61da7d6" providerId="ADAL" clId="{9D132DA4-9AD7-4C07-B54E-5655E6903186}" dt="2026-07-09T07:51:43.857" v="7" actId="20577"/>
      <pc:docMkLst>
        <pc:docMk/>
      </pc:docMkLst>
      <pc:sldChg chg="addSp delSp modSp mod">
        <pc:chgData name="Noor Aioby" userId="38146ebc-8545-46bf-9d83-28dbd61da7d6" providerId="ADAL" clId="{9D132DA4-9AD7-4C07-B54E-5655E6903186}" dt="2026-07-09T07:51:43.857" v="7" actId="20577"/>
        <pc:sldMkLst>
          <pc:docMk/>
          <pc:sldMk cId="0" sldId="256"/>
        </pc:sldMkLst>
        <pc:spChg chg="add del mod">
          <ac:chgData name="Noor Aioby" userId="38146ebc-8545-46bf-9d83-28dbd61da7d6" providerId="ADAL" clId="{9D132DA4-9AD7-4C07-B54E-5655E6903186}" dt="2026-07-09T07:51:43.857" v="7" actId="20577"/>
          <ac:spMkLst>
            <pc:docMk/>
            <pc:sldMk cId="0" sldId="256"/>
            <ac:spMk id="3" creationId="{00000000-0000-0000-0000-000000000000}"/>
          </ac:spMkLst>
        </pc:spChg>
        <pc:spChg chg="mod">
          <ac:chgData name="Noor Aioby" userId="38146ebc-8545-46bf-9d83-28dbd61da7d6" providerId="ADAL" clId="{9D132DA4-9AD7-4C07-B54E-5655E6903186}" dt="2026-07-09T07:05:25.257" v="0" actId="20577"/>
          <ac:spMkLst>
            <pc:docMk/>
            <pc:sldMk cId="0"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Rectangle 1"/>
          <p:cNvSpPr/>
          <p:nvPr/>
        </p:nvSpPr>
        <p:spPr>
          <a:xfrm>
            <a:off x="1371600" y="2011680"/>
            <a:ext cx="9445752" cy="36576"/>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53737" y="2286000"/>
            <a:ext cx="9445752" cy="1828800"/>
          </a:xfrm>
          <a:prstGeom prst="rect">
            <a:avLst/>
          </a:prstGeom>
          <a:noFill/>
        </p:spPr>
        <p:txBody>
          <a:bodyPr wrap="square">
            <a:spAutoFit/>
          </a:bodyPr>
          <a:lstStyle/>
          <a:p>
            <a:pPr algn="r">
              <a:defRPr sz="3600" b="1">
                <a:solidFill>
                  <a:srgbClr val="FFFFFF"/>
                </a:solidFill>
                <a:latin typeface="Arial"/>
              </a:defRPr>
            </a:pPr>
            <a:r>
              <a:rPr dirty="0" err="1"/>
              <a:t>جسر</a:t>
            </a:r>
            <a:r>
              <a:rPr dirty="0"/>
              <a:t> </a:t>
            </a:r>
            <a:r>
              <a:rPr dirty="0" err="1"/>
              <a:t>القدس</a:t>
            </a:r>
            <a:r>
              <a:rPr lang="ar-SA" dirty="0"/>
              <a:t> القانوني (</a:t>
            </a:r>
            <a:r>
              <a:rPr lang="en-US" dirty="0"/>
              <a:t>JLM Legal Bridge)</a:t>
            </a:r>
          </a:p>
          <a:p>
            <a:pPr algn="r">
              <a:spcBef>
                <a:spcPts val="1200"/>
              </a:spcBef>
              <a:defRPr sz="2000">
                <a:solidFill>
                  <a:srgbClr val="C5A880"/>
                </a:solidFill>
                <a:latin typeface="Arial"/>
              </a:defRPr>
            </a:pPr>
            <a:r>
              <a:rPr lang="ar-SA" dirty="0"/>
              <a:t>منصة استبيان رقمية ذكية ومتوافقة ثقافياً للعمال في القدس الشرقية</a:t>
            </a:r>
          </a:p>
        </p:txBody>
      </p:sp>
      <p:sp>
        <p:nvSpPr>
          <p:cNvPr id="4" name="TextBox 3"/>
          <p:cNvSpPr txBox="1"/>
          <p:nvPr/>
        </p:nvSpPr>
        <p:spPr>
          <a:xfrm>
            <a:off x="1371600" y="4389120"/>
            <a:ext cx="9445752" cy="892552"/>
          </a:xfrm>
          <a:prstGeom prst="rect">
            <a:avLst/>
          </a:prstGeom>
          <a:noFill/>
        </p:spPr>
        <p:txBody>
          <a:bodyPr wrap="square">
            <a:spAutoFit/>
          </a:bodyPr>
          <a:lstStyle/>
          <a:p>
            <a:pPr algn="r">
              <a:spcBef>
                <a:spcPts val="600"/>
              </a:spcBef>
              <a:defRPr sz="1400">
                <a:solidFill>
                  <a:srgbClr val="A0AEC0"/>
                </a:solidFill>
                <a:latin typeface="Arial"/>
              </a:defRPr>
            </a:pPr>
            <a:r>
              <a:rPr lang="ar-SA" dirty="0"/>
              <a:t> </a:t>
            </a:r>
            <a:r>
              <a:rPr dirty="0" err="1"/>
              <a:t>مشروع</a:t>
            </a:r>
            <a:r>
              <a:rPr dirty="0"/>
              <a:t> </a:t>
            </a:r>
            <a:r>
              <a:rPr dirty="0" err="1"/>
              <a:t>التخرج</a:t>
            </a:r>
            <a:r>
              <a:rPr dirty="0"/>
              <a:t> </a:t>
            </a:r>
            <a:r>
              <a:rPr dirty="0" err="1"/>
              <a:t>في</a:t>
            </a:r>
            <a:r>
              <a:rPr dirty="0"/>
              <a:t> </a:t>
            </a:r>
            <a:r>
              <a:rPr dirty="0" err="1"/>
              <a:t>مساق</a:t>
            </a:r>
            <a:r>
              <a:rPr dirty="0"/>
              <a:t> </a:t>
            </a:r>
            <a:r>
              <a:rPr dirty="0" err="1"/>
              <a:t>إدارة</a:t>
            </a:r>
            <a:r>
              <a:rPr dirty="0"/>
              <a:t> </a:t>
            </a:r>
            <a:r>
              <a:rPr dirty="0" err="1"/>
              <a:t>المنتجات</a:t>
            </a:r>
            <a:r>
              <a:rPr dirty="0"/>
              <a:t> 2026</a:t>
            </a:r>
          </a:p>
          <a:p>
            <a:pPr algn="r">
              <a:spcBef>
                <a:spcPts val="600"/>
              </a:spcBef>
              <a:defRPr sz="1400">
                <a:solidFill>
                  <a:srgbClr val="A0AEC0"/>
                </a:solidFill>
                <a:latin typeface="Arial"/>
              </a:defRPr>
            </a:pPr>
            <a:r>
              <a:rPr dirty="0" err="1"/>
              <a:t>الكلية</a:t>
            </a:r>
            <a:r>
              <a:rPr dirty="0"/>
              <a:t> </a:t>
            </a:r>
            <a:r>
              <a:rPr dirty="0" err="1"/>
              <a:t>الأكاديمية</a:t>
            </a:r>
            <a:r>
              <a:rPr dirty="0"/>
              <a:t> </a:t>
            </a:r>
            <a:r>
              <a:rPr dirty="0" err="1"/>
              <a:t>أونو</a:t>
            </a:r>
            <a:r>
              <a:rPr dirty="0"/>
              <a:t> (OAC)</a:t>
            </a:r>
          </a:p>
          <a:p>
            <a:pPr algn="r">
              <a:spcBef>
                <a:spcPts val="600"/>
              </a:spcBef>
              <a:defRPr sz="1400">
                <a:solidFill>
                  <a:srgbClr val="A0AEC0"/>
                </a:solidFill>
                <a:latin typeface="Arial"/>
              </a:defRPr>
            </a:pPr>
            <a:r>
              <a:rPr dirty="0" err="1"/>
              <a:t>تقديم</a:t>
            </a:r>
            <a:r>
              <a:rPr dirty="0"/>
              <a:t>: </a:t>
            </a:r>
            <a:r>
              <a:rPr dirty="0" err="1"/>
              <a:t>فريق</a:t>
            </a:r>
            <a:r>
              <a:rPr dirty="0"/>
              <a:t> </a:t>
            </a:r>
            <a:r>
              <a:rPr dirty="0" err="1"/>
              <a:t>مشروع</a:t>
            </a:r>
            <a:r>
              <a:rPr dirty="0"/>
              <a:t> </a:t>
            </a:r>
            <a:r>
              <a:rPr dirty="0" err="1"/>
              <a:t>جسر</a:t>
            </a:r>
            <a:r>
              <a:rPr dirty="0"/>
              <a:t> </a:t>
            </a:r>
            <a:r>
              <a:rPr dirty="0" err="1"/>
              <a:t>القدس</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1: تعريف المشكلة والفرضيات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تعريف المشكلة والاحتياج في السوق</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rPr dirty="0" err="1"/>
              <a:t>المشكلة</a:t>
            </a:r>
            <a:r>
              <a:rPr dirty="0"/>
              <a:t> </a:t>
            </a:r>
            <a:r>
              <a:rPr dirty="0" err="1"/>
              <a:t>الرئيسية</a:t>
            </a:r>
            <a:r>
              <a:rPr dirty="0"/>
              <a:t>: </a:t>
            </a:r>
            <a:r>
              <a:rPr dirty="0" err="1"/>
              <a:t>عوائق</a:t>
            </a:r>
            <a:r>
              <a:rPr dirty="0"/>
              <a:t> </a:t>
            </a:r>
            <a:r>
              <a:rPr dirty="0" err="1"/>
              <a:t>حاسمة</a:t>
            </a:r>
            <a:r>
              <a:rPr dirty="0"/>
              <a:t> </a:t>
            </a:r>
            <a:r>
              <a:rPr dirty="0" err="1"/>
              <a:t>في</a:t>
            </a:r>
            <a:r>
              <a:rPr dirty="0"/>
              <a:t> </a:t>
            </a:r>
            <a:r>
              <a:rPr dirty="0" err="1"/>
              <a:t>الوصول</a:t>
            </a:r>
            <a:r>
              <a:rPr dirty="0"/>
              <a:t> </a:t>
            </a:r>
            <a:r>
              <a:rPr dirty="0" err="1"/>
              <a:t>إلى</a:t>
            </a:r>
            <a:r>
              <a:rPr dirty="0"/>
              <a:t> </a:t>
            </a:r>
            <a:r>
              <a:rPr dirty="0" err="1"/>
              <a:t>العدالة</a:t>
            </a:r>
            <a:r>
              <a:rPr dirty="0"/>
              <a:t> </a:t>
            </a:r>
            <a:r>
              <a:rPr dirty="0" err="1"/>
              <a:t>ونيل</a:t>
            </a:r>
            <a:r>
              <a:rPr dirty="0"/>
              <a:t> </a:t>
            </a:r>
            <a:r>
              <a:rPr dirty="0" err="1"/>
              <a:t>التعويضات</a:t>
            </a:r>
            <a:r>
              <a:rPr dirty="0"/>
              <a:t> </a:t>
            </a:r>
            <a:r>
              <a:rPr dirty="0" err="1"/>
              <a:t>الطبية</a:t>
            </a:r>
            <a:r>
              <a:rPr dirty="0"/>
              <a:t> </a:t>
            </a:r>
            <a:r>
              <a:rPr dirty="0" err="1"/>
              <a:t>لعمال</a:t>
            </a:r>
            <a:r>
              <a:rPr dirty="0"/>
              <a:t> </a:t>
            </a:r>
            <a:r>
              <a:rPr dirty="0" err="1"/>
              <a:t>القدس</a:t>
            </a:r>
            <a:r>
              <a:rPr dirty="0"/>
              <a:t> </a:t>
            </a:r>
            <a:r>
              <a:rPr dirty="0" err="1"/>
              <a:t>الشرقية</a:t>
            </a:r>
            <a:r>
              <a:rPr dirty="0"/>
              <a:t> </a:t>
            </a:r>
            <a:r>
              <a:rPr dirty="0" err="1"/>
              <a:t>المصابين</a:t>
            </a:r>
            <a:r>
              <a:rPr dirty="0"/>
              <a:t>.</a:t>
            </a:r>
          </a:p>
          <a:p>
            <a:pPr algn="r">
              <a:spcAft>
                <a:spcPts val="1200"/>
              </a:spcAft>
              <a:defRPr sz="2000" b="1">
                <a:solidFill>
                  <a:srgbClr val="FFFFFF"/>
                </a:solidFill>
                <a:latin typeface="Arial"/>
              </a:defRPr>
            </a:pPr>
            <a:r>
              <a:rPr dirty="0" err="1"/>
              <a:t>نقاط</a:t>
            </a:r>
            <a:r>
              <a:rPr dirty="0"/>
              <a:t> </a:t>
            </a:r>
            <a:r>
              <a:rPr dirty="0" err="1"/>
              <a:t>الألم</a:t>
            </a:r>
            <a:r>
              <a:rPr dirty="0"/>
              <a:t> </a:t>
            </a:r>
            <a:r>
              <a:rPr dirty="0" err="1"/>
              <a:t>الرئيسية</a:t>
            </a:r>
            <a:r>
              <a:rPr dirty="0"/>
              <a:t> </a:t>
            </a:r>
            <a:r>
              <a:rPr dirty="0" err="1"/>
              <a:t>في</a:t>
            </a:r>
            <a:r>
              <a:rPr dirty="0"/>
              <a:t> </a:t>
            </a:r>
            <a:r>
              <a:rPr dirty="0" err="1"/>
              <a:t>السوق</a:t>
            </a:r>
            <a:r>
              <a:rPr dirty="0"/>
              <a:t>:</a:t>
            </a:r>
          </a:p>
          <a:p>
            <a:pPr lvl="1" algn="r">
              <a:spcAft>
                <a:spcPts val="1200"/>
              </a:spcAft>
              <a:defRPr sz="1600">
                <a:solidFill>
                  <a:srgbClr val="A0AEC0"/>
                </a:solidFill>
                <a:latin typeface="Arial"/>
              </a:defRPr>
            </a:pPr>
            <a:r>
              <a:rPr dirty="0" err="1"/>
              <a:t>الخوف</a:t>
            </a:r>
            <a:r>
              <a:rPr dirty="0"/>
              <a:t> </a:t>
            </a:r>
            <a:r>
              <a:rPr dirty="0" err="1"/>
              <a:t>المالي</a:t>
            </a:r>
            <a:r>
              <a:rPr dirty="0"/>
              <a:t>: </a:t>
            </a:r>
            <a:r>
              <a:rPr dirty="0" err="1"/>
              <a:t>خوف</a:t>
            </a:r>
            <a:r>
              <a:rPr dirty="0"/>
              <a:t> </a:t>
            </a:r>
            <a:r>
              <a:rPr dirty="0" err="1"/>
              <a:t>العمال</a:t>
            </a:r>
            <a:r>
              <a:rPr dirty="0"/>
              <a:t> </a:t>
            </a:r>
            <a:r>
              <a:rPr dirty="0" err="1"/>
              <a:t>المستمر</a:t>
            </a:r>
            <a:r>
              <a:rPr dirty="0"/>
              <a:t> </a:t>
            </a:r>
            <a:r>
              <a:rPr dirty="0" err="1"/>
              <a:t>من</a:t>
            </a:r>
            <a:r>
              <a:rPr dirty="0"/>
              <a:t> </a:t>
            </a:r>
            <a:r>
              <a:rPr dirty="0" err="1"/>
              <a:t>تكاليف</a:t>
            </a:r>
            <a:r>
              <a:rPr dirty="0"/>
              <a:t> </a:t>
            </a:r>
            <a:r>
              <a:rPr dirty="0" err="1"/>
              <a:t>الاستشارة</a:t>
            </a:r>
            <a:r>
              <a:rPr dirty="0"/>
              <a:t> </a:t>
            </a:r>
            <a:r>
              <a:rPr dirty="0" err="1"/>
              <a:t>القانونية</a:t>
            </a:r>
            <a:r>
              <a:rPr dirty="0"/>
              <a:t> </a:t>
            </a:r>
            <a:r>
              <a:rPr dirty="0" err="1"/>
              <a:t>المرتفعة</a:t>
            </a:r>
            <a:r>
              <a:rPr dirty="0"/>
              <a:t> </a:t>
            </a:r>
            <a:r>
              <a:rPr dirty="0" err="1"/>
              <a:t>مسبقاً</a:t>
            </a:r>
            <a:r>
              <a:rPr dirty="0"/>
              <a:t>.</a:t>
            </a:r>
          </a:p>
          <a:p>
            <a:pPr lvl="1" algn="r">
              <a:spcAft>
                <a:spcPts val="1200"/>
              </a:spcAft>
              <a:defRPr sz="1600">
                <a:solidFill>
                  <a:srgbClr val="A0AEC0"/>
                </a:solidFill>
                <a:latin typeface="Arial"/>
              </a:defRPr>
            </a:pPr>
            <a:r>
              <a:rPr dirty="0" err="1"/>
              <a:t>حاجز</a:t>
            </a:r>
            <a:r>
              <a:rPr dirty="0"/>
              <a:t> </a:t>
            </a:r>
            <a:r>
              <a:rPr dirty="0" err="1"/>
              <a:t>اللغة</a:t>
            </a:r>
            <a:r>
              <a:rPr dirty="0"/>
              <a:t> </a:t>
            </a:r>
            <a:r>
              <a:rPr dirty="0" err="1"/>
              <a:t>والثقافة</a:t>
            </a:r>
            <a:r>
              <a:rPr dirty="0"/>
              <a:t>: </a:t>
            </a:r>
            <a:r>
              <a:rPr dirty="0" err="1"/>
              <a:t>القوانين</a:t>
            </a:r>
            <a:r>
              <a:rPr dirty="0"/>
              <a:t> </a:t>
            </a:r>
            <a:r>
              <a:rPr dirty="0" err="1"/>
              <a:t>والمعلومات</a:t>
            </a:r>
            <a:r>
              <a:rPr dirty="0"/>
              <a:t> </a:t>
            </a:r>
            <a:r>
              <a:rPr dirty="0" err="1"/>
              <a:t>مكتوبة</a:t>
            </a:r>
            <a:r>
              <a:rPr dirty="0"/>
              <a:t> </a:t>
            </a:r>
            <a:r>
              <a:rPr dirty="0" err="1"/>
              <a:t>باللغة</a:t>
            </a:r>
            <a:r>
              <a:rPr dirty="0"/>
              <a:t> </a:t>
            </a:r>
            <a:r>
              <a:rPr dirty="0" err="1"/>
              <a:t>العبرية</a:t>
            </a:r>
            <a:r>
              <a:rPr dirty="0"/>
              <a:t> </a:t>
            </a:r>
            <a:r>
              <a:rPr dirty="0" err="1"/>
              <a:t>القانونية</a:t>
            </a:r>
            <a:r>
              <a:rPr dirty="0"/>
              <a:t> </a:t>
            </a:r>
            <a:r>
              <a:rPr dirty="0" err="1"/>
              <a:t>المعقدة</a:t>
            </a:r>
            <a:r>
              <a:rPr dirty="0"/>
              <a:t> </a:t>
            </a:r>
            <a:r>
              <a:rPr dirty="0" err="1"/>
              <a:t>فقط</a:t>
            </a:r>
            <a:r>
              <a:rPr dirty="0"/>
              <a:t>.</a:t>
            </a:r>
          </a:p>
          <a:p>
            <a:pPr lvl="1" algn="r">
              <a:spcAft>
                <a:spcPts val="1200"/>
              </a:spcAft>
              <a:defRPr sz="1600">
                <a:solidFill>
                  <a:srgbClr val="A0AEC0"/>
                </a:solidFill>
                <a:latin typeface="Arial"/>
              </a:defRPr>
            </a:pPr>
            <a:r>
              <a:rPr dirty="0" err="1"/>
              <a:t>الخوف</a:t>
            </a:r>
            <a:r>
              <a:rPr dirty="0"/>
              <a:t> </a:t>
            </a:r>
            <a:r>
              <a:rPr dirty="0" err="1"/>
              <a:t>الشخصي</a:t>
            </a:r>
            <a:r>
              <a:rPr dirty="0"/>
              <a:t> </a:t>
            </a:r>
            <a:r>
              <a:rPr dirty="0" err="1"/>
              <a:t>والوظيفي</a:t>
            </a:r>
            <a:r>
              <a:rPr dirty="0"/>
              <a:t>: </a:t>
            </a:r>
            <a:r>
              <a:rPr dirty="0" err="1"/>
              <a:t>خوف</a:t>
            </a:r>
            <a:r>
              <a:rPr dirty="0"/>
              <a:t> </a:t>
            </a:r>
            <a:r>
              <a:rPr dirty="0" err="1"/>
              <a:t>الفلاحين</a:t>
            </a:r>
            <a:r>
              <a:rPr dirty="0"/>
              <a:t> </a:t>
            </a:r>
            <a:r>
              <a:rPr dirty="0" err="1"/>
              <a:t>والعمال</a:t>
            </a:r>
            <a:r>
              <a:rPr dirty="0"/>
              <a:t> </a:t>
            </a:r>
            <a:r>
              <a:rPr dirty="0" err="1"/>
              <a:t>من</a:t>
            </a:r>
            <a:r>
              <a:rPr dirty="0"/>
              <a:t> </a:t>
            </a:r>
            <a:r>
              <a:rPr dirty="0" err="1"/>
              <a:t>الفصل</a:t>
            </a:r>
            <a:r>
              <a:rPr dirty="0"/>
              <a:t> </a:t>
            </a:r>
            <a:r>
              <a:rPr dirty="0" err="1"/>
              <a:t>أو</a:t>
            </a:r>
            <a:r>
              <a:rPr dirty="0"/>
              <a:t> </a:t>
            </a:r>
            <a:r>
              <a:rPr dirty="0" err="1"/>
              <a:t>التعرض</a:t>
            </a:r>
            <a:r>
              <a:rPr dirty="0"/>
              <a:t> </a:t>
            </a:r>
            <a:r>
              <a:rPr dirty="0" err="1"/>
              <a:t>للمضايقات</a:t>
            </a:r>
            <a:r>
              <a:rPr dirty="0"/>
              <a:t> </a:t>
            </a:r>
            <a:r>
              <a:rPr dirty="0" err="1"/>
              <a:t>عند</a:t>
            </a:r>
            <a:r>
              <a:rPr dirty="0"/>
              <a:t> </a:t>
            </a:r>
            <a:r>
              <a:rPr dirty="0" err="1"/>
              <a:t>رفع</a:t>
            </a:r>
            <a:r>
              <a:rPr dirty="0"/>
              <a:t> </a:t>
            </a:r>
            <a:r>
              <a:rPr dirty="0" err="1"/>
              <a:t>قضية</a:t>
            </a:r>
            <a:r>
              <a:rPr dirty="0"/>
              <a:t>.</a:t>
            </a:r>
          </a:p>
          <a:p>
            <a:pPr lvl="1" algn="r">
              <a:spcAft>
                <a:spcPts val="1200"/>
              </a:spcAft>
              <a:defRPr sz="1600">
                <a:solidFill>
                  <a:srgbClr val="A0AEC0"/>
                </a:solidFill>
                <a:latin typeface="Arial"/>
              </a:defRPr>
            </a:pPr>
            <a:r>
              <a:rPr dirty="0" err="1"/>
              <a:t>التعقيد</a:t>
            </a:r>
            <a:r>
              <a:rPr dirty="0"/>
              <a:t> </a:t>
            </a:r>
            <a:r>
              <a:rPr dirty="0" err="1"/>
              <a:t>البيروقراطي</a:t>
            </a:r>
            <a:r>
              <a:rPr dirty="0"/>
              <a:t>: </a:t>
            </a:r>
            <a:r>
              <a:rPr dirty="0" err="1"/>
              <a:t>صعوبة</a:t>
            </a:r>
            <a:r>
              <a:rPr dirty="0"/>
              <a:t> </a:t>
            </a:r>
            <a:r>
              <a:rPr dirty="0" err="1"/>
              <a:t>جمع</a:t>
            </a:r>
            <a:r>
              <a:rPr dirty="0"/>
              <a:t> </a:t>
            </a:r>
            <a:r>
              <a:rPr dirty="0" err="1"/>
              <a:t>وفهم</a:t>
            </a:r>
            <a:r>
              <a:rPr dirty="0"/>
              <a:t> </a:t>
            </a:r>
            <a:r>
              <a:rPr dirty="0" err="1"/>
              <a:t>التقارير</a:t>
            </a:r>
            <a:r>
              <a:rPr dirty="0"/>
              <a:t> </a:t>
            </a:r>
            <a:r>
              <a:rPr dirty="0" err="1"/>
              <a:t>والمستندات</a:t>
            </a:r>
            <a:r>
              <a:rPr dirty="0"/>
              <a:t> </a:t>
            </a:r>
            <a:r>
              <a:rPr dirty="0" err="1"/>
              <a:t>الطبية</a:t>
            </a:r>
            <a:r>
              <a:rPr dirty="0"/>
              <a:t> </a:t>
            </a:r>
            <a:r>
              <a:rPr dirty="0" err="1"/>
              <a:t>المطلوبة</a:t>
            </a:r>
            <a:r>
              <a:rPr dirty="0"/>
              <a:t> </a:t>
            </a:r>
            <a:r>
              <a:rPr dirty="0" err="1"/>
              <a:t>بعد</a:t>
            </a:r>
            <a:r>
              <a:rPr dirty="0"/>
              <a:t> </a:t>
            </a:r>
            <a:r>
              <a:rPr dirty="0" err="1"/>
              <a:t>الإصابة</a:t>
            </a:r>
            <a:r>
              <a:rPr dirty="0"/>
              <a:t> </a:t>
            </a:r>
            <a:r>
              <a:rPr dirty="0" err="1"/>
              <a:t>مباشرة</a:t>
            </a:r>
            <a:r>
              <a:rPr dirty="0"/>
              <a:t>.</a:t>
            </a:r>
          </a:p>
          <a:p>
            <a:pPr algn="r">
              <a:spcAft>
                <a:spcPts val="1200"/>
              </a:spcAft>
              <a:defRPr sz="2000" b="1">
                <a:solidFill>
                  <a:srgbClr val="FFFFFF"/>
                </a:solidFill>
                <a:latin typeface="Arial"/>
              </a:defRPr>
            </a:pPr>
            <a:r>
              <a:rPr dirty="0" err="1"/>
              <a:t>الفرضيات</a:t>
            </a:r>
            <a:r>
              <a:rPr dirty="0"/>
              <a:t> </a:t>
            </a:r>
            <a:r>
              <a:rPr dirty="0" err="1"/>
              <a:t>الأساسية</a:t>
            </a:r>
            <a:r>
              <a:rPr dirty="0"/>
              <a:t> </a:t>
            </a:r>
            <a:r>
              <a:rPr dirty="0" err="1"/>
              <a:t>التي</a:t>
            </a:r>
            <a:r>
              <a:rPr dirty="0"/>
              <a:t> </a:t>
            </a:r>
            <a:r>
              <a:rPr dirty="0" err="1"/>
              <a:t>تم</a:t>
            </a:r>
            <a:r>
              <a:rPr dirty="0"/>
              <a:t> </a:t>
            </a:r>
            <a:r>
              <a:rPr dirty="0" err="1"/>
              <a:t>تبنيها</a:t>
            </a:r>
            <a:r>
              <a:rPr dirty="0"/>
              <a:t> </a:t>
            </a:r>
            <a:r>
              <a:rPr dirty="0" err="1"/>
              <a:t>في</a:t>
            </a:r>
            <a:r>
              <a:rPr dirty="0"/>
              <a:t> </a:t>
            </a:r>
            <a:r>
              <a:rPr dirty="0" err="1"/>
              <a:t>بداية</a:t>
            </a:r>
            <a:r>
              <a:rPr dirty="0"/>
              <a:t> </a:t>
            </a:r>
            <a:r>
              <a:rPr dirty="0" err="1"/>
              <a:t>المشروع</a:t>
            </a:r>
            <a:r>
              <a:rPr dirty="0"/>
              <a:t> (Hypotheses):</a:t>
            </a:r>
          </a:p>
          <a:p>
            <a:pPr lvl="1" algn="r">
              <a:spcAft>
                <a:spcPts val="1200"/>
              </a:spcAft>
              <a:defRPr sz="1600">
                <a:solidFill>
                  <a:srgbClr val="A0AEC0"/>
                </a:solidFill>
                <a:latin typeface="Arial"/>
              </a:defRPr>
            </a:pPr>
            <a:r>
              <a:rPr dirty="0" err="1"/>
              <a:t>فرضية</a:t>
            </a:r>
            <a:r>
              <a:rPr dirty="0"/>
              <a:t> </a:t>
            </a:r>
            <a:r>
              <a:rPr dirty="0" err="1"/>
              <a:t>القيمة</a:t>
            </a:r>
            <a:r>
              <a:rPr dirty="0"/>
              <a:t> (Value): </a:t>
            </a:r>
            <a:r>
              <a:rPr dirty="0" err="1"/>
              <a:t>توفير</a:t>
            </a:r>
            <a:r>
              <a:rPr dirty="0"/>
              <a:t> </a:t>
            </a:r>
            <a:r>
              <a:rPr dirty="0" err="1"/>
              <a:t>استبيان</a:t>
            </a:r>
            <a:r>
              <a:rPr dirty="0"/>
              <a:t> </a:t>
            </a:r>
            <a:r>
              <a:rPr dirty="0" err="1"/>
              <a:t>رقمي</a:t>
            </a:r>
            <a:r>
              <a:rPr dirty="0"/>
              <a:t> </a:t>
            </a:r>
            <a:r>
              <a:rPr dirty="0" err="1"/>
              <a:t>تفاعلي</a:t>
            </a:r>
            <a:r>
              <a:rPr dirty="0"/>
              <a:t> </a:t>
            </a:r>
            <a:r>
              <a:rPr dirty="0" err="1"/>
              <a:t>بلغة</a:t>
            </a:r>
            <a:r>
              <a:rPr dirty="0"/>
              <a:t> </a:t>
            </a:r>
            <a:r>
              <a:rPr dirty="0" err="1"/>
              <a:t>الأم</a:t>
            </a:r>
            <a:r>
              <a:rPr dirty="0"/>
              <a:t> </a:t>
            </a:r>
            <a:r>
              <a:rPr dirty="0" err="1"/>
              <a:t>ومجاناً</a:t>
            </a:r>
            <a:r>
              <a:rPr dirty="0"/>
              <a:t> </a:t>
            </a:r>
            <a:r>
              <a:rPr dirty="0" err="1"/>
              <a:t>سيزيد</a:t>
            </a:r>
            <a:r>
              <a:rPr dirty="0"/>
              <a:t> </a:t>
            </a:r>
            <a:r>
              <a:rPr dirty="0" err="1"/>
              <a:t>من</a:t>
            </a:r>
            <a:r>
              <a:rPr dirty="0"/>
              <a:t> </a:t>
            </a:r>
            <a:r>
              <a:rPr dirty="0" err="1"/>
              <a:t>التجاوب</a:t>
            </a:r>
            <a:r>
              <a:rPr dirty="0"/>
              <a:t> </a:t>
            </a:r>
            <a:r>
              <a:rPr dirty="0" err="1"/>
              <a:t>بنسبة</a:t>
            </a:r>
            <a:r>
              <a:rPr dirty="0"/>
              <a:t> 40%.</a:t>
            </a:r>
          </a:p>
          <a:p>
            <a:pPr lvl="1" algn="r">
              <a:spcAft>
                <a:spcPts val="1200"/>
              </a:spcAft>
              <a:defRPr sz="1600">
                <a:solidFill>
                  <a:srgbClr val="A0AEC0"/>
                </a:solidFill>
                <a:latin typeface="Arial"/>
              </a:defRPr>
            </a:pPr>
            <a:r>
              <a:rPr dirty="0" err="1"/>
              <a:t>فرضية</a:t>
            </a:r>
            <a:r>
              <a:rPr dirty="0"/>
              <a:t> </a:t>
            </a:r>
            <a:r>
              <a:rPr dirty="0" err="1"/>
              <a:t>سهولة</a:t>
            </a:r>
            <a:r>
              <a:rPr dirty="0"/>
              <a:t> </a:t>
            </a:r>
            <a:r>
              <a:rPr dirty="0" err="1"/>
              <a:t>الاستخدام</a:t>
            </a:r>
            <a:r>
              <a:rPr dirty="0"/>
              <a:t> (Usability): </a:t>
            </a:r>
            <a:r>
              <a:rPr dirty="0" err="1"/>
              <a:t>واجهة</a:t>
            </a:r>
            <a:r>
              <a:rPr dirty="0"/>
              <a:t> </a:t>
            </a:r>
            <a:r>
              <a:rPr dirty="0" err="1"/>
              <a:t>الإدخال</a:t>
            </a:r>
            <a:r>
              <a:rPr dirty="0"/>
              <a:t> </a:t>
            </a:r>
            <a:r>
              <a:rPr dirty="0" err="1"/>
              <a:t>والتسجيل</a:t>
            </a:r>
            <a:r>
              <a:rPr dirty="0"/>
              <a:t> </a:t>
            </a:r>
            <a:r>
              <a:rPr dirty="0" err="1"/>
              <a:t>الصوتي</a:t>
            </a:r>
            <a:r>
              <a:rPr dirty="0"/>
              <a:t> (Voice-to-Text) </a:t>
            </a:r>
            <a:r>
              <a:rPr dirty="0" err="1"/>
              <a:t>ستمنع</a:t>
            </a:r>
            <a:r>
              <a:rPr dirty="0"/>
              <a:t> </a:t>
            </a:r>
            <a:r>
              <a:rPr dirty="0" err="1"/>
              <a:t>الهجر</a:t>
            </a:r>
            <a:r>
              <a:rPr dirty="0"/>
              <a:t> </a:t>
            </a:r>
            <a:r>
              <a:rPr dirty="0" err="1"/>
              <a:t>وصعوبة</a:t>
            </a:r>
            <a:r>
              <a:rPr dirty="0"/>
              <a:t> </a:t>
            </a:r>
            <a:r>
              <a:rPr dirty="0" err="1"/>
              <a:t>الكتابة</a:t>
            </a:r>
            <a:r>
              <a:rPr dirty="0"/>
              <a:t>.</a:t>
            </a:r>
          </a:p>
          <a:p>
            <a:pPr lvl="1" algn="r">
              <a:spcAft>
                <a:spcPts val="1200"/>
              </a:spcAft>
              <a:defRPr sz="1600">
                <a:solidFill>
                  <a:srgbClr val="A0AEC0"/>
                </a:solidFill>
                <a:latin typeface="Arial"/>
              </a:defRPr>
            </a:pPr>
            <a:r>
              <a:rPr dirty="0" err="1"/>
              <a:t>فرضية</a:t>
            </a:r>
            <a:r>
              <a:rPr dirty="0"/>
              <a:t> </a:t>
            </a:r>
            <a:r>
              <a:rPr dirty="0" err="1"/>
              <a:t>البقاء</a:t>
            </a:r>
            <a:r>
              <a:rPr dirty="0"/>
              <a:t> </a:t>
            </a:r>
            <a:r>
              <a:rPr dirty="0" err="1"/>
              <a:t>التجاري</a:t>
            </a:r>
            <a:r>
              <a:rPr dirty="0"/>
              <a:t> (Viability): </a:t>
            </a:r>
            <a:r>
              <a:rPr dirty="0" err="1"/>
              <a:t>مبدأ</a:t>
            </a:r>
            <a:r>
              <a:rPr dirty="0"/>
              <a:t> '</a:t>
            </a:r>
            <a:r>
              <a:rPr dirty="0" err="1"/>
              <a:t>الدفع</a:t>
            </a:r>
            <a:r>
              <a:rPr dirty="0"/>
              <a:t> </a:t>
            </a:r>
            <a:r>
              <a:rPr dirty="0" err="1"/>
              <a:t>عند</a:t>
            </a:r>
            <a:r>
              <a:rPr dirty="0"/>
              <a:t> </a:t>
            </a:r>
            <a:r>
              <a:rPr dirty="0" err="1"/>
              <a:t>النجاح</a:t>
            </a:r>
            <a:r>
              <a:rPr dirty="0"/>
              <a:t> </a:t>
            </a:r>
            <a:r>
              <a:rPr dirty="0" err="1"/>
              <a:t>فقط</a:t>
            </a:r>
            <a:r>
              <a:rPr dirty="0"/>
              <a:t>' (No Win = No Fee) </a:t>
            </a:r>
            <a:r>
              <a:rPr dirty="0" err="1"/>
              <a:t>سيزيل</a:t>
            </a:r>
            <a:r>
              <a:rPr dirty="0"/>
              <a:t> </a:t>
            </a:r>
            <a:r>
              <a:rPr dirty="0" err="1"/>
              <a:t>الخوف</a:t>
            </a:r>
            <a:r>
              <a:rPr dirty="0"/>
              <a:t> </a:t>
            </a:r>
            <a:r>
              <a:rPr dirty="0" err="1"/>
              <a:t>المالي</a:t>
            </a:r>
            <a:r>
              <a:rPr dirty="0"/>
              <a:t> </a:t>
            </a:r>
            <a:r>
              <a:rPr dirty="0" err="1"/>
              <a:t>تماماً</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2: ملخص بحث المستخدمين والرؤى المستخلصة</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نماذج المستخدمين (Personas) والـ JTBD وقصص المستخدم</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نماذج العملاء المستهدفين (Personas):</a:t>
            </a:r>
          </a:p>
          <a:p>
            <a:pPr lvl="1" algn="r">
              <a:spcAft>
                <a:spcPts val="1200"/>
              </a:spcAft>
              <a:defRPr sz="1600">
                <a:solidFill>
                  <a:srgbClr val="A0AEC0"/>
                </a:solidFill>
                <a:latin typeface="Arial"/>
              </a:defRPr>
            </a:pPr>
            <a:r>
              <a:t>عادل (عامل بناء مصاب، 42 عاماً، العيساوية): لغته العبرية ضعيفة، متخوف من التكاليف، يستخدم الهاتف فقط.</a:t>
            </a:r>
          </a:p>
          <a:p>
            <a:pPr lvl="1" algn="r">
              <a:spcAft>
                <a:spcPts val="1200"/>
              </a:spcAft>
              <a:defRPr sz="1600">
                <a:solidFill>
                  <a:srgbClr val="A0AEC0"/>
                </a:solidFill>
                <a:latin typeface="Arial"/>
              </a:defRPr>
            </a:pPr>
            <a:r>
              <a:t>المحامي يوسف (شريك في مكتب تعويضات، 35 عاماً): يضيع 60% من وقته في التصفية اليدوية لقضايا لا أمل قانوني فيها.</a:t>
            </a:r>
          </a:p>
          <a:p>
            <a:pPr algn="r">
              <a:spcAft>
                <a:spcPts val="1200"/>
              </a:spcAft>
              <a:defRPr sz="2000" b="1">
                <a:solidFill>
                  <a:srgbClr val="FFFFFF"/>
                </a:solidFill>
                <a:latin typeface="Arial"/>
              </a:defRPr>
            </a:pPr>
            <a:r>
              <a:t>تحليل المهام المطلوبة للمستخدمين (Jobs-To-Be-Done):</a:t>
            </a:r>
          </a:p>
          <a:p>
            <a:pPr lvl="1" algn="r">
              <a:spcAft>
                <a:spcPts val="1200"/>
              </a:spcAft>
              <a:defRPr sz="1600">
                <a:solidFill>
                  <a:srgbClr val="A0AEC0"/>
                </a:solidFill>
                <a:latin typeface="Arial"/>
              </a:defRPr>
            </a:pPr>
            <a:r>
              <a:t>المهمة 1 (فحص الأهلية): الحصول على تقييم فوري لأهلية القضية خلال دقيقتين بلمسة واحدة من هاتف العميل بالمنزل.</a:t>
            </a:r>
          </a:p>
          <a:p>
            <a:pPr lvl="1" algn="r">
              <a:spcAft>
                <a:spcPts val="1200"/>
              </a:spcAft>
              <a:defRPr sz="1600">
                <a:solidFill>
                  <a:srgbClr val="A0AEC0"/>
                </a:solidFill>
                <a:latin typeface="Arial"/>
              </a:defRPr>
            </a:pPr>
            <a:r>
              <a:t>المهمة 2 (مشاركة التفاصيل): شرح ملابسات الحادثة صوتياً بلغة الأم مع تحكم مطلق بالخصوصية (خيار مسح الملف).</a:t>
            </a:r>
          </a:p>
          <a:p>
            <a:pPr algn="r">
              <a:spcAft>
                <a:spcPts val="1200"/>
              </a:spcAft>
              <a:defRPr sz="2000" b="1">
                <a:solidFill>
                  <a:srgbClr val="FFFFFF"/>
                </a:solidFill>
                <a:latin typeface="Arial"/>
              </a:defRPr>
            </a:pPr>
            <a:r>
              <a:t>قصة المستخدم الأساسية (User Story):</a:t>
            </a:r>
          </a:p>
          <a:p>
            <a:pPr lvl="1" algn="r">
              <a:spcAft>
                <a:spcPts val="1200"/>
              </a:spcAft>
              <a:defRPr sz="1600">
                <a:solidFill>
                  <a:srgbClr val="A0AEC0"/>
                </a:solidFill>
                <a:latin typeface="Arial"/>
              </a:defRPr>
            </a:pPr>
            <a:r>
              <a:t>بصفتي عاملاً مصاباً لا يتقن اللغة العبرية، عندما أكون مستلقياً في المنزل بعد حادثة عمل، أريد إجابة استبيان تفاعلي باللغة العربية، لأعرف فوراً فرصة حصولي على تعويض دون التزامات مالية مسبقة.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3: ملخص دراسة السوق والتوجهات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الحلول الحالية في السوق، التوجهات التقنية وتحليل SWOT</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الحلول الحالية في السوق والفجوات الرئيسية:</a:t>
            </a:r>
          </a:p>
          <a:p>
            <a:pPr lvl="1" algn="r">
              <a:spcAft>
                <a:spcPts val="1200"/>
              </a:spcAft>
              <a:defRPr sz="1600">
                <a:solidFill>
                  <a:srgbClr val="A0AEC0"/>
                </a:solidFill>
                <a:latin typeface="Arial"/>
              </a:defRPr>
            </a:pPr>
            <a:r>
              <a:t>النماذج الثابتة بالمواقع: باللغة العبرية فقط، طويلة ومعقدة، تؤدي لمعدل هجر يفوق 70% على الهواتف.</a:t>
            </a:r>
          </a:p>
          <a:p>
            <a:pPr lvl="1" algn="r">
              <a:spcAft>
                <a:spcPts val="1200"/>
              </a:spcAft>
              <a:defRPr sz="1600">
                <a:solidFill>
                  <a:srgbClr val="A0AEC0"/>
                </a:solidFill>
                <a:latin typeface="Arial"/>
              </a:defRPr>
            </a:pPr>
            <a:r>
              <a:t>الزيارات الفعلية للمكاتب: عائق نفسي ومالي كبير، وتتطلب مصاريف مواصلات وتنسيق مواعيد مسبق.</a:t>
            </a:r>
          </a:p>
          <a:p>
            <a:pPr lvl="1" algn="r">
              <a:spcAft>
                <a:spcPts val="1200"/>
              </a:spcAft>
              <a:defRPr sz="1600">
                <a:solidFill>
                  <a:srgbClr val="A0AEC0"/>
                </a:solidFill>
                <a:latin typeface="Arial"/>
              </a:defRPr>
            </a:pPr>
            <a:r>
              <a:t>الفجوة في السوق: غياب حل تفاعلي مرن داعم للهواتف الذكية، ثنائي اللغة مع إدخال صوتي مدمج لقضايا الإصابات.</a:t>
            </a:r>
          </a:p>
          <a:p>
            <a:pPr algn="r">
              <a:spcAft>
                <a:spcPts val="1200"/>
              </a:spcAft>
              <a:defRPr sz="2000" b="1">
                <a:solidFill>
                  <a:srgbClr val="FFFFFF"/>
                </a:solidFill>
                <a:latin typeface="Arial"/>
              </a:defRPr>
            </a:pPr>
            <a:r>
              <a:t>التوجهات التقنية الرائدة (LegalTech &amp; AI):</a:t>
            </a:r>
          </a:p>
          <a:p>
            <a:pPr lvl="1" algn="r">
              <a:spcAft>
                <a:spcPts val="1200"/>
              </a:spcAft>
              <a:defRPr sz="1600">
                <a:solidFill>
                  <a:srgbClr val="A0AEC0"/>
                </a:solidFill>
                <a:latin typeface="Arial"/>
              </a:defRPr>
            </a:pPr>
            <a:r>
              <a:t>Conversational Intake: تحول المكاتب العالمية من النماذج الكلاسيكية إلى الدردشة التفاعلية لتسهيل جمع البيانات.</a:t>
            </a:r>
          </a:p>
          <a:p>
            <a:pPr lvl="1" algn="r">
              <a:spcAft>
                <a:spcPts val="1200"/>
              </a:spcAft>
              <a:defRPr sz="1600">
                <a:solidFill>
                  <a:srgbClr val="A0AEC0"/>
                </a:solidFill>
                <a:latin typeface="Arial"/>
              </a:defRPr>
            </a:pPr>
            <a:r>
              <a:t>Voice User Interfaces: انتشار الواجهات الصوتية لخدمة الفئات العمالية التي تواجه صعوبة في الكتابة.</a:t>
            </a:r>
          </a:p>
          <a:p>
            <a:pPr algn="r">
              <a:spcAft>
                <a:spcPts val="1200"/>
              </a:spcAft>
              <a:defRPr sz="2000" b="1">
                <a:solidFill>
                  <a:srgbClr val="FFFFFF"/>
                </a:solidFill>
                <a:latin typeface="Arial"/>
              </a:defRPr>
            </a:pPr>
            <a:r>
              <a:t>تحليل SWOT للمشروع:</a:t>
            </a:r>
          </a:p>
          <a:p>
            <a:pPr lvl="1" algn="r">
              <a:spcAft>
                <a:spcPts val="1200"/>
              </a:spcAft>
              <a:defRPr sz="1600">
                <a:solidFill>
                  <a:srgbClr val="A0AEC0"/>
                </a:solidFill>
                <a:latin typeface="Arial"/>
              </a:defRPr>
            </a:pPr>
            <a:r>
              <a:t>نقاط القوة (S): دعم ثنائي اللغة متكامل، تحويل الصوت لنصوص، توجيه وتخصيص ذكي للأسئلة.</a:t>
            </a:r>
          </a:p>
          <a:p>
            <a:pPr lvl="1" algn="r">
              <a:spcAft>
                <a:spcPts val="1200"/>
              </a:spcAft>
              <a:defRPr sz="1600">
                <a:solidFill>
                  <a:srgbClr val="A0AEC0"/>
                </a:solidFill>
                <a:latin typeface="Arial"/>
              </a:defRPr>
            </a:pPr>
            <a:r>
              <a:t>نقاط الضعف (W): اعتماد العميل الكامل على جودة اتصال الإنترنت في هاتف المحمول.</a:t>
            </a:r>
          </a:p>
          <a:p>
            <a:pPr lvl="1" algn="r">
              <a:spcAft>
                <a:spcPts val="1200"/>
              </a:spcAft>
              <a:defRPr sz="1600">
                <a:solidFill>
                  <a:srgbClr val="A0AEC0"/>
                </a:solidFill>
                <a:latin typeface="Arial"/>
              </a:defRPr>
            </a:pPr>
            <a:r>
              <a:t>الفرص (O): دمج الخدمة مع WhatsApp Business API للوصول إلى أكبر شريحة عمالية ممكنة.</a:t>
            </a:r>
          </a:p>
          <a:p>
            <a:pPr lvl="1" algn="r">
              <a:spcAft>
                <a:spcPts val="1200"/>
              </a:spcAft>
              <a:defRPr sz="1600">
                <a:solidFill>
                  <a:srgbClr val="A0AEC0"/>
                </a:solidFill>
                <a:latin typeface="Arial"/>
              </a:defRPr>
            </a:pPr>
            <a:r>
              <a:t>التهديدات (T): قيام مكاتب المحاماة الكبرى بنسخ الفكرة التقنية أو حدوث تغييرات في قوانين التأمين.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4: رؤية المنتج وقيمة العرض الفريدة</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الرؤية، وقيمة العرض الفريدة (UVP) وتثبيت الفرضيات</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رؤية المنتج: إزالة عوائق اللغة والخوف المالي ليكون المنصة الرقمية الأكثر أماناً وموثوقية لربط المصابين بالقدس بحقوقهم والتعويضات العادلة.</a:t>
            </a:r>
          </a:p>
          <a:p>
            <a:pPr algn="r">
              <a:spcAft>
                <a:spcPts val="1200"/>
              </a:spcAft>
              <a:defRPr sz="2000" b="1">
                <a:solidFill>
                  <a:srgbClr val="FFFFFF"/>
                </a:solidFill>
                <a:latin typeface="Arial"/>
              </a:defRPr>
            </a:pPr>
            <a:r>
              <a:t>قيمة العرض الفريدة (Unique Value Proposition):</a:t>
            </a:r>
          </a:p>
          <a:p>
            <a:pPr lvl="1" algn="r">
              <a:spcAft>
                <a:spcPts val="1200"/>
              </a:spcAft>
              <a:defRPr sz="1600">
                <a:solidFill>
                  <a:srgbClr val="A0AEC0"/>
                </a:solidFill>
                <a:latin typeface="Arial"/>
              </a:defRPr>
            </a:pPr>
            <a:r>
              <a:t>فحص وتقييم أهلية التعويض القانوني خلال دقيקתين فقط، بلغة الأم الخاصة بك، مجاناً وبدون التزامات مسبقة – مع تحكم كامل بخصوصية بياناتك.</a:t>
            </a:r>
          </a:p>
          <a:p>
            <a:pPr algn="r">
              <a:spcAft>
                <a:spcPts val="1200"/>
              </a:spcAft>
              <a:defRPr sz="2000" b="1">
                <a:solidFill>
                  <a:srgbClr val="FFFFFF"/>
                </a:solidFill>
                <a:latin typeface="Arial"/>
              </a:defRPr>
            </a:pPr>
            <a:r>
              <a:t>التحقق من الفرضيات وتثبيتها من خلال البحث (Validation):</a:t>
            </a:r>
          </a:p>
          <a:p>
            <a:pPr lvl="1" algn="r">
              <a:spcAft>
                <a:spcPts val="1200"/>
              </a:spcAft>
              <a:defRPr sz="1600">
                <a:solidFill>
                  <a:srgbClr val="A0AEC0"/>
                </a:solidFill>
                <a:latin typeface="Arial"/>
              </a:defRPr>
            </a:pPr>
            <a:r>
              <a:t>فرضية 1 (طلب رقم الهاتف في النهاية): أثبتت صحتها كعامل مانع لهجر الاستبيان وزيادة معدل الثقة.</a:t>
            </a:r>
          </a:p>
          <a:p>
            <a:pPr lvl="1" algn="r">
              <a:spcAft>
                <a:spcPts val="1200"/>
              </a:spcAft>
              <a:defRPr sz="1600">
                <a:solidFill>
                  <a:srgbClr val="A0AEC0"/>
                </a:solidFill>
                <a:latin typeface="Arial"/>
              </a:defRPr>
            </a:pPr>
            <a:r>
              <a:t>فرضية 2 (تفضيل الصوت على الكتابة): أثبتت صحتها بتسهيل إدخال البيانات للعمال وتقليل عقبات تعبئة التقارير.</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5: نموذج العمل التجاري Canvas (المراحل 1-4 فقط)</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تحليل المراحل الأربعة الأساسية لنموذج العمل التجاري (BMC)</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1. شرائح العملاء (Customer Segments):</a:t>
            </a:r>
          </a:p>
          <a:p>
            <a:pPr lvl="1" algn="r">
              <a:spcAft>
                <a:spcPts val="1200"/>
              </a:spcAft>
              <a:defRPr sz="1600">
                <a:solidFill>
                  <a:srgbClr val="A0AEC0"/>
                </a:solidFill>
                <a:latin typeface="Arial"/>
              </a:defRPr>
            </a:pPr>
            <a:r>
              <a:t>العمال والمصابون في القدس الشرقية المتحدثون بالعربية أو العبرية.</a:t>
            </a:r>
          </a:p>
          <a:p>
            <a:pPr lvl="1" algn="r">
              <a:spcAft>
                <a:spcPts val="1200"/>
              </a:spcAft>
              <a:defRPr sz="1600">
                <a:solidFill>
                  <a:srgbClr val="A0AEC0"/>
                </a:solidFill>
                <a:latin typeface="Arial"/>
              </a:defRPr>
            </a:pPr>
            <a:r>
              <a:t>مكاتب المحاماة المتخصصة في قضايا التعويضات الباحثة عن ملفات عملاء مصفاة وجاهزة.</a:t>
            </a:r>
          </a:p>
          <a:p>
            <a:pPr algn="r">
              <a:spcAft>
                <a:spcPts val="1200"/>
              </a:spcAft>
              <a:defRPr sz="2000" b="1">
                <a:solidFill>
                  <a:srgbClr val="FFFFFF"/>
                </a:solidFill>
                <a:latin typeface="Arial"/>
              </a:defRPr>
            </a:pPr>
            <a:r>
              <a:t>2. القيمة المضافة (Value Propositions):</a:t>
            </a:r>
          </a:p>
          <a:p>
            <a:pPr lvl="1" algn="r">
              <a:spcAft>
                <a:spcPts val="1200"/>
              </a:spcAft>
              <a:defRPr sz="1600">
                <a:solidFill>
                  <a:srgbClr val="A0AEC0"/>
                </a:solidFill>
                <a:latin typeface="Arial"/>
              </a:defRPr>
            </a:pPr>
            <a:r>
              <a:t>للعميل: فحص فوري وسلس بلغة الأم وتصفية صوتية دون مخاطر مالية مسبقة.</a:t>
            </a:r>
          </a:p>
          <a:p>
            <a:pPr lvl="1" algn="r">
              <a:spcAft>
                <a:spcPts val="1200"/>
              </a:spcAft>
              <a:defRPr sz="1600">
                <a:solidFill>
                  <a:srgbClr val="A0AEC0"/>
                </a:solidFill>
                <a:latin typeface="Arial"/>
              </a:defRPr>
            </a:pPr>
            <a:r>
              <a:t>للمحامي: استلام ملف قضية متكامل ومبني قانونياً ومصنف دون جهد إدخال وتصفية يدوي.</a:t>
            </a:r>
          </a:p>
          <a:p>
            <a:pPr algn="r">
              <a:spcAft>
                <a:spcPts val="1200"/>
              </a:spcAft>
              <a:defRPr sz="2000" b="1">
                <a:solidFill>
                  <a:srgbClr val="FFFFFF"/>
                </a:solidFill>
                <a:latin typeface="Arial"/>
              </a:defRPr>
            </a:pPr>
            <a:r>
              <a:t>3. القنوات (Channels):</a:t>
            </a:r>
          </a:p>
          <a:p>
            <a:pPr lvl="1" algn="r">
              <a:spcAft>
                <a:spcPts val="1200"/>
              </a:spcAft>
              <a:defRPr sz="1600">
                <a:solidFill>
                  <a:srgbClr val="A0AEC0"/>
                </a:solidFill>
                <a:latin typeface="Arial"/>
              </a:defRPr>
            </a:pPr>
            <a:r>
              <a:t>التسويق المدفوع والمجاني على محركات البحث (SEO/SEM) باللغة العربية، المجموعات المهنية وتجمعات العمال في القدس.</a:t>
            </a:r>
          </a:p>
          <a:p>
            <a:pPr algn="r">
              <a:spcAft>
                <a:spcPts val="1200"/>
              </a:spcAft>
              <a:defRPr sz="2000" b="1">
                <a:solidFill>
                  <a:srgbClr val="FFFFFF"/>
                </a:solidFill>
                <a:latin typeface="Arial"/>
              </a:defRPr>
            </a:pPr>
            <a:r>
              <a:t>4. علاقات العملاء (Customer Relationships):</a:t>
            </a:r>
          </a:p>
          <a:p>
            <a:pPr lvl="1" algn="r">
              <a:spcAft>
                <a:spcPts val="1200"/>
              </a:spcAft>
              <a:defRPr sz="1600">
                <a:solidFill>
                  <a:srgbClr val="A0AEC0"/>
                </a:solidFill>
                <a:latin typeface="Arial"/>
              </a:defRPr>
            </a:pPr>
            <a:r>
              <a:t>علاقة مبنية على الخصوصية والمصداقية العالية (خيار الحذف الفوري للبيانات)، وتوجيه ودود وتفاعلي عبر الدردشة.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6: مواصفات وتحديد أولويات الميزات (MVP)</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جدول تحديد وتفضيل الميزات الأساسية حسب نموذج MoSCoW</a:t>
            </a:r>
          </a:p>
        </p:txBody>
      </p:sp>
      <p:graphicFrame>
        <p:nvGraphicFramePr>
          <p:cNvPr id="4" name="Table 3"/>
          <p:cNvGraphicFramePr>
            <a:graphicFrameLocks noGrp="1"/>
          </p:cNvGraphicFramePr>
          <p:nvPr/>
        </p:nvGraphicFramePr>
        <p:xfrm>
          <a:off x="914400" y="1828800"/>
          <a:ext cx="10360152"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685800">
                <a:tc>
                  <a:txBody>
                    <a:bodyPr/>
                    <a:lstStyle/>
                    <a:p>
                      <a:pPr algn="r">
                        <a:defRPr sz="1300" b="1">
                          <a:solidFill>
                            <a:srgbClr val="0D0F17"/>
                          </a:solidFill>
                          <a:latin typeface="Arial"/>
                        </a:defRPr>
                      </a:pPr>
                      <a:r>
                        <a:t>اسم الميزة</a:t>
                      </a:r>
                    </a:p>
                  </a:txBody>
                  <a:tcPr>
                    <a:solidFill>
                      <a:srgbClr val="C5A880"/>
                    </a:solidFill>
                  </a:tcPr>
                </a:tc>
                <a:tc>
                  <a:txBody>
                    <a:bodyPr/>
                    <a:lstStyle/>
                    <a:p>
                      <a:pPr algn="r">
                        <a:defRPr sz="1300" b="1">
                          <a:solidFill>
                            <a:srgbClr val="0D0F17"/>
                          </a:solidFill>
                          <a:latin typeface="Arial"/>
                        </a:defRPr>
                      </a:pPr>
                      <a:r>
                        <a:t>القيمة المضافة للمستخدم</a:t>
                      </a:r>
                    </a:p>
                  </a:txBody>
                  <a:tcPr>
                    <a:solidFill>
                      <a:srgbClr val="C5A880"/>
                    </a:solidFill>
                  </a:tcPr>
                </a:tc>
                <a:tc>
                  <a:txBody>
                    <a:bodyPr/>
                    <a:lstStyle/>
                    <a:p>
                      <a:pPr algn="r">
                        <a:defRPr sz="1300" b="1">
                          <a:solidFill>
                            <a:srgbClr val="0D0F17"/>
                          </a:solidFill>
                          <a:latin typeface="Arial"/>
                        </a:defRPr>
                      </a:pPr>
                      <a:r>
                        <a:t>الأولوية</a:t>
                      </a:r>
                    </a:p>
                  </a:txBody>
                  <a:tcPr>
                    <a:solidFill>
                      <a:srgbClr val="C5A880"/>
                    </a:solidFill>
                  </a:tcPr>
                </a:tc>
                <a:tc>
                  <a:txBody>
                    <a:bodyPr/>
                    <a:lstStyle/>
                    <a:p>
                      <a:pPr algn="r">
                        <a:defRPr sz="1300" b="1">
                          <a:solidFill>
                            <a:srgbClr val="0D0F17"/>
                          </a:solidFill>
                          <a:latin typeface="Arial"/>
                        </a:defRPr>
                      </a:pPr>
                      <a:r>
                        <a:t>تقدير الوقت</a:t>
                      </a:r>
                    </a:p>
                  </a:txBody>
                  <a:tcPr>
                    <a:solidFill>
                      <a:srgbClr val="C5A880"/>
                    </a:solidFill>
                  </a:tcPr>
                </a:tc>
                <a:tc>
                  <a:txBody>
                    <a:bodyPr/>
                    <a:lstStyle/>
                    <a:p>
                      <a:pPr algn="r">
                        <a:defRPr sz="1300" b="1">
                          <a:solidFill>
                            <a:srgbClr val="0D0F17"/>
                          </a:solidFill>
                          <a:latin typeface="Arial"/>
                        </a:defRPr>
                      </a:pPr>
                      <a:r>
                        <a:t>مقياس النجاح</a:t>
                      </a:r>
                    </a:p>
                  </a:txBody>
                  <a:tcPr>
                    <a:solidFill>
                      <a:srgbClr val="C5A880"/>
                    </a:solidFill>
                  </a:tcPr>
                </a:tc>
                <a:extLst>
                  <a:ext uri="{0D108BD9-81ED-4DB2-BD59-A6C34878D82A}">
                    <a16:rowId xmlns:a16="http://schemas.microsoft.com/office/drawing/2014/main" val="10000"/>
                  </a:ext>
                </a:extLst>
              </a:tr>
              <a:tr h="685800">
                <a:tc>
                  <a:txBody>
                    <a:bodyPr/>
                    <a:lstStyle/>
                    <a:p>
                      <a:pPr algn="r">
                        <a:defRPr sz="1100">
                          <a:solidFill>
                            <a:srgbClr val="FFFFFF"/>
                          </a:solidFill>
                          <a:latin typeface="Arial"/>
                        </a:defRPr>
                      </a:pPr>
                      <a:r>
                        <a:t>الدردشة التفاعلية</a:t>
                      </a:r>
                    </a:p>
                  </a:txBody>
                  <a:tcPr>
                    <a:solidFill>
                      <a:srgbClr val="161B26"/>
                    </a:solidFill>
                  </a:tcPr>
                </a:tc>
                <a:tc>
                  <a:txBody>
                    <a:bodyPr/>
                    <a:lstStyle/>
                    <a:p>
                      <a:pPr algn="r">
                        <a:defRPr sz="1100">
                          <a:solidFill>
                            <a:srgbClr val="FFFFFF"/>
                          </a:solidFill>
                          <a:latin typeface="Arial"/>
                        </a:defRPr>
                      </a:pPr>
                      <a:r>
                        <a:t>تغيير الأسئلة لمنع التعقيد والتشتيت</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15 ساعة</a:t>
                      </a:r>
                    </a:p>
                  </a:txBody>
                  <a:tcPr>
                    <a:solidFill>
                      <a:srgbClr val="161B26"/>
                    </a:solidFill>
                  </a:tcPr>
                </a:tc>
                <a:tc>
                  <a:txBody>
                    <a:bodyPr/>
                    <a:lstStyle/>
                    <a:p>
                      <a:pPr algn="r">
                        <a:defRPr sz="1100">
                          <a:solidFill>
                            <a:srgbClr val="FFFFFF"/>
                          </a:solidFill>
                          <a:latin typeface="Arial"/>
                        </a:defRPr>
                      </a:pPr>
                      <a:r>
                        <a:t>تجاوز نسبة إتمام الاستبيان لـ 85%</a:t>
                      </a:r>
                    </a:p>
                  </a:txBody>
                  <a:tcPr>
                    <a:solidFill>
                      <a:srgbClr val="161B26"/>
                    </a:solidFill>
                  </a:tcPr>
                </a:tc>
                <a:extLst>
                  <a:ext uri="{0D108BD9-81ED-4DB2-BD59-A6C34878D82A}">
                    <a16:rowId xmlns:a16="http://schemas.microsoft.com/office/drawing/2014/main" val="10001"/>
                  </a:ext>
                </a:extLst>
              </a:tr>
              <a:tr h="685800">
                <a:tc>
                  <a:txBody>
                    <a:bodyPr/>
                    <a:lstStyle/>
                    <a:p>
                      <a:pPr algn="r">
                        <a:defRPr sz="1100">
                          <a:solidFill>
                            <a:srgbClr val="FFFFFF"/>
                          </a:solidFill>
                          <a:latin typeface="Arial"/>
                        </a:defRPr>
                      </a:pPr>
                      <a:r>
                        <a:t>التسجيل الصوتي</a:t>
                      </a:r>
                    </a:p>
                  </a:txBody>
                  <a:tcPr>
                    <a:solidFill>
                      <a:srgbClr val="11141C"/>
                    </a:solidFill>
                  </a:tcPr>
                </a:tc>
                <a:tc>
                  <a:txBody>
                    <a:bodyPr/>
                    <a:lstStyle/>
                    <a:p>
                      <a:pPr algn="r">
                        <a:defRPr sz="1100">
                          <a:solidFill>
                            <a:srgbClr val="FFFFFF"/>
                          </a:solidFill>
                          <a:latin typeface="Arial"/>
                        </a:defRPr>
                      </a:pPr>
                      <a:r>
                        <a:t>إزالة عقبات الكتابة على شاشة الموبايل</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20 ساعة</a:t>
                      </a:r>
                    </a:p>
                  </a:txBody>
                  <a:tcPr>
                    <a:solidFill>
                      <a:srgbClr val="11141C"/>
                    </a:solidFill>
                  </a:tcPr>
                </a:tc>
                <a:tc>
                  <a:txBody>
                    <a:bodyPr/>
                    <a:lstStyle/>
                    <a:p>
                      <a:pPr algn="r">
                        <a:defRPr sz="1100">
                          <a:solidFill>
                            <a:srgbClr val="FFFFFF"/>
                          </a:solidFill>
                          <a:latin typeface="Arial"/>
                        </a:defRPr>
                      </a:pPr>
                      <a:r>
                        <a:t>استخدام الصوت في 50% من الإجابات</a:t>
                      </a:r>
                    </a:p>
                  </a:txBody>
                  <a:tcPr>
                    <a:solidFill>
                      <a:srgbClr val="11141C"/>
                    </a:solidFill>
                  </a:tcPr>
                </a:tc>
                <a:extLst>
                  <a:ext uri="{0D108BD9-81ED-4DB2-BD59-A6C34878D82A}">
                    <a16:rowId xmlns:a16="http://schemas.microsoft.com/office/drawing/2014/main" val="10002"/>
                  </a:ext>
                </a:extLst>
              </a:tr>
              <a:tr h="685800">
                <a:tc>
                  <a:txBody>
                    <a:bodyPr/>
                    <a:lstStyle/>
                    <a:p>
                      <a:pPr algn="r">
                        <a:defRPr sz="1100">
                          <a:solidFill>
                            <a:srgbClr val="FFFFFF"/>
                          </a:solidFill>
                          <a:latin typeface="Arial"/>
                        </a:defRPr>
                      </a:pPr>
                      <a:r>
                        <a:t>شاشة الخصوصية والأمان</a:t>
                      </a:r>
                    </a:p>
                  </a:txBody>
                  <a:tcPr>
                    <a:solidFill>
                      <a:srgbClr val="161B26"/>
                    </a:solidFill>
                  </a:tcPr>
                </a:tc>
                <a:tc>
                  <a:txBody>
                    <a:bodyPr/>
                    <a:lstStyle/>
                    <a:p>
                      <a:pPr algn="r">
                        <a:defRPr sz="1100">
                          <a:solidFill>
                            <a:srgbClr val="FFFFFF"/>
                          </a:solidFill>
                          <a:latin typeface="Arial"/>
                        </a:defRPr>
                      </a:pPr>
                      <a:r>
                        <a:t>إزالة القلق المالي والقانوني للعملاء</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5 ساعات</a:t>
                      </a:r>
                    </a:p>
                  </a:txBody>
                  <a:tcPr>
                    <a:solidFill>
                      <a:srgbClr val="161B26"/>
                    </a:solidFill>
                  </a:tcPr>
                </a:tc>
                <a:tc>
                  <a:txBody>
                    <a:bodyPr/>
                    <a:lstStyle/>
                    <a:p>
                      <a:pPr algn="r">
                        <a:defRPr sz="1100">
                          <a:solidFill>
                            <a:srgbClr val="FFFFFF"/>
                          </a:solidFill>
                          <a:latin typeface="Arial"/>
                        </a:defRPr>
                      </a:pPr>
                      <a:r>
                        <a:t>انخفاض هجر الاستبيان في خطوة الاتصال</a:t>
                      </a:r>
                    </a:p>
                  </a:txBody>
                  <a:tcPr>
                    <a:solidFill>
                      <a:srgbClr val="161B26"/>
                    </a:solidFill>
                  </a:tcPr>
                </a:tc>
                <a:extLst>
                  <a:ext uri="{0D108BD9-81ED-4DB2-BD59-A6C34878D82A}">
                    <a16:rowId xmlns:a16="http://schemas.microsoft.com/office/drawing/2014/main" val="10003"/>
                  </a:ext>
                </a:extLst>
              </a:tr>
              <a:tr h="685800">
                <a:tc>
                  <a:txBody>
                    <a:bodyPr/>
                    <a:lstStyle/>
                    <a:p>
                      <a:pPr algn="r">
                        <a:defRPr sz="1100">
                          <a:solidFill>
                            <a:srgbClr val="FFFFFF"/>
                          </a:solidFill>
                          <a:latin typeface="Arial"/>
                        </a:defRPr>
                      </a:pPr>
                      <a:r>
                        <a:t>لوحة تحكم المحامي</a:t>
                      </a:r>
                    </a:p>
                  </a:txBody>
                  <a:tcPr>
                    <a:solidFill>
                      <a:srgbClr val="11141C"/>
                    </a:solidFill>
                  </a:tcPr>
                </a:tc>
                <a:tc>
                  <a:txBody>
                    <a:bodyPr/>
                    <a:lstStyle/>
                    <a:p>
                      <a:pPr algn="r">
                        <a:defRPr sz="1100">
                          <a:solidFill>
                            <a:srgbClr val="FFFFFF"/>
                          </a:solidFill>
                          <a:latin typeface="Arial"/>
                        </a:defRPr>
                      </a:pPr>
                      <a:r>
                        <a:t>تنظيم الملفات وتوفير وقت المكتب</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10 ساعات</a:t>
                      </a:r>
                    </a:p>
                  </a:txBody>
                  <a:tcPr>
                    <a:solidFill>
                      <a:srgbClr val="11141C"/>
                    </a:solidFill>
                  </a:tcPr>
                </a:tc>
                <a:tc>
                  <a:txBody>
                    <a:bodyPr/>
                    <a:lstStyle/>
                    <a:p>
                      <a:pPr algn="r">
                        <a:defRPr sz="1100">
                          <a:solidFill>
                            <a:srgbClr val="FFFFFF"/>
                          </a:solidFill>
                          <a:latin typeface="Arial"/>
                        </a:defRPr>
                      </a:pPr>
                      <a:r>
                        <a:t>تصفح ملف القضية بأقل من 3 دقائق</a:t>
                      </a:r>
                    </a:p>
                  </a:txBody>
                  <a:tcPr>
                    <a:solidFill>
                      <a:srgbClr val="11141C"/>
                    </a:solidFill>
                  </a:tcPr>
                </a:tc>
                <a:extLst>
                  <a:ext uri="{0D108BD9-81ED-4DB2-BD59-A6C34878D82A}">
                    <a16:rowId xmlns:a16="http://schemas.microsoft.com/office/drawing/2014/main" val="10004"/>
                  </a:ext>
                </a:extLst>
              </a:tr>
              <a:tr h="685800">
                <a:tc>
                  <a:txBody>
                    <a:bodyPr/>
                    <a:lstStyle/>
                    <a:p>
                      <a:pPr algn="r">
                        <a:defRPr sz="1100">
                          <a:solidFill>
                            <a:srgbClr val="FFFFFF"/>
                          </a:solidFill>
                          <a:latin typeface="Arial"/>
                        </a:defRPr>
                      </a:pPr>
                      <a:r>
                        <a:t>رفع الملفات الذكي</a:t>
                      </a:r>
                    </a:p>
                  </a:txBody>
                  <a:tcPr>
                    <a:solidFill>
                      <a:srgbClr val="161B26"/>
                    </a:solidFill>
                  </a:tcPr>
                </a:tc>
                <a:tc>
                  <a:txBody>
                    <a:bodyPr/>
                    <a:lstStyle/>
                    <a:p>
                      <a:pPr algn="r">
                        <a:defRPr sz="1100">
                          <a:solidFill>
                            <a:srgbClr val="FFFFFF"/>
                          </a:solidFill>
                          <a:latin typeface="Arial"/>
                        </a:defRPr>
                      </a:pPr>
                      <a:r>
                        <a:t>رفع المستندات والتقارير الطبية بسهولة</a:t>
                      </a:r>
                    </a:p>
                  </a:txBody>
                  <a:tcPr>
                    <a:solidFill>
                      <a:srgbClr val="161B26"/>
                    </a:solidFill>
                  </a:tcPr>
                </a:tc>
                <a:tc>
                  <a:txBody>
                    <a:bodyPr/>
                    <a:lstStyle/>
                    <a:p>
                      <a:pPr algn="r">
                        <a:defRPr sz="1100">
                          <a:solidFill>
                            <a:srgbClr val="FFFFFF"/>
                          </a:solidFill>
                          <a:latin typeface="Arial"/>
                        </a:defRPr>
                      </a:pPr>
                      <a:r>
                        <a:t>Should Have</a:t>
                      </a:r>
                    </a:p>
                  </a:txBody>
                  <a:tcPr>
                    <a:solidFill>
                      <a:srgbClr val="161B26"/>
                    </a:solidFill>
                  </a:tcPr>
                </a:tc>
                <a:tc>
                  <a:txBody>
                    <a:bodyPr/>
                    <a:lstStyle/>
                    <a:p>
                      <a:pPr algn="r">
                        <a:defRPr sz="1100">
                          <a:solidFill>
                            <a:srgbClr val="FFFFFF"/>
                          </a:solidFill>
                          <a:latin typeface="Arial"/>
                        </a:defRPr>
                      </a:pPr>
                      <a:r>
                        <a:t>8 ساعات</a:t>
                      </a:r>
                    </a:p>
                  </a:txBody>
                  <a:tcPr>
                    <a:solidFill>
                      <a:srgbClr val="161B26"/>
                    </a:solidFill>
                  </a:tcPr>
                </a:tc>
                <a:tc>
                  <a:txBody>
                    <a:bodyPr/>
                    <a:lstStyle/>
                    <a:p>
                      <a:pPr algn="r">
                        <a:defRPr sz="1100">
                          <a:solidFill>
                            <a:srgbClr val="FFFFFF"/>
                          </a:solidFill>
                          <a:latin typeface="Arial"/>
                        </a:defRPr>
                      </a:pPr>
                      <a:r>
                        <a:t>رفع مستندات طبية في 40% من الحالات</a:t>
                      </a:r>
                    </a:p>
                  </a:txBody>
                  <a:tcPr>
                    <a:solidFill>
                      <a:srgbClr val="161B2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7: النموذج الأولي الفعال</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خطوات تدفق العميل في النموذج الأولي الفعال (User Flow)</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روابط تجربة النموذج الأولي الفعال:</a:t>
            </a:r>
          </a:p>
          <a:p>
            <a:pPr lvl="1" algn="r">
              <a:spcAft>
                <a:spcPts val="1200"/>
              </a:spcAft>
              <a:defRPr sz="1600">
                <a:solidFill>
                  <a:srgbClr val="A0AEC0"/>
                </a:solidFill>
                <a:latin typeface="Arial"/>
              </a:defRPr>
            </a:pPr>
            <a:r>
              <a:t>واجهة الاستبيان الرقمي للعميل: http://localhost:8000/client_intake.html</a:t>
            </a:r>
          </a:p>
          <a:p>
            <a:pPr lvl="1" algn="r">
              <a:spcAft>
                <a:spcPts val="1200"/>
              </a:spcAft>
              <a:defRPr sz="1600">
                <a:solidFill>
                  <a:srgbClr val="A0AEC0"/>
                </a:solidFill>
                <a:latin typeface="Arial"/>
              </a:defRPr>
            </a:pPr>
            <a:r>
              <a:t>لوحة تحكم المحامي المدمجة: http://localhost:8000/lawyer_dashboard.html</a:t>
            </a:r>
          </a:p>
          <a:p>
            <a:pPr algn="r">
              <a:spcAft>
                <a:spcPts val="1200"/>
              </a:spcAft>
              <a:defRPr sz="2000" b="1">
                <a:solidFill>
                  <a:srgbClr val="FFFFFF"/>
                </a:solidFill>
                <a:latin typeface="Arial"/>
              </a:defRPr>
            </a:pPr>
            <a:r>
              <a:t>خطوات تدفق البيانات والعميل في النظام:</a:t>
            </a:r>
          </a:p>
          <a:p>
            <a:pPr algn="r">
              <a:spcAft>
                <a:spcPts val="1200"/>
              </a:spcAft>
              <a:defRPr sz="2000" b="0">
                <a:solidFill>
                  <a:srgbClr val="FFFFFF"/>
                </a:solidFill>
                <a:latin typeface="Arial"/>
              </a:defRPr>
            </a:pPr>
            <a:r>
              <a:t>  1. اختيار اللغة (العربية/العبرية) من صفحة الهبوط والبدء بالدردشة التفاعلية.</a:t>
            </a:r>
          </a:p>
          <a:p>
            <a:pPr algn="r">
              <a:spcAft>
                <a:spcPts val="1200"/>
              </a:spcAft>
              <a:defRPr sz="2000" b="0">
                <a:solidFill>
                  <a:srgbClr val="FFFFFF"/>
                </a:solidFill>
                <a:latin typeface="Arial"/>
              </a:defRPr>
            </a:pPr>
            <a:r>
              <a:t>  2. توجيه مخصص للأسئلة بناءً على اختيار نوع الحادثة (تخطي الأسئلة غير اللازمة).</a:t>
            </a:r>
          </a:p>
          <a:p>
            <a:pPr algn="r">
              <a:spcAft>
                <a:spcPts val="1200"/>
              </a:spcAft>
              <a:defRPr sz="2000" b="0">
                <a:solidFill>
                  <a:srgbClr val="FFFFFF"/>
                </a:solidFill>
                <a:latin typeface="Arial"/>
              </a:defRPr>
            </a:pPr>
            <a:r>
              <a:t>  3. شرح تفاصيل الإصابة صوتياً باستخدام ميزة تحويل الصوت لنصوص (Web Speech API).</a:t>
            </a:r>
          </a:p>
          <a:p>
            <a:pPr algn="r">
              <a:spcAft>
                <a:spcPts val="1200"/>
              </a:spcAft>
              <a:defRPr sz="2000" b="0">
                <a:solidFill>
                  <a:srgbClr val="FFFFFF"/>
                </a:solidFill>
                <a:latin typeface="Arial"/>
              </a:defRPr>
            </a:pPr>
            <a:r>
              <a:t>  4. الحصول على تقييم أولي مجاني للقضية مع شاشات طمأنة الخصوصية والأمان المالي (0 شيكل).</a:t>
            </a:r>
          </a:p>
          <a:p>
            <a:pPr algn="r">
              <a:spcAft>
                <a:spcPts val="1200"/>
              </a:spcAft>
              <a:defRPr sz="2000" b="0">
                <a:solidFill>
                  <a:srgbClr val="FFFFFF"/>
                </a:solidFill>
                <a:latin typeface="Arial"/>
              </a:defRPr>
            </a:pPr>
            <a:r>
              <a:t>  5. إرسال الطلب وظهوره فوراً في لوحة المحامي المحدثة مع مزامنتها مع Outlook المهام والمواعيد.</a:t>
            </a:r>
          </a:p>
          <a:p>
            <a:pPr algn="r">
              <a:spcAft>
                <a:spcPts val="1200"/>
              </a:spcAft>
              <a:defRPr sz="2000" b="1">
                <a:solidFill>
                  <a:srgbClr val="FFFFFF"/>
                </a:solidFill>
                <a:latin typeface="Arial"/>
              </a:defRPr>
            </a:pPr>
            <a:r>
              <a:t>تطور المنتج: الانتقال من تصميم أولي مبسط (Wireframes) إلى نظام متكامل يدعم التسجيل الصوتي وإدارة أرشيف العملاء.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F17"/>
        </a:solidFill>
        <a:effectLst/>
      </p:bgPr>
    </p:bg>
    <p:spTree>
      <p:nvGrpSpPr>
        <p:cNvPr id="1" name=""/>
        <p:cNvGrpSpPr/>
        <p:nvPr/>
      </p:nvGrpSpPr>
      <p:grpSpPr>
        <a:xfrm>
          <a:off x="0" y="0"/>
          <a:ext cx="0" cy="0"/>
          <a:chOff x="0" y="0"/>
          <a:chExt cx="0" cy="0"/>
        </a:xfrm>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8: تقرير سهولة الاستخدام والقياس</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نتائج جولتي الاختبارات ومقارنة القياسات الكمية</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200"/>
              </a:spcAft>
              <a:defRPr sz="2000" b="1">
                <a:solidFill>
                  <a:srgbClr val="FFFFFF"/>
                </a:solidFill>
                <a:latin typeface="Arial"/>
              </a:defRPr>
            </a:pPr>
            <a:r>
              <a:t>منهجية الفحص والمشاركون: جولتان من اختبارات سهولة الاستخدام الموجهة على 6 مشاركين من الشريحة المستهدفة + محامٍ واحد.</a:t>
            </a:r>
          </a:p>
          <a:p>
            <a:pPr algn="r">
              <a:spcAft>
                <a:spcPts val="1200"/>
              </a:spcAft>
              <a:defRPr sz="2000" b="1">
                <a:solidFill>
                  <a:srgbClr val="FFFFFF"/>
                </a:solidFill>
                <a:latin typeface="Arial"/>
              </a:defRPr>
            </a:pPr>
            <a:r>
              <a:t>العيوب المكتشفة في الجولة الأولى والحلول المطبقة:</a:t>
            </a:r>
          </a:p>
          <a:p>
            <a:pPr lvl="1" algn="r">
              <a:spcAft>
                <a:spcPts val="1200"/>
              </a:spcAft>
              <a:defRPr sz="1600">
                <a:solidFill>
                  <a:srgbClr val="A0AEC0"/>
                </a:solidFill>
                <a:latin typeface="Arial"/>
              </a:defRPr>
            </a:pPr>
            <a:r>
              <a:t>مشكلة هجر خطوة رقم الهاتف: تم حلها بتأخير الطلب للنهاية وعرض رسائل الأمان المالي ('0 شيكل') مسبقاً.</a:t>
            </a:r>
          </a:p>
          <a:p>
            <a:pPr lvl="1" algn="r">
              <a:spcAft>
                <a:spcPts val="1200"/>
              </a:spcAft>
              <a:defRPr sz="1600">
                <a:solidFill>
                  <a:srgbClr val="A0AEC0"/>
                </a:solidFill>
                <a:latin typeface="Arial"/>
              </a:defRPr>
            </a:pPr>
            <a:r>
              <a:t>أزرار غير معربة: قمنا بعمل لولكيزציה كاملة لزر التأكيد ('OK' / 'אישור' / 'موافق') بناءً على لغة الواجهة.</a:t>
            </a:r>
          </a:p>
          <a:p>
            <a:pPr lvl="1" algn="r">
              <a:spcAft>
                <a:spcPts val="1200"/>
              </a:spcAft>
              <a:defRPr sz="1600">
                <a:solidFill>
                  <a:srgbClr val="A0AEC0"/>
                </a:solidFill>
                <a:latin typeface="Arial"/>
              </a:defRPr>
            </a:pPr>
            <a:r>
              <a:t>توقف التسجيل الصوتي: تم تحديث كود الـ API لربط وتسجيل الصوت المتواصل دون مسح النصوص السابقة.</a:t>
            </a:r>
          </a:p>
          <a:p>
            <a:pPr algn="r">
              <a:spcAft>
                <a:spcPts val="1200"/>
              </a:spcAft>
              <a:defRPr sz="2000" b="1">
                <a:solidFill>
                  <a:srgbClr val="FFFFFF"/>
                </a:solidFill>
                <a:latin typeface="Arial"/>
              </a:defRPr>
            </a:pPr>
            <a:r>
              <a:t>مقارنة القياسات الكمية (الجولة الأولى مقابل الجولة الثانية):</a:t>
            </a:r>
          </a:p>
          <a:p>
            <a:pPr lvl="1" algn="r">
              <a:spcAft>
                <a:spcPts val="1200"/>
              </a:spcAft>
              <a:defRPr sz="1600">
                <a:solidFill>
                  <a:srgbClr val="A0AEC0"/>
                </a:solidFill>
                <a:latin typeface="Arial"/>
              </a:defRPr>
            </a:pPr>
            <a:r>
              <a:t>معدل إكمال الاستبيان (Completion Rate): ارتفع من 60% في الجولة الأولى إلى 90% في الثانية.</a:t>
            </a:r>
          </a:p>
          <a:p>
            <a:pPr lvl="1" algn="r">
              <a:spcAft>
                <a:spcPts val="1200"/>
              </a:spcAft>
              <a:defRPr sz="1600">
                <a:solidFill>
                  <a:srgbClr val="A0AEC0"/>
                </a:solidFill>
                <a:latin typeface="Arial"/>
              </a:defRPr>
            </a:pPr>
            <a:r>
              <a:t>متوسط وقت الإكمال (Time to Complete): انخفض من 5 دقائق في الجولة الأولى إلى دقيقتين فقط بفضل الإدخال الصوتي.</a:t>
            </a:r>
          </a:p>
          <a:p>
            <a:pPr algn="r">
              <a:spcAft>
                <a:spcPts val="1200"/>
              </a:spcAft>
              <a:defRPr sz="2000" b="1">
                <a:solidFill>
                  <a:srgbClr val="FFFFFF"/>
                </a:solidFill>
                <a:latin typeface="Arial"/>
              </a:defRPr>
            </a:pPr>
            <a:r>
              <a:t>التوصيات للمستقبل (Next Steps):</a:t>
            </a:r>
          </a:p>
          <a:p>
            <a:pPr algn="r">
              <a:spcAft>
                <a:spcPts val="1200"/>
              </a:spcAft>
              <a:defRPr sz="2000" b="0">
                <a:solidFill>
                  <a:srgbClr val="FFFFFF"/>
                </a:solidFill>
                <a:latin typeface="Arial"/>
              </a:defRPr>
            </a:pPr>
            <a:r>
              <a:t>  1. التوسع ونقل الميزة بالكامل نحو منصة WhatsApp Business API لزيادة الوصول وتسهيل الاستخدام.</a:t>
            </a:r>
          </a:p>
          <a:p>
            <a:pPr algn="r">
              <a:spcAft>
                <a:spcPts val="1200"/>
              </a:spcAft>
              <a:defRPr sz="2000" b="0">
                <a:solidFill>
                  <a:srgbClr val="FFFFFF"/>
                </a:solidFill>
                <a:latin typeface="Arial"/>
              </a:defRPr>
            </a:pPr>
            <a:r>
              <a:t>  2. تطوير محرك ذكاء اصطناعي لتصنيف نسبة العجز الطبي تلقائياً وربطها ببنود مؤسسة التأمين الوطني.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1308</Words>
  <Application>Microsoft Office PowerPoint</Application>
  <PresentationFormat>Widescreen</PresentationFormat>
  <Paragraphs>118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Noor Aioby</cp:lastModifiedBy>
  <cp:revision>1</cp:revision>
  <dcterms:created xsi:type="dcterms:W3CDTF">2013-01-27T09:14:16Z</dcterms:created>
  <dcterms:modified xsi:type="dcterms:W3CDTF">2026-07-09T07:51:52Z</dcterms:modified>
  <cp:category/>
</cp:coreProperties>
</file>