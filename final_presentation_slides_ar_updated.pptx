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0F17"/>
        </a:solidFill>
        <a:effectLst/>
      </p:bgPr>
    </p:bg>
    <p:spTree>
      <p:nvGrpSpPr>
        <p:cNvPr id="1" name=""/>
        <p:cNvGrpSpPr/>
        <p:nvPr/>
      </p:nvGrpSpPr>
      <p:grpSpPr/>
      <p:sp>
        <p:nvSpPr>
          <p:cNvPr id="2" name="TextBox 1"/>
          <p:cNvSpPr txBox="1"/>
          <p:nvPr/>
        </p:nvSpPr>
        <p:spPr>
          <a:xfrm>
            <a:off x="914400" y="365760"/>
            <a:ext cx="10360152" cy="365760"/>
          </a:xfrm>
          <a:prstGeom prst="rect">
            <a:avLst/>
          </a:prstGeom>
          <a:noFill/>
        </p:spPr>
        <p:txBody>
          <a:bodyPr wrap="none">
            <a:spAutoFit/>
          </a:bodyPr>
          <a:lstStyle/>
          <a:p>
            <a:pPr algn="r">
              <a:defRPr sz="1200" b="1">
                <a:solidFill>
                  <a:srgbClr val="C5A880"/>
                </a:solidFill>
                <a:latin typeface="Arial"/>
              </a:defRPr>
            </a:pPr>
            <a:r>
              <a:t>جزء 1: وصف المشكلة والفرضيات</a:t>
            </a:r>
          </a:p>
        </p:txBody>
      </p:sp>
      <p:sp>
        <p:nvSpPr>
          <p:cNvPr id="3" name="TextBox 2"/>
          <p:cNvSpPr txBox="1"/>
          <p:nvPr/>
        </p:nvSpPr>
        <p:spPr>
          <a:xfrm>
            <a:off x="914400" y="731520"/>
            <a:ext cx="10360152" cy="731520"/>
          </a:xfrm>
          <a:prstGeom prst="rect">
            <a:avLst/>
          </a:prstGeom>
          <a:noFill/>
        </p:spPr>
        <p:txBody>
          <a:bodyPr wrap="none">
            <a:spAutoFit/>
          </a:bodyPr>
          <a:lstStyle/>
          <a:p>
            <a:pPr algn="r">
              <a:defRPr sz="2800" b="1">
                <a:solidFill>
                  <a:srgbClr val="FFFFFF"/>
                </a:solidFill>
                <a:latin typeface="Arial"/>
              </a:defRPr>
            </a:pPr>
            <a:r>
              <a:t>وصف المشكلة والفرضيات الأساسية (جزء 1)</a:t>
            </a:r>
          </a:p>
        </p:txBody>
      </p:sp>
      <p:sp>
        <p:nvSpPr>
          <p:cNvPr id="4" name="TextBox 3"/>
          <p:cNvSpPr txBox="1"/>
          <p:nvPr/>
        </p:nvSpPr>
        <p:spPr>
          <a:xfrm>
            <a:off x="914400" y="1645920"/>
            <a:ext cx="10360152" cy="4572000"/>
          </a:xfrm>
          <a:prstGeom prst="rect">
            <a:avLst/>
          </a:prstGeom>
          <a:noFill/>
        </p:spPr>
        <p:txBody>
          <a:bodyPr wrap="square">
            <a:spAutoFit/>
          </a:bodyPr>
          <a:lstStyle/>
          <a:p>
            <a:pPr algn="r">
              <a:spcAft>
                <a:spcPts val="1000"/>
              </a:spcAft>
              <a:defRPr sz="1900" b="1">
                <a:solidFill>
                  <a:srgbClr val="FFFFFF"/>
                </a:solidFill>
                <a:latin typeface="Arial"/>
              </a:defRPr>
            </a:pPr>
            <a:r>
              <a:t>عنوان المشروع: جسر القدس القانوني (JLM Legal Bridge)</a:t>
            </a:r>
          </a:p>
          <a:p>
            <a:pPr algn="r">
              <a:spcAft>
                <a:spcPts val="1000"/>
              </a:spcAft>
              <a:defRPr sz="1900" b="1">
                <a:solidFill>
                  <a:srgbClr val="FFFFFF"/>
                </a:solidFill>
                <a:latin typeface="Arial"/>
              </a:defRPr>
            </a:pPr>
            <a:r>
              <a:t>عنوان فرعي: منصة رقمية ذكية لتسهيل وإدارة العلاقة بين المحامي والموكل، حجز المواعيد، وتقييم أهلية القضايا بالذكاء الاصطناعي.</a:t>
            </a:r>
          </a:p>
          <a:p>
            <a:pPr algn="r">
              <a:spcAft>
                <a:spcPts val="1000"/>
              </a:spcAft>
              <a:defRPr sz="1900" b="1">
                <a:solidFill>
                  <a:srgbClr val="FFFFFF"/>
                </a:solidFill>
                <a:latin typeface="Arial"/>
              </a:defRPr>
            </a:pPr>
            <a:r>
              <a:t>🔥 المشكلة الحقيقية (Pain حقيقي):</a:t>
            </a:r>
          </a:p>
          <a:p>
            <a:pPr lvl="1" algn="r">
              <a:spcAft>
                <a:spcPts val="1000"/>
              </a:spcAft>
              <a:defRPr sz="1600">
                <a:solidFill>
                  <a:srgbClr val="A0AEC0"/>
                </a:solidFill>
                <a:latin typeface="Arial"/>
              </a:defRPr>
            </a:pPr>
            <a:r>
              <a:t>عند المحامي: مكالمات ورسائل كثيرة غير مناسبة | تضييع وقت على زبائن غير مؤهلين | تكرار نفس الأسئلة.</a:t>
            </a:r>
          </a:p>
          <a:p>
            <a:pPr lvl="1" algn="r">
              <a:spcAft>
                <a:spcPts val="1000"/>
              </a:spcAft>
              <a:defRPr sz="1600">
                <a:solidFill>
                  <a:srgbClr val="A0AEC0"/>
                </a:solidFill>
                <a:latin typeface="Arial"/>
              </a:defRPr>
            </a:pPr>
            <a:r>
              <a:t>عند الزبون: لا يعرف إن كانت قضيته "تستحق محامي" | لغة قانونية معقدة | انتظار طويل وردود غير واضحة | خوف من نظرة المحامي وصعوبة التواصل بسبب المكان والزمان.</a:t>
            </a:r>
          </a:p>
          <a:p>
            <a:pPr algn="r">
              <a:spcAft>
                <a:spcPts val="1000"/>
              </a:spcAft>
              <a:defRPr sz="1900" b="1">
                <a:solidFill>
                  <a:srgbClr val="FFFFFF"/>
                </a:solidFill>
                <a:latin typeface="Arial"/>
              </a:defRPr>
            </a:pPr>
            <a:r>
              <a:t>🎯 الجمهور المستهدف واحتياجاته:</a:t>
            </a:r>
          </a:p>
          <a:p>
            <a:pPr lvl="1" algn="r">
              <a:spcAft>
                <a:spcPts val="1000"/>
              </a:spcAft>
              <a:defRPr sz="1600">
                <a:solidFill>
                  <a:srgbClr val="A0AEC0"/>
                </a:solidFill>
                <a:latin typeface="Arial"/>
              </a:defRPr>
            </a:pPr>
            <a:r>
              <a:t>الزبون: حاجته لمعرفة القانون بسهولة وسرعة عن بُعد دون إحراج (لذلك وفرنا الشات الذكي التفاعلي).</a:t>
            </a:r>
          </a:p>
          <a:p>
            <a:pPr lvl="1" algn="r">
              <a:spcAft>
                <a:spcPts val="1000"/>
              </a:spcAft>
              <a:defRPr sz="1600">
                <a:solidFill>
                  <a:srgbClr val="A0AEC0"/>
                </a:solidFill>
                <a:latin typeface="Arial"/>
              </a:defRPr>
            </a:pPr>
            <a:r>
              <a:t>المحامي: بحاجة لتسهيل وإدارة المواعيد وتواصل أسرع بملفات زبائن مصفاة وجاهزة.</a:t>
            </a:r>
          </a:p>
          <a:p>
            <a:pPr algn="r">
              <a:spcAft>
                <a:spcPts val="1000"/>
              </a:spcAft>
              <a:defRPr sz="1900" b="1">
                <a:solidFill>
                  <a:srgbClr val="FFFFFF"/>
                </a:solidFill>
                <a:latin typeface="Arial"/>
              </a:defRPr>
            </a:pPr>
            <a:r>
              <a:t>💡 الفرضيات الأولية (الفرضيات الأساسية):</a:t>
            </a:r>
          </a:p>
          <a:p>
            <a:pPr lvl="1" algn="r">
              <a:spcAft>
                <a:spcPts val="1000"/>
              </a:spcAft>
              <a:defRPr sz="1600">
                <a:solidFill>
                  <a:srgbClr val="A0AEC0"/>
                </a:solidFill>
                <a:latin typeface="Arial"/>
              </a:defRPr>
            </a:pPr>
            <a:r>
              <a:t>فرضية القيمة: فحص الأهلية الفوري والذكي عن بُعد سيزيد من استعداد الزبائن للتواصل بنسبة 40%.</a:t>
            </a:r>
          </a:p>
          <a:p>
            <a:pPr lvl="1" algn="r">
              <a:spcAft>
                <a:spcPts val="1000"/>
              </a:spcAft>
              <a:defRPr sz="1600">
                <a:solidFill>
                  <a:srgbClr val="A0AEC0"/>
                </a:solidFill>
                <a:latin typeface="Arial"/>
              </a:defRPr>
            </a:pPr>
            <a:r>
              <a:t>فرضية الاستخدام: استخدام التسجيل الصوتي يسهل وصف تفاصيل الحادث ويمنع هجر الاستبيان.</a:t>
            </a:r>
          </a:p>
          <a:p>
            <a:pPr lvl="1" algn="r">
              <a:spcAft>
                <a:spcPts val="1000"/>
              </a:spcAft>
              <a:defRPr sz="1600">
                <a:solidFill>
                  <a:srgbClr val="A0AEC0"/>
                </a:solidFill>
                <a:latin typeface="Arial"/>
              </a:defRPr>
            </a:pPr>
            <a:r>
              <a:t>فرضية الجدوى: دمج نظام الـ CRM والمواعيد سيوفر 60% من وقت الفرز والتنسيق الإداري للمكتب.</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0F17"/>
        </a:solidFill>
        <a:effectLst/>
      </p:bgPr>
    </p:bg>
    <p:spTree>
      <p:nvGrpSpPr>
        <p:cNvPr id="1" name=""/>
        <p:cNvGrpSpPr/>
        <p:nvPr/>
      </p:nvGrpSpPr>
      <p:grpSpPr/>
      <p:sp>
        <p:nvSpPr>
          <p:cNvPr id="2" name="TextBox 1"/>
          <p:cNvSpPr txBox="1"/>
          <p:nvPr/>
        </p:nvSpPr>
        <p:spPr>
          <a:xfrm>
            <a:off x="914400" y="365760"/>
            <a:ext cx="10360152" cy="365760"/>
          </a:xfrm>
          <a:prstGeom prst="rect">
            <a:avLst/>
          </a:prstGeom>
          <a:noFill/>
        </p:spPr>
        <p:txBody>
          <a:bodyPr wrap="none">
            <a:spAutoFit/>
          </a:bodyPr>
          <a:lstStyle/>
          <a:p>
            <a:pPr algn="r">
              <a:defRPr sz="1200" b="1">
                <a:solidFill>
                  <a:srgbClr val="C5A880"/>
                </a:solidFill>
                <a:latin typeface="Arial"/>
              </a:defRPr>
            </a:pPr>
            <a:r>
              <a:t>جزء 2: ملخص بحث المستخدمين والرؤى المستخلصة</a:t>
            </a:r>
          </a:p>
        </p:txBody>
      </p:sp>
      <p:sp>
        <p:nvSpPr>
          <p:cNvPr id="3" name="TextBox 2"/>
          <p:cNvSpPr txBox="1"/>
          <p:nvPr/>
        </p:nvSpPr>
        <p:spPr>
          <a:xfrm>
            <a:off x="914400" y="731520"/>
            <a:ext cx="10360152" cy="731520"/>
          </a:xfrm>
          <a:prstGeom prst="rect">
            <a:avLst/>
          </a:prstGeom>
          <a:noFill/>
        </p:spPr>
        <p:txBody>
          <a:bodyPr wrap="none">
            <a:spAutoFit/>
          </a:bodyPr>
          <a:lstStyle/>
          <a:p>
            <a:pPr algn="r">
              <a:defRPr sz="2800" b="1">
                <a:solidFill>
                  <a:srgbClr val="FFFFFF"/>
                </a:solidFill>
                <a:latin typeface="Arial"/>
              </a:defRPr>
            </a:pPr>
            <a:r>
              <a:t>نماذج المستخدمين والمهام وقصص المستخدم (جزء 2)</a:t>
            </a:r>
          </a:p>
        </p:txBody>
      </p:sp>
      <p:sp>
        <p:nvSpPr>
          <p:cNvPr id="4" name="TextBox 3"/>
          <p:cNvSpPr txBox="1"/>
          <p:nvPr/>
        </p:nvSpPr>
        <p:spPr>
          <a:xfrm>
            <a:off x="914400" y="1645920"/>
            <a:ext cx="10360152" cy="4572000"/>
          </a:xfrm>
          <a:prstGeom prst="rect">
            <a:avLst/>
          </a:prstGeom>
          <a:noFill/>
        </p:spPr>
        <p:txBody>
          <a:bodyPr wrap="square">
            <a:spAutoFit/>
          </a:bodyPr>
          <a:lstStyle/>
          <a:p>
            <a:pPr algn="r">
              <a:spcAft>
                <a:spcPts val="1000"/>
              </a:spcAft>
              <a:defRPr sz="1900" b="1">
                <a:solidFill>
                  <a:srgbClr val="FFFFFF"/>
                </a:solidFill>
                <a:latin typeface="Arial"/>
              </a:defRPr>
            </a:pPr>
            <a:r>
              <a:t>👥 نماذج المستخدمين (Personas):</a:t>
            </a:r>
          </a:p>
          <a:p>
            <a:pPr lvl="1" algn="r">
              <a:spcAft>
                <a:spcPts val="1000"/>
              </a:spcAft>
              <a:defRPr sz="1600">
                <a:solidFill>
                  <a:srgbClr val="A0AEC0"/>
                </a:solidFill>
                <a:latin typeface="Arial"/>
              </a:defRPr>
            </a:pPr>
            <a:r>
              <a:t>الزبون عادل (عامل بناء، 42 عاماً): يخشى التكاليف المسبقة ونظرة المحامي السلبية له، ويبحث عن تقييم فوري ومستقل.</a:t>
            </a:r>
          </a:p>
          <a:p>
            <a:pPr lvl="1" algn="r">
              <a:spcAft>
                <a:spcPts val="1000"/>
              </a:spcAft>
              <a:defRPr sz="1600">
                <a:solidFill>
                  <a:srgbClr val="A0AEC0"/>
                </a:solidFill>
                <a:latin typeface="Arial"/>
              </a:defRPr>
            </a:pPr>
            <a:r>
              <a:t>المحامي يوسف (شريك، 35 عاماً): يعاني من تضييع الوقت على زبائن غير مؤهلين وتكرار نفس الأسئلة.</a:t>
            </a:r>
          </a:p>
          <a:p>
            <a:pPr algn="r">
              <a:spcAft>
                <a:spcPts val="1000"/>
              </a:spcAft>
              <a:defRPr sz="1900" b="1">
                <a:solidFill>
                  <a:srgbClr val="FFFFFF"/>
                </a:solidFill>
                <a:latin typeface="Arial"/>
              </a:defRPr>
            </a:pPr>
            <a:r>
              <a:t>🔥 نقاط الألم المكتشفة (Pain Points):</a:t>
            </a:r>
          </a:p>
          <a:p>
            <a:pPr lvl="1" algn="r">
              <a:spcAft>
                <a:spcPts val="1000"/>
              </a:spcAft>
              <a:defRPr sz="1600">
                <a:solidFill>
                  <a:srgbClr val="A0AEC0"/>
                </a:solidFill>
                <a:latin typeface="Arial"/>
              </a:defRPr>
            </a:pPr>
            <a:r>
              <a:t>عند الزبون: ييأس ويبتعد عن المطالبة بحقه بسبب طول الإجراءات البيروقراطية والمجهود الكبير الذي يبذله لنجاح القضية.</a:t>
            </a:r>
          </a:p>
          <a:p>
            <a:pPr lvl="1" algn="r">
              <a:spcAft>
                <a:spcPts val="1000"/>
              </a:spcAft>
              <a:defRPr sz="1600">
                <a:solidFill>
                  <a:srgbClr val="A0AEC0"/>
                </a:solidFill>
                <a:latin typeface="Arial"/>
              </a:defRPr>
            </a:pPr>
            <a:r>
              <a:t>عند المحامي: هدر ساعات العمل الثمينة في مكالمات الفرز اليدوي وتكرار الأسئلة ذاتها.</a:t>
            </a:r>
          </a:p>
          <a:p>
            <a:pPr algn="r">
              <a:spcAft>
                <a:spcPts val="1000"/>
              </a:spcAft>
              <a:defRPr sz="1900" b="1">
                <a:solidFill>
                  <a:srgbClr val="FFFFFF"/>
                </a:solidFill>
                <a:latin typeface="Arial"/>
              </a:defRPr>
            </a:pPr>
            <a:r>
              <a:t>🎯 تحليل المهام المطلوبة (JTBD):</a:t>
            </a:r>
          </a:p>
          <a:p>
            <a:pPr lvl="1" algn="r">
              <a:spcAft>
                <a:spcPts val="1000"/>
              </a:spcAft>
              <a:defRPr sz="1600">
                <a:solidFill>
                  <a:srgbClr val="A0AEC0"/>
                </a:solidFill>
                <a:latin typeface="Arial"/>
              </a:defRPr>
            </a:pPr>
            <a:r>
              <a:t>المهمة 1 (الزبون): فحص أهلية قضيتي الطبية دون حرج أو التزام مالي (النجاح: إجابة واضحة "قضيتك تستحق/لا تستحق" خلال دقيقتين عن بعد).</a:t>
            </a:r>
          </a:p>
          <a:p>
            <a:pPr lvl="1" algn="r">
              <a:spcAft>
                <a:spcPts val="1000"/>
              </a:spcAft>
              <a:defRPr sz="1600">
                <a:solidFill>
                  <a:srgbClr val="A0AEC0"/>
                </a:solidFill>
                <a:latin typeface="Arial"/>
              </a:defRPr>
            </a:pPr>
            <a:r>
              <a:t>المهمة 2 (المحامي): تصفية واستلام ملفات موكلين مؤهلين وجاهزين بالوثائق (النجاح: استلام ملخص القضية الطبي بملف مدمج عبر لوحة التحكم).</a:t>
            </a:r>
          </a:p>
          <a:p>
            <a:pPr algn="r">
              <a:spcAft>
                <a:spcPts val="1000"/>
              </a:spcAft>
              <a:defRPr sz="1900" b="1">
                <a:solidFill>
                  <a:srgbClr val="FFFFFF"/>
                </a:solidFill>
                <a:latin typeface="Arial"/>
              </a:defRPr>
            </a:pPr>
            <a:r>
              <a:t>📝 قصص المستخدمين (User Stories):</a:t>
            </a:r>
          </a:p>
          <a:p>
            <a:pPr lvl="1" algn="r">
              <a:spcAft>
                <a:spcPts val="1000"/>
              </a:spcAft>
              <a:defRPr sz="1600">
                <a:solidFill>
                  <a:srgbClr val="A0AEC0"/>
                </a:solidFill>
                <a:latin typeface="Arial"/>
              </a:defRPr>
            </a:pPr>
            <a:r>
              <a:t>בתור זבון חרד שאינו בטוח אם המקרה שלו מוגדר כתאונת עבודה, כאשר אני מתבייש לפנות ישירות למשרד, אני רוצה להשתמש בצ'אט בוט אנונימי ונגיש בשפתי, כדי שאקבל אישור ראשוני לזכאותי ללא שיפוט.</a:t>
            </a:r>
          </a:p>
          <a:p>
            <a:pPr lvl="1" algn="r">
              <a:spcAft>
                <a:spcPts val="1000"/>
              </a:spcAft>
              <a:defRPr sz="1600">
                <a:solidFill>
                  <a:srgbClr val="A0AEC0"/>
                </a:solidFill>
                <a:latin typeface="Arial"/>
              </a:defRPr>
            </a:pPr>
            <a:r>
              <a:t>בתור משתמש רגיש המשתף פרטים רפואיים, כאשר אני מסיים את הבדיקה בצ'אט, אני רוצה לבחור באופן מפורש אם לשלוח את המידע או להשמיד אותו לצמיתות, כדי שארגיש שליטה מוחלטת במידע הפרטי שלי.</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0F17"/>
        </a:solidFill>
        <a:effectLst/>
      </p:bgPr>
    </p:bg>
    <p:spTree>
      <p:nvGrpSpPr>
        <p:cNvPr id="1" name=""/>
        <p:cNvGrpSpPr/>
        <p:nvPr/>
      </p:nvGrpSpPr>
      <p:grpSpPr/>
      <p:sp>
        <p:nvSpPr>
          <p:cNvPr id="2" name="TextBox 1"/>
          <p:cNvSpPr txBox="1"/>
          <p:nvPr/>
        </p:nvSpPr>
        <p:spPr>
          <a:xfrm>
            <a:off x="914400" y="365760"/>
            <a:ext cx="10360152" cy="365760"/>
          </a:xfrm>
          <a:prstGeom prst="rect">
            <a:avLst/>
          </a:prstGeom>
          <a:noFill/>
        </p:spPr>
        <p:txBody>
          <a:bodyPr wrap="none">
            <a:spAutoFit/>
          </a:bodyPr>
          <a:lstStyle/>
          <a:p>
            <a:pPr algn="r">
              <a:defRPr sz="1200" b="1">
                <a:solidFill>
                  <a:srgbClr val="C5A880"/>
                </a:solidFill>
                <a:latin typeface="Arial"/>
              </a:defRPr>
            </a:pPr>
            <a:r>
              <a:t>جزء 3: ملخص دراسة السوق والتوجهات</a:t>
            </a:r>
          </a:p>
        </p:txBody>
      </p:sp>
      <p:sp>
        <p:nvSpPr>
          <p:cNvPr id="3" name="TextBox 2"/>
          <p:cNvSpPr txBox="1"/>
          <p:nvPr/>
        </p:nvSpPr>
        <p:spPr>
          <a:xfrm>
            <a:off x="914400" y="731520"/>
            <a:ext cx="10360152" cy="731520"/>
          </a:xfrm>
          <a:prstGeom prst="rect">
            <a:avLst/>
          </a:prstGeom>
          <a:noFill/>
        </p:spPr>
        <p:txBody>
          <a:bodyPr wrap="none">
            <a:spAutoFit/>
          </a:bodyPr>
          <a:lstStyle/>
          <a:p>
            <a:pPr algn="r">
              <a:defRPr sz="2800" b="1">
                <a:solidFill>
                  <a:srgbClr val="FFFFFF"/>
                </a:solidFill>
                <a:latin typeface="Arial"/>
              </a:defRPr>
            </a:pPr>
            <a:r>
              <a:t>الحلول الحالية، التوجهات التقنية وتحليل SWOT (جزء 3)</a:t>
            </a:r>
          </a:p>
        </p:txBody>
      </p:sp>
      <p:sp>
        <p:nvSpPr>
          <p:cNvPr id="4" name="TextBox 3"/>
          <p:cNvSpPr txBox="1"/>
          <p:nvPr/>
        </p:nvSpPr>
        <p:spPr>
          <a:xfrm>
            <a:off x="914400" y="1645920"/>
            <a:ext cx="10360152" cy="4572000"/>
          </a:xfrm>
          <a:prstGeom prst="rect">
            <a:avLst/>
          </a:prstGeom>
          <a:noFill/>
        </p:spPr>
        <p:txBody>
          <a:bodyPr wrap="square">
            <a:spAutoFit/>
          </a:bodyPr>
          <a:lstStyle/>
          <a:p>
            <a:pPr algn="r">
              <a:spcAft>
                <a:spcPts val="1000"/>
              </a:spcAft>
              <a:defRPr sz="1900" b="1">
                <a:solidFill>
                  <a:srgbClr val="FFFFFF"/>
                </a:solidFill>
                <a:latin typeface="Arial"/>
              </a:defRPr>
            </a:pPr>
            <a:r>
              <a:t>🔍 الحلول الحالية والفجوة في السوق:</a:t>
            </a:r>
          </a:p>
          <a:p>
            <a:pPr lvl="1" algn="r">
              <a:spcAft>
                <a:spcPts val="1000"/>
              </a:spcAft>
              <a:defRPr sz="1600">
                <a:solidFill>
                  <a:srgbClr val="A0AEC0"/>
                </a:solidFill>
                <a:latin typeface="Arial"/>
              </a:defRPr>
            </a:pPr>
            <a:r>
              <a:t>النماذج الرقمية الثابتة: طويلة ومعقدة، باللغة العبرية فقط، وتؤدي لهجر الموقع لغياب المنطق التفاعلي.</a:t>
            </a:r>
          </a:p>
          <a:p>
            <a:pPr lvl="1" algn="r">
              <a:spcAft>
                <a:spcPts val="1000"/>
              </a:spcAft>
              <a:defRPr sz="1600">
                <a:solidFill>
                  <a:srgbClr val="A0AEC0"/>
                </a:solidFill>
                <a:latin typeface="Arial"/>
              </a:defRPr>
            </a:pPr>
            <a:r>
              <a:t>التواصل المباشر والزيارة: تتطلب جهداً ووقتاً كبيراً، ومخاطرة مادية ونفسية تؤدي ليأس الزبون مبكراً.</a:t>
            </a:r>
          </a:p>
          <a:p>
            <a:pPr lvl="1" algn="r">
              <a:spcAft>
                <a:spcPts val="1000"/>
              </a:spcAft>
              <a:defRPr sz="1600">
                <a:solidFill>
                  <a:srgbClr val="A0AEC0"/>
                </a:solidFill>
                <a:latin typeface="Arial"/>
              </a:defRPr>
            </a:pPr>
            <a:r>
              <a:t>الفجوة المكتشفة: غياب منصة موحدة تجمع بين تقييم الأهلية التلقائي (AI) ولوحة تحكم المحامي لتنظيم تواصل أسرع دون تشتيت.</a:t>
            </a:r>
          </a:p>
          <a:p>
            <a:pPr algn="r">
              <a:spcAft>
                <a:spcPts val="1000"/>
              </a:spcAft>
              <a:defRPr sz="1900" b="1">
                <a:solidFill>
                  <a:srgbClr val="FFFFFF"/>
                </a:solidFill>
                <a:latin typeface="Arial"/>
              </a:defRPr>
            </a:pPr>
            <a:r>
              <a:t>📈 التوجهات التقنية الرائدة:</a:t>
            </a:r>
          </a:p>
          <a:p>
            <a:pPr lvl="1" algn="r">
              <a:spcAft>
                <a:spcPts val="1000"/>
              </a:spcAft>
              <a:defRPr sz="1600">
                <a:solidFill>
                  <a:srgbClr val="A0AEC0"/>
                </a:solidFill>
                <a:latin typeface="Arial"/>
              </a:defRPr>
            </a:pPr>
            <a:r>
              <a:t>الدردشة القانونية الذكية (Conversational Intake): أخذ تفاصيل الحوادث عبر دردشة ودية في الموبايل.</a:t>
            </a:r>
          </a:p>
          <a:p>
            <a:pPr lvl="1" algn="r">
              <a:spcAft>
                <a:spcPts val="1000"/>
              </a:spcAft>
              <a:defRPr sz="1600">
                <a:solidFill>
                  <a:srgbClr val="A0AEC0"/>
                </a:solidFill>
                <a:latin typeface="Arial"/>
              </a:defRPr>
            </a:pPr>
            <a:r>
              <a:t>تقييم الأهلية بالذكاء الاصطناعي (AI Eligibility): فحص إمكانية نجاح القضية تلقائياً بناءً على المعطيات الطبية.</a:t>
            </a:r>
          </a:p>
          <a:p>
            <a:pPr lvl="1" algn="r">
              <a:spcAft>
                <a:spcPts val="1000"/>
              </a:spcAft>
              <a:defRPr sz="1600">
                <a:solidFill>
                  <a:srgbClr val="A0AEC0"/>
                </a:solidFill>
                <a:latin typeface="Arial"/>
              </a:defRPr>
            </a:pPr>
            <a:r>
              <a:t>إدارة الأنظمة الموحدة (Unified Practice Management): ربط طلبات الزبائن مباشرة بجدول مواعيد وملفات المحامي (Outlook).</a:t>
            </a:r>
          </a:p>
          <a:p>
            <a:pPr algn="r">
              <a:spcAft>
                <a:spcPts val="1000"/>
              </a:spcAft>
              <a:defRPr sz="1900" b="1">
                <a:solidFill>
                  <a:srgbClr val="FFFFFF"/>
                </a:solidFill>
                <a:latin typeface="Arial"/>
              </a:defRPr>
            </a:pPr>
            <a:r>
              <a:t>📊 تحليل SWOT للمشروع:</a:t>
            </a:r>
          </a:p>
          <a:p>
            <a:pPr lvl="1" algn="r">
              <a:spcAft>
                <a:spcPts val="1000"/>
              </a:spcAft>
              <a:defRPr sz="1600">
                <a:solidFill>
                  <a:srgbClr val="A0AEC0"/>
                </a:solidFill>
                <a:latin typeface="Arial"/>
              </a:defRPr>
            </a:pPr>
            <a:r>
              <a:t>חוזקות (نقاط القوة): فحص الأهلية المخصص والذكي، توفير وقت الفرز للمحامي، تنظيم فوري للمواعيد وتكامل مع Outlook.</a:t>
            </a:r>
          </a:p>
          <a:p>
            <a:pPr lvl="1" algn="r">
              <a:spcAft>
                <a:spcPts val="1000"/>
              </a:spcAft>
              <a:defRPr sz="1600">
                <a:solidFill>
                  <a:srgbClr val="A0AEC0"/>
                </a:solidFill>
                <a:latin typeface="Arial"/>
              </a:defRPr>
            </a:pPr>
            <a:r>
              <a:t>חולשות (نقاط الضعف): اعتماد أداء المنصة على اتصال الإنترنت لدى هاتف الزبون.</a:t>
            </a:r>
          </a:p>
          <a:p>
            <a:pPr lvl="1" algn="r">
              <a:spcAft>
                <a:spcPts val="1000"/>
              </a:spcAft>
              <a:defRPr sz="1600">
                <a:solidFill>
                  <a:srgbClr val="A0AEC0"/>
                </a:solidFill>
                <a:latin typeface="Arial"/>
              </a:defRPr>
            </a:pPr>
            <a:r>
              <a:t>הזדמנויות (الفرص): التوسع مستقبلاً لدمج النظام مع WhatsApp Business API للوصول الأسهل للزبائن.</a:t>
            </a:r>
          </a:p>
          <a:p>
            <a:pPr lvl="1" algn="r">
              <a:spcAft>
                <a:spcPts val="1000"/>
              </a:spcAft>
              <a:defRPr sz="1600">
                <a:solidFill>
                  <a:srgbClr val="A0AEC0"/>
                </a:solidFill>
                <a:latin typeface="Arial"/>
              </a:defRPr>
            </a:pPr>
            <a:r>
              <a:t>איומים (التهديدات): مقاومة مكاتب المحاماة التقليدية للتطوير الرقمي أو استنساخ الفكرة من شركات أتمتة كبرى.</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0F17"/>
        </a:solidFill>
        <a:effectLst/>
      </p:bgPr>
    </p:bg>
    <p:spTree>
      <p:nvGrpSpPr>
        <p:cNvPr id="1" name=""/>
        <p:cNvGrpSpPr/>
        <p:nvPr/>
      </p:nvGrpSpPr>
      <p:grpSpPr/>
      <p:sp>
        <p:nvSpPr>
          <p:cNvPr id="2" name="TextBox 1"/>
          <p:cNvSpPr txBox="1"/>
          <p:nvPr/>
        </p:nvSpPr>
        <p:spPr>
          <a:xfrm>
            <a:off x="914400" y="365760"/>
            <a:ext cx="10360152" cy="365760"/>
          </a:xfrm>
          <a:prstGeom prst="rect">
            <a:avLst/>
          </a:prstGeom>
          <a:noFill/>
        </p:spPr>
        <p:txBody>
          <a:bodyPr wrap="none">
            <a:spAutoFit/>
          </a:bodyPr>
          <a:lstStyle/>
          <a:p>
            <a:pPr algn="r">
              <a:defRPr sz="1200" b="1">
                <a:solidFill>
                  <a:srgbClr val="C5A880"/>
                </a:solidFill>
                <a:latin typeface="Arial"/>
              </a:defRPr>
            </a:pPr>
            <a:r>
              <a:t>جزء 4: رؤية المنتج وقيمة العرض الفريدة</a:t>
            </a:r>
          </a:p>
        </p:txBody>
      </p:sp>
      <p:sp>
        <p:nvSpPr>
          <p:cNvPr id="3" name="TextBox 2"/>
          <p:cNvSpPr txBox="1"/>
          <p:nvPr/>
        </p:nvSpPr>
        <p:spPr>
          <a:xfrm>
            <a:off x="914400" y="731520"/>
            <a:ext cx="10360152" cy="731520"/>
          </a:xfrm>
          <a:prstGeom prst="rect">
            <a:avLst/>
          </a:prstGeom>
          <a:noFill/>
        </p:spPr>
        <p:txBody>
          <a:bodyPr wrap="none">
            <a:spAutoFit/>
          </a:bodyPr>
          <a:lstStyle/>
          <a:p>
            <a:pPr algn="r">
              <a:defRPr sz="2800" b="1">
                <a:solidFill>
                  <a:srgbClr val="FFFFFF"/>
                </a:solidFill>
                <a:latin typeface="Arial"/>
              </a:defRPr>
            </a:pPr>
            <a:r>
              <a:t>الرؤية، وقيمة العرض الفريدة وتثبيت الفرضيات (جزء 4)</a:t>
            </a:r>
          </a:p>
        </p:txBody>
      </p:sp>
      <p:sp>
        <p:nvSpPr>
          <p:cNvPr id="4" name="TextBox 3"/>
          <p:cNvSpPr txBox="1"/>
          <p:nvPr/>
        </p:nvSpPr>
        <p:spPr>
          <a:xfrm>
            <a:off x="914400" y="1645920"/>
            <a:ext cx="10360152" cy="4572000"/>
          </a:xfrm>
          <a:prstGeom prst="rect">
            <a:avLst/>
          </a:prstGeom>
          <a:noFill/>
        </p:spPr>
        <p:txBody>
          <a:bodyPr wrap="square">
            <a:spAutoFit/>
          </a:bodyPr>
          <a:lstStyle/>
          <a:p>
            <a:pPr algn="r">
              <a:spcAft>
                <a:spcPts val="1000"/>
              </a:spcAft>
              <a:defRPr sz="1900" b="1">
                <a:solidFill>
                  <a:srgbClr val="FFFFFF"/>
                </a:solidFill>
                <a:latin typeface="Arial"/>
              </a:defRPr>
            </a:pPr>
            <a:r>
              <a:t>🎯 رؤية المنتج: إزالة عوائق الخوف والتعقيد البيروقراطي، لتكون المنصة الرقمية الأكثر موثوقية وأماناً لربط المصابين بحقوقهم والتعويضات العادلة بأسرع وقت.</a:t>
            </a:r>
          </a:p>
          <a:p>
            <a:pPr algn="r">
              <a:spcAft>
                <a:spcPts val="1000"/>
              </a:spcAft>
              <a:defRPr sz="1900" b="1">
                <a:solidFill>
                  <a:srgbClr val="FFFFFF"/>
                </a:solidFill>
                <a:latin typeface="Arial"/>
              </a:defRPr>
            </a:pPr>
            <a:r>
              <a:t>💡 قيمة المنتج الفريدة (Unique Value Proposition):</a:t>
            </a:r>
          </a:p>
          <a:p>
            <a:pPr lvl="1" algn="r">
              <a:spcAft>
                <a:spcPts val="1000"/>
              </a:spcAft>
              <a:defRPr sz="1600">
                <a:solidFill>
                  <a:srgbClr val="A0AEC0"/>
                </a:solidFill>
                <a:latin typeface="Arial"/>
              </a:defRPr>
            </a:pPr>
            <a:r>
              <a:t>تقييم أهلية التعويض القانوني وتسهيل حجز المواعيد مع المحامي خلال دقيقتين فقط، بلغة بسيطة، مجاناً وبدون التزامات مسبقة – مع خصوصية كاملة وتحكم مطلق ببياناتك.</a:t>
            </a:r>
          </a:p>
          <a:p>
            <a:pPr algn="r">
              <a:spcAft>
                <a:spcPts val="1000"/>
              </a:spcAft>
              <a:defRPr sz="1900" b="1">
                <a:solidFill>
                  <a:srgbClr val="FFFFFF"/>
                </a:solidFill>
                <a:latin typeface="Arial"/>
              </a:defRPr>
            </a:pPr>
            <a:r>
              <a:t>⚔️ مقارنة المنافسين (النقاط التي نتفوق بها):</a:t>
            </a:r>
          </a:p>
          <a:p>
            <a:pPr lvl="1" algn="r">
              <a:spcAft>
                <a:spcPts val="1000"/>
              </a:spcAft>
              <a:defRPr sz="1600">
                <a:solidFill>
                  <a:srgbClr val="A0AEC0"/>
                </a:solidFill>
                <a:latin typeface="Arial"/>
              </a:defRPr>
            </a:pPr>
            <a:r>
              <a:t>توطين ودعم ثنائي اللغة ديناميكي بالكامل: (المنافسون: صفحات ثابتة وبالعبرية فقط).</a:t>
            </a:r>
          </a:p>
          <a:p>
            <a:pPr lvl="1" algn="r">
              <a:spcAft>
                <a:spcPts val="1000"/>
              </a:spcAft>
              <a:defRPr sz="1600">
                <a:solidFill>
                  <a:srgbClr val="A0AEC0"/>
                </a:solidFill>
                <a:latin typeface="Arial"/>
              </a:defRPr>
            </a:pPr>
            <a:r>
              <a:t>واجهة إدخال صوتي مدمجة وسلسة: (المنافسون: غير متوفرة، تعتمد على الكتابة الطويلة).</a:t>
            </a:r>
          </a:p>
          <a:p>
            <a:pPr lvl="1" algn="r">
              <a:spcAft>
                <a:spcPts val="1000"/>
              </a:spcAft>
              <a:defRPr sz="1600">
                <a:solidFill>
                  <a:srgbClr val="A0AEC0"/>
                </a:solidFill>
                <a:latin typeface="Arial"/>
              </a:defRPr>
            </a:pPr>
            <a:r>
              <a:t>تكامل نظام المواعيد والـ CRM للمحامي: (المنافسون: نماذج اتصال جامدة تتطلب اتصالاً هاتفياً لاحقاً).</a:t>
            </a:r>
          </a:p>
          <a:p>
            <a:pPr algn="r">
              <a:spcAft>
                <a:spcPts val="1000"/>
              </a:spcAft>
              <a:defRPr sz="1900" b="1">
                <a:solidFill>
                  <a:srgbClr val="FFFFFF"/>
                </a:solidFill>
                <a:latin typeface="Arial"/>
              </a:defRPr>
            </a:pPr>
            <a:r>
              <a:t>✔ التحقق من الفرضيات (Validation):</a:t>
            </a:r>
          </a:p>
          <a:p>
            <a:pPr lvl="1" algn="r">
              <a:spcAft>
                <a:spcPts val="1000"/>
              </a:spcAft>
              <a:defRPr sz="1600">
                <a:solidFill>
                  <a:srgbClr val="A0AEC0"/>
                </a:solidFill>
                <a:latin typeface="Arial"/>
              </a:defRPr>
            </a:pPr>
            <a:r>
              <a:t>فرضية تأخير طلب الهاتف للنهاية: أثبتت صحتها بمنع هجر الموقع وزيادة ثقة الزبون.</a:t>
            </a:r>
          </a:p>
          <a:p>
            <a:pPr lvl="1" algn="r">
              <a:spcAft>
                <a:spcPts val="1000"/>
              </a:spcAft>
              <a:defRPr sz="1600">
                <a:solidFill>
                  <a:srgbClr val="A0AEC0"/>
                </a:solidFill>
                <a:latin typeface="Arial"/>
              </a:defRPr>
            </a:pPr>
            <a:r>
              <a:t>فرضية التسجيل الصوتي: أثبتت نجاحها بتقليص جهد تعبئة المصطلحات الطبية للعمال.</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0F17"/>
        </a:solidFill>
        <a:effectLst/>
      </p:bgPr>
    </p:bg>
    <p:spTree>
      <p:nvGrpSpPr>
        <p:cNvPr id="1" name=""/>
        <p:cNvGrpSpPr/>
        <p:nvPr/>
      </p:nvGrpSpPr>
      <p:grpSpPr/>
      <p:sp>
        <p:nvSpPr>
          <p:cNvPr id="2" name="TextBox 1"/>
          <p:cNvSpPr txBox="1"/>
          <p:nvPr/>
        </p:nvSpPr>
        <p:spPr>
          <a:xfrm>
            <a:off x="914400" y="365760"/>
            <a:ext cx="10360152" cy="365760"/>
          </a:xfrm>
          <a:prstGeom prst="rect">
            <a:avLst/>
          </a:prstGeom>
          <a:noFill/>
        </p:spPr>
        <p:txBody>
          <a:bodyPr wrap="none">
            <a:spAutoFit/>
          </a:bodyPr>
          <a:lstStyle/>
          <a:p>
            <a:pPr algn="r">
              <a:defRPr sz="1200" b="1">
                <a:solidFill>
                  <a:srgbClr val="C5A880"/>
                </a:solidFill>
                <a:latin typeface="Arial"/>
              </a:defRPr>
            </a:pPr>
            <a:r>
              <a:t>جزء 5: نموذج العمل التجاري Canvas (المراحل 1-4 فقط)</a:t>
            </a:r>
          </a:p>
        </p:txBody>
      </p:sp>
      <p:sp>
        <p:nvSpPr>
          <p:cNvPr id="3" name="TextBox 2"/>
          <p:cNvSpPr txBox="1"/>
          <p:nvPr/>
        </p:nvSpPr>
        <p:spPr>
          <a:xfrm>
            <a:off x="914400" y="731520"/>
            <a:ext cx="10360152" cy="731520"/>
          </a:xfrm>
          <a:prstGeom prst="rect">
            <a:avLst/>
          </a:prstGeom>
          <a:noFill/>
        </p:spPr>
        <p:txBody>
          <a:bodyPr wrap="none">
            <a:spAutoFit/>
          </a:bodyPr>
          <a:lstStyle/>
          <a:p>
            <a:pPr algn="r">
              <a:defRPr sz="2800" b="1">
                <a:solidFill>
                  <a:srgbClr val="FFFFFF"/>
                </a:solidFill>
                <a:latin typeface="Arial"/>
              </a:defRPr>
            </a:pPr>
            <a:r>
              <a:t>نموذج العمل التجاري (جزء 5)</a:t>
            </a:r>
          </a:p>
        </p:txBody>
      </p:sp>
      <p:sp>
        <p:nvSpPr>
          <p:cNvPr id="4" name="TextBox 3"/>
          <p:cNvSpPr txBox="1"/>
          <p:nvPr/>
        </p:nvSpPr>
        <p:spPr>
          <a:xfrm>
            <a:off x="914400" y="1645920"/>
            <a:ext cx="10360152" cy="4572000"/>
          </a:xfrm>
          <a:prstGeom prst="rect">
            <a:avLst/>
          </a:prstGeom>
          <a:noFill/>
        </p:spPr>
        <p:txBody>
          <a:bodyPr wrap="square">
            <a:spAutoFit/>
          </a:bodyPr>
          <a:lstStyle/>
          <a:p>
            <a:pPr algn="r">
              <a:spcAft>
                <a:spcPts val="1000"/>
              </a:spcAft>
              <a:defRPr sz="1900" b="1">
                <a:solidFill>
                  <a:srgbClr val="FFFFFF"/>
                </a:solidFill>
                <a:latin typeface="Arial"/>
              </a:defRPr>
            </a:pPr>
            <a:r>
              <a:t>.1 شرائح العملاء (Customer Segments):</a:t>
            </a:r>
          </a:p>
          <a:p>
            <a:pPr lvl="1" algn="r">
              <a:spcAft>
                <a:spcPts val="1000"/>
              </a:spcAft>
              <a:defRPr sz="1600">
                <a:solidFill>
                  <a:srgbClr val="A0AEC0"/>
                </a:solidFill>
                <a:latin typeface="Arial"/>
              </a:defRPr>
            </a:pPr>
            <a:r>
              <a:t>الزبائن والمصابون في حوادث العمل والطرق الباحثون عن تقييم فوري وتواصل سهل مع محامٍ.</a:t>
            </a:r>
          </a:p>
          <a:p>
            <a:pPr lvl="1" algn="r">
              <a:spcAft>
                <a:spcPts val="1000"/>
              </a:spcAft>
              <a:defRPr sz="1600">
                <a:solidFill>
                  <a:srgbClr val="A0AEC0"/>
                </a:solidFill>
                <a:latin typeface="Arial"/>
              </a:defRPr>
            </a:pPr>
            <a:r>
              <a:t>مكاتب المحاماة المتخصصة في قضايا التعويضات الباحثة عن ملفات عملاء مؤهلة ومصنفة تلقائياً.</a:t>
            </a:r>
          </a:p>
          <a:p>
            <a:pPr algn="r">
              <a:spcAft>
                <a:spcPts val="1000"/>
              </a:spcAft>
              <a:defRPr sz="1900" b="1">
                <a:solidFill>
                  <a:srgbClr val="FFFFFF"/>
                </a:solidFill>
                <a:latin typeface="Arial"/>
              </a:defRPr>
            </a:pPr>
            <a:r>
              <a:t>.2 القيمة المضافة (Value Propositions):</a:t>
            </a:r>
          </a:p>
          <a:p>
            <a:pPr lvl="1" algn="r">
              <a:spcAft>
                <a:spcPts val="1000"/>
              </a:spcAft>
              <a:defRPr sz="1600">
                <a:solidFill>
                  <a:srgbClr val="A0AEC0"/>
                </a:solidFill>
                <a:latin typeface="Arial"/>
              </a:defRPr>
            </a:pPr>
            <a:r>
              <a:t>للزبون: فحص سريع وسلس مجاناً، حجز مواعيد فوري، وحماية خصوصية تامة دون خطر مالي مسبق.</a:t>
            </a:r>
          </a:p>
          <a:p>
            <a:pPr lvl="1" algn="r">
              <a:spcAft>
                <a:spcPts val="1000"/>
              </a:spcAft>
              <a:defRPr sz="1600">
                <a:solidFill>
                  <a:srgbClr val="A0AEC0"/>
                </a:solidFill>
                <a:latin typeface="Arial"/>
              </a:defRPr>
            </a:pPr>
            <a:r>
              <a:t>للمحامي: ملف قضية متكامل ومصنف مع تقييم أولي، وجدول مواعيد منظم يمنع الفوضى والمكالمات المتكررة.</a:t>
            </a:r>
          </a:p>
          <a:p>
            <a:pPr algn="r">
              <a:spcAft>
                <a:spcPts val="1000"/>
              </a:spcAft>
              <a:defRPr sz="1900" b="1">
                <a:solidFill>
                  <a:srgbClr val="FFFFFF"/>
                </a:solidFill>
                <a:latin typeface="Arial"/>
              </a:defRPr>
            </a:pPr>
            <a:r>
              <a:t>.3 القنوات (Channels):</a:t>
            </a:r>
          </a:p>
          <a:p>
            <a:pPr lvl="1" algn="r">
              <a:spcAft>
                <a:spcPts val="1000"/>
              </a:spcAft>
              <a:defRPr sz="1600">
                <a:solidFill>
                  <a:srgbClr val="A0AEC0"/>
                </a:solidFill>
                <a:latin typeface="Arial"/>
              </a:defRPr>
            </a:pPr>
            <a:r>
              <a:t>التسويق الرقمي المستهدف (SEO/SEM) عبر محركات البحث، المجموعات المهنية وتجمعات العمال الرقمية.</a:t>
            </a:r>
          </a:p>
          <a:p>
            <a:pPr algn="r">
              <a:spcAft>
                <a:spcPts val="1000"/>
              </a:spcAft>
              <a:defRPr sz="1900" b="1">
                <a:solidFill>
                  <a:srgbClr val="FFFFFF"/>
                </a:solidFill>
                <a:latin typeface="Arial"/>
              </a:defRPr>
            </a:pPr>
            <a:r>
              <a:t>.4 علاقات العملاء (Customer Relationships):</a:t>
            </a:r>
          </a:p>
          <a:p>
            <a:pPr lvl="1" algn="r">
              <a:spcAft>
                <a:spcPts val="1000"/>
              </a:spcAft>
              <a:defRPr sz="1600">
                <a:solidFill>
                  <a:srgbClr val="A0AEC0"/>
                </a:solidFill>
                <a:latin typeface="Arial"/>
              </a:defRPr>
            </a:pPr>
            <a:r>
              <a:t>علاقة قائمة على الثقة والخصوصية المطلقة (إمكانية تدمير البيانات بلمسة واحدة)، وتسهيل حجز وتعديل المواعيد بمرونة.</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D0F17"/>
        </a:solidFill>
        <a:effectLst/>
      </p:bgPr>
    </p:bg>
    <p:spTree>
      <p:nvGrpSpPr>
        <p:cNvPr id="1" name=""/>
        <p:cNvGrpSpPr/>
        <p:nvPr/>
      </p:nvGrpSpPr>
      <p:grpSpPr/>
      <p:sp>
        <p:nvSpPr>
          <p:cNvPr id="2" name="TextBox 1"/>
          <p:cNvSpPr txBox="1"/>
          <p:nvPr/>
        </p:nvSpPr>
        <p:spPr>
          <a:xfrm>
            <a:off x="914400" y="365760"/>
            <a:ext cx="10360152" cy="365760"/>
          </a:xfrm>
          <a:prstGeom prst="rect">
            <a:avLst/>
          </a:prstGeom>
          <a:noFill/>
        </p:spPr>
        <p:txBody>
          <a:bodyPr wrap="none">
            <a:spAutoFit/>
          </a:bodyPr>
          <a:lstStyle/>
          <a:p>
            <a:pPr algn="r">
              <a:defRPr sz="1200" b="1">
                <a:solidFill>
                  <a:srgbClr val="C5A880"/>
                </a:solidFill>
                <a:latin typeface="Arial"/>
              </a:defRPr>
            </a:pPr>
            <a:r>
              <a:t>جزء 6: مواصفات وتحديد أولويات الميزات (MVP)</a:t>
            </a:r>
          </a:p>
        </p:txBody>
      </p:sp>
      <p:sp>
        <p:nvSpPr>
          <p:cNvPr id="3" name="TextBox 2"/>
          <p:cNvSpPr txBox="1"/>
          <p:nvPr/>
        </p:nvSpPr>
        <p:spPr>
          <a:xfrm>
            <a:off x="914400" y="731520"/>
            <a:ext cx="10360152" cy="731520"/>
          </a:xfrm>
          <a:prstGeom prst="rect">
            <a:avLst/>
          </a:prstGeom>
          <a:noFill/>
        </p:spPr>
        <p:txBody>
          <a:bodyPr wrap="none">
            <a:spAutoFit/>
          </a:bodyPr>
          <a:lstStyle/>
          <a:p>
            <a:pPr algn="r">
              <a:defRPr sz="2800" b="1">
                <a:solidFill>
                  <a:srgbClr val="FFFFFF"/>
                </a:solidFill>
                <a:latin typeface="Arial"/>
              </a:defRPr>
            </a:pPr>
            <a:r>
              <a:t>جدول تحديد وتفضيل الميزات الأساسية حسب نموذج MoSCoW (جزء 6)</a:t>
            </a:r>
          </a:p>
        </p:txBody>
      </p:sp>
      <p:graphicFrame>
        <p:nvGraphicFramePr>
          <p:cNvPr id="4" name="Table 3"/>
          <p:cNvGraphicFramePr>
            <a:graphicFrameLocks noGrp="1"/>
          </p:cNvGraphicFramePr>
          <p:nvPr/>
        </p:nvGraphicFramePr>
        <p:xfrm>
          <a:off x="914400" y="1828800"/>
          <a:ext cx="10360152" cy="4114800"/>
        </p:xfrm>
        <a:graphic>
          <a:graphicData uri="http://schemas.openxmlformats.org/drawingml/2006/table">
            <a:tbl>
              <a:tblPr firstRow="1" bandRow="1">
                <a:tableStyleId>{5C22544A-7EE6-4342-B048-85BDC9FD1C3A}</a:tableStyleId>
              </a:tblPr>
              <a:tblGrid>
                <a:gridCol w="2286000"/>
                <a:gridCol w="2743200"/>
                <a:gridCol w="1371600"/>
                <a:gridCol w="1371600"/>
                <a:gridCol w="2587752"/>
              </a:tblGrid>
              <a:tr h="685800">
                <a:tc>
                  <a:txBody>
                    <a:bodyPr/>
                    <a:lstStyle/>
                    <a:p>
                      <a:pPr algn="r">
                        <a:defRPr sz="1300" b="1">
                          <a:solidFill>
                            <a:srgbClr val="0D0F17"/>
                          </a:solidFill>
                          <a:latin typeface="Arial"/>
                        </a:defRPr>
                      </a:pPr>
                      <a:r>
                        <a:t>اسم الميزة</a:t>
                      </a:r>
                    </a:p>
                  </a:txBody>
                  <a:tcPr>
                    <a:solidFill>
                      <a:srgbClr val="C5A880"/>
                    </a:solidFill>
                  </a:tcPr>
                </a:tc>
                <a:tc>
                  <a:txBody>
                    <a:bodyPr/>
                    <a:lstStyle/>
                    <a:p>
                      <a:pPr algn="r">
                        <a:defRPr sz="1300" b="1">
                          <a:solidFill>
                            <a:srgbClr val="0D0F17"/>
                          </a:solidFill>
                          <a:latin typeface="Arial"/>
                        </a:defRPr>
                      </a:pPr>
                      <a:r>
                        <a:t>القيمة المضافة للمستخدم</a:t>
                      </a:r>
                    </a:p>
                  </a:txBody>
                  <a:tcPr>
                    <a:solidFill>
                      <a:srgbClr val="C5A880"/>
                    </a:solidFill>
                  </a:tcPr>
                </a:tc>
                <a:tc>
                  <a:txBody>
                    <a:bodyPr/>
                    <a:lstStyle/>
                    <a:p>
                      <a:pPr algn="r">
                        <a:defRPr sz="1300" b="1">
                          <a:solidFill>
                            <a:srgbClr val="0D0F17"/>
                          </a:solidFill>
                          <a:latin typeface="Arial"/>
                        </a:defRPr>
                      </a:pPr>
                      <a:r>
                        <a:t>الأولوية</a:t>
                      </a:r>
                    </a:p>
                  </a:txBody>
                  <a:tcPr>
                    <a:solidFill>
                      <a:srgbClr val="C5A880"/>
                    </a:solidFill>
                  </a:tcPr>
                </a:tc>
                <a:tc>
                  <a:txBody>
                    <a:bodyPr/>
                    <a:lstStyle/>
                    <a:p>
                      <a:pPr algn="r">
                        <a:defRPr sz="1300" b="1">
                          <a:solidFill>
                            <a:srgbClr val="0D0F17"/>
                          </a:solidFill>
                          <a:latin typeface="Arial"/>
                        </a:defRPr>
                      </a:pPr>
                      <a:r>
                        <a:t>تقدير الوقت</a:t>
                      </a:r>
                    </a:p>
                  </a:txBody>
                  <a:tcPr>
                    <a:solidFill>
                      <a:srgbClr val="C5A880"/>
                    </a:solidFill>
                  </a:tcPr>
                </a:tc>
                <a:tc>
                  <a:txBody>
                    <a:bodyPr/>
                    <a:lstStyle/>
                    <a:p>
                      <a:pPr algn="r">
                        <a:defRPr sz="1300" b="1">
                          <a:solidFill>
                            <a:srgbClr val="0D0F17"/>
                          </a:solidFill>
                          <a:latin typeface="Arial"/>
                        </a:defRPr>
                      </a:pPr>
                      <a:r>
                        <a:t>مقياس النجاح</a:t>
                      </a:r>
                    </a:p>
                  </a:txBody>
                  <a:tcPr>
                    <a:solidFill>
                      <a:srgbClr val="C5A880"/>
                    </a:solidFill>
                  </a:tcPr>
                </a:tc>
              </a:tr>
              <a:tr h="685800">
                <a:tc>
                  <a:txBody>
                    <a:bodyPr/>
                    <a:lstStyle/>
                    <a:p>
                      <a:pPr algn="r">
                        <a:defRPr sz="1100">
                          <a:solidFill>
                            <a:srgbClr val="FFFFFF"/>
                          </a:solidFill>
                          <a:latin typeface="Arial"/>
                        </a:defRPr>
                      </a:pPr>
                      <a:r>
                        <a:t>الدردشة التفاعلية</a:t>
                      </a:r>
                    </a:p>
                  </a:txBody>
                  <a:tcPr>
                    <a:solidFill>
                      <a:srgbClr val="161B26"/>
                    </a:solidFill>
                  </a:tcPr>
                </a:tc>
                <a:tc>
                  <a:txBody>
                    <a:bodyPr/>
                    <a:lstStyle/>
                    <a:p>
                      <a:pPr algn="r">
                        <a:defRPr sz="1100">
                          <a:solidFill>
                            <a:srgbClr val="FFFFFF"/>
                          </a:solidFill>
                          <a:latin typeface="Arial"/>
                        </a:defRPr>
                      </a:pPr>
                      <a:r>
                        <a:t>توجيه ذكي للأسئلة يمنع التشتت والتعقيد</a:t>
                      </a:r>
                    </a:p>
                  </a:txBody>
                  <a:tcPr>
                    <a:solidFill>
                      <a:srgbClr val="161B26"/>
                    </a:solidFill>
                  </a:tcPr>
                </a:tc>
                <a:tc>
                  <a:txBody>
                    <a:bodyPr/>
                    <a:lstStyle/>
                    <a:p>
                      <a:pPr algn="r">
                        <a:defRPr sz="1100">
                          <a:solidFill>
                            <a:srgbClr val="FFFFFF"/>
                          </a:solidFill>
                          <a:latin typeface="Arial"/>
                        </a:defRPr>
                      </a:pPr>
                      <a:r>
                        <a:t>Must Have</a:t>
                      </a:r>
                    </a:p>
                  </a:txBody>
                  <a:tcPr>
                    <a:solidFill>
                      <a:srgbClr val="161B26"/>
                    </a:solidFill>
                  </a:tcPr>
                </a:tc>
                <a:tc>
                  <a:txBody>
                    <a:bodyPr/>
                    <a:lstStyle/>
                    <a:p>
                      <a:pPr algn="r">
                        <a:defRPr sz="1100">
                          <a:solidFill>
                            <a:srgbClr val="FFFFFF"/>
                          </a:solidFill>
                          <a:latin typeface="Arial"/>
                        </a:defRPr>
                      </a:pPr>
                      <a:r>
                        <a:t>15 ساعة</a:t>
                      </a:r>
                    </a:p>
                  </a:txBody>
                  <a:tcPr>
                    <a:solidFill>
                      <a:srgbClr val="161B26"/>
                    </a:solidFill>
                  </a:tcPr>
                </a:tc>
                <a:tc>
                  <a:txBody>
                    <a:bodyPr/>
                    <a:lstStyle/>
                    <a:p>
                      <a:pPr algn="r">
                        <a:defRPr sz="1100">
                          <a:solidFill>
                            <a:srgbClr val="FFFFFF"/>
                          </a:solidFill>
                          <a:latin typeface="Arial"/>
                        </a:defRPr>
                      </a:pPr>
                      <a:r>
                        <a:t>تجاوز نسبة إتمام الاستبيان لـ 85%</a:t>
                      </a:r>
                    </a:p>
                  </a:txBody>
                  <a:tcPr>
                    <a:solidFill>
                      <a:srgbClr val="161B26"/>
                    </a:solidFill>
                  </a:tcPr>
                </a:tc>
              </a:tr>
              <a:tr h="685800">
                <a:tc>
                  <a:txBody>
                    <a:bodyPr/>
                    <a:lstStyle/>
                    <a:p>
                      <a:pPr algn="r">
                        <a:defRPr sz="1100">
                          <a:solidFill>
                            <a:srgbClr val="FFFFFF"/>
                          </a:solidFill>
                          <a:latin typeface="Arial"/>
                        </a:defRPr>
                      </a:pPr>
                      <a:r>
                        <a:t>التسجيل الصوتي</a:t>
                      </a:r>
                    </a:p>
                  </a:txBody>
                  <a:tcPr>
                    <a:solidFill>
                      <a:srgbClr val="11141C"/>
                    </a:solidFill>
                  </a:tcPr>
                </a:tc>
                <a:tc>
                  <a:txBody>
                    <a:bodyPr/>
                    <a:lstStyle/>
                    <a:p>
                      <a:pPr algn="r">
                        <a:defRPr sz="1100">
                          <a:solidFill>
                            <a:srgbClr val="FFFFFF"/>
                          </a:solidFill>
                          <a:latin typeface="Arial"/>
                        </a:defRPr>
                      </a:pPr>
                      <a:r>
                        <a:t>إزالة عقبات الكتابة الطبية على الموبايل</a:t>
                      </a:r>
                    </a:p>
                  </a:txBody>
                  <a:tcPr>
                    <a:solidFill>
                      <a:srgbClr val="11141C"/>
                    </a:solidFill>
                  </a:tcPr>
                </a:tc>
                <a:tc>
                  <a:txBody>
                    <a:bodyPr/>
                    <a:lstStyle/>
                    <a:p>
                      <a:pPr algn="r">
                        <a:defRPr sz="1100">
                          <a:solidFill>
                            <a:srgbClr val="FFFFFF"/>
                          </a:solidFill>
                          <a:latin typeface="Arial"/>
                        </a:defRPr>
                      </a:pPr>
                      <a:r>
                        <a:t>Must Have</a:t>
                      </a:r>
                    </a:p>
                  </a:txBody>
                  <a:tcPr>
                    <a:solidFill>
                      <a:srgbClr val="11141C"/>
                    </a:solidFill>
                  </a:tcPr>
                </a:tc>
                <a:tc>
                  <a:txBody>
                    <a:bodyPr/>
                    <a:lstStyle/>
                    <a:p>
                      <a:pPr algn="r">
                        <a:defRPr sz="1100">
                          <a:solidFill>
                            <a:srgbClr val="FFFFFF"/>
                          </a:solidFill>
                          <a:latin typeface="Arial"/>
                        </a:defRPr>
                      </a:pPr>
                      <a:r>
                        <a:t>20 ساعة</a:t>
                      </a:r>
                    </a:p>
                  </a:txBody>
                  <a:tcPr>
                    <a:solidFill>
                      <a:srgbClr val="11141C"/>
                    </a:solidFill>
                  </a:tcPr>
                </a:tc>
                <a:tc>
                  <a:txBody>
                    <a:bodyPr/>
                    <a:lstStyle/>
                    <a:p>
                      <a:pPr algn="r">
                        <a:defRPr sz="1100">
                          <a:solidFill>
                            <a:srgbClr val="FFFFFF"/>
                          </a:solidFill>
                          <a:latin typeface="Arial"/>
                        </a:defRPr>
                      </a:pPr>
                      <a:r>
                        <a:t>استخدام الصوت في 50% من الحالات</a:t>
                      </a:r>
                    </a:p>
                  </a:txBody>
                  <a:tcPr>
                    <a:solidFill>
                      <a:srgbClr val="11141C"/>
                    </a:solidFill>
                  </a:tcPr>
                </a:tc>
              </a:tr>
              <a:tr h="685800">
                <a:tc>
                  <a:txBody>
                    <a:bodyPr/>
                    <a:lstStyle/>
                    <a:p>
                      <a:pPr algn="r">
                        <a:defRPr sz="1100">
                          <a:solidFill>
                            <a:srgbClr val="FFFFFF"/>
                          </a:solidFill>
                          <a:latin typeface="Arial"/>
                        </a:defRPr>
                      </a:pPr>
                      <a:r>
                        <a:t>شاشة الأمان المالي</a:t>
                      </a:r>
                    </a:p>
                  </a:txBody>
                  <a:tcPr>
                    <a:solidFill>
                      <a:srgbClr val="161B26"/>
                    </a:solidFill>
                  </a:tcPr>
                </a:tc>
                <a:tc>
                  <a:txBody>
                    <a:bodyPr/>
                    <a:lstStyle/>
                    <a:p>
                      <a:pPr algn="r">
                        <a:defRPr sz="1100">
                          <a:solidFill>
                            <a:srgbClr val="FFFFFF"/>
                          </a:solidFill>
                          <a:latin typeface="Arial"/>
                        </a:defRPr>
                      </a:pPr>
                      <a:r>
                        <a:t>إزالة القلق المالي ('0 شيكل مسبقاً')</a:t>
                      </a:r>
                    </a:p>
                  </a:txBody>
                  <a:tcPr>
                    <a:solidFill>
                      <a:srgbClr val="161B26"/>
                    </a:solidFill>
                  </a:tcPr>
                </a:tc>
                <a:tc>
                  <a:txBody>
                    <a:bodyPr/>
                    <a:lstStyle/>
                    <a:p>
                      <a:pPr algn="r">
                        <a:defRPr sz="1100">
                          <a:solidFill>
                            <a:srgbClr val="FFFFFF"/>
                          </a:solidFill>
                          <a:latin typeface="Arial"/>
                        </a:defRPr>
                      </a:pPr>
                      <a:r>
                        <a:t>Must Have</a:t>
                      </a:r>
                    </a:p>
                  </a:txBody>
                  <a:tcPr>
                    <a:solidFill>
                      <a:srgbClr val="161B26"/>
                    </a:solidFill>
                  </a:tcPr>
                </a:tc>
                <a:tc>
                  <a:txBody>
                    <a:bodyPr/>
                    <a:lstStyle/>
                    <a:p>
                      <a:pPr algn="r">
                        <a:defRPr sz="1100">
                          <a:solidFill>
                            <a:srgbClr val="FFFFFF"/>
                          </a:solidFill>
                          <a:latin typeface="Arial"/>
                        </a:defRPr>
                      </a:pPr>
                      <a:r>
                        <a:t>5 ساعات</a:t>
                      </a:r>
                    </a:p>
                  </a:txBody>
                  <a:tcPr>
                    <a:solidFill>
                      <a:srgbClr val="161B26"/>
                    </a:solidFill>
                  </a:tcPr>
                </a:tc>
                <a:tc>
                  <a:txBody>
                    <a:bodyPr/>
                    <a:lstStyle/>
                    <a:p>
                      <a:pPr algn="r">
                        <a:defRPr sz="1100">
                          <a:solidFill>
                            <a:srgbClr val="FFFFFF"/>
                          </a:solidFill>
                          <a:latin typeface="Arial"/>
                        </a:defRPr>
                      </a:pPr>
                      <a:r>
                        <a:t>انخفاض هجر الاستبيان في خطوة الاتصال</a:t>
                      </a:r>
                    </a:p>
                  </a:txBody>
                  <a:tcPr>
                    <a:solidFill>
                      <a:srgbClr val="161B26"/>
                    </a:solidFill>
                  </a:tcPr>
                </a:tc>
              </a:tr>
              <a:tr h="685800">
                <a:tc>
                  <a:txBody>
                    <a:bodyPr/>
                    <a:lstStyle/>
                    <a:p>
                      <a:pPr algn="r">
                        <a:defRPr sz="1100">
                          <a:solidFill>
                            <a:srgbClr val="FFFFFF"/>
                          </a:solidFill>
                          <a:latin typeface="Arial"/>
                        </a:defRPr>
                      </a:pPr>
                      <a:r>
                        <a:t>لوحة تحكم المحامي</a:t>
                      </a:r>
                    </a:p>
                  </a:txBody>
                  <a:tcPr>
                    <a:solidFill>
                      <a:srgbClr val="11141C"/>
                    </a:solidFill>
                  </a:tcPr>
                </a:tc>
                <a:tc>
                  <a:txBody>
                    <a:bodyPr/>
                    <a:lstStyle/>
                    <a:p>
                      <a:pPr algn="r">
                        <a:defRPr sz="1100">
                          <a:solidFill>
                            <a:srgbClr val="FFFFFF"/>
                          </a:solidFill>
                          <a:latin typeface="Arial"/>
                        </a:defRPr>
                      </a:pPr>
                      <a:r>
                        <a:t>تنظيم الملفات وتنسيق المواعيد وتكامل Outlook</a:t>
                      </a:r>
                    </a:p>
                  </a:txBody>
                  <a:tcPr>
                    <a:solidFill>
                      <a:srgbClr val="11141C"/>
                    </a:solidFill>
                  </a:tcPr>
                </a:tc>
                <a:tc>
                  <a:txBody>
                    <a:bodyPr/>
                    <a:lstStyle/>
                    <a:p>
                      <a:pPr algn="r">
                        <a:defRPr sz="1100">
                          <a:solidFill>
                            <a:srgbClr val="FFFFFF"/>
                          </a:solidFill>
                          <a:latin typeface="Arial"/>
                        </a:defRPr>
                      </a:pPr>
                      <a:r>
                        <a:t>Must Have</a:t>
                      </a:r>
                    </a:p>
                  </a:txBody>
                  <a:tcPr>
                    <a:solidFill>
                      <a:srgbClr val="11141C"/>
                    </a:solidFill>
                  </a:tcPr>
                </a:tc>
                <a:tc>
                  <a:txBody>
                    <a:bodyPr/>
                    <a:lstStyle/>
                    <a:p>
                      <a:pPr algn="r">
                        <a:defRPr sz="1100">
                          <a:solidFill>
                            <a:srgbClr val="FFFFFF"/>
                          </a:solidFill>
                          <a:latin typeface="Arial"/>
                        </a:defRPr>
                      </a:pPr>
                      <a:r>
                        <a:t>10 ساعات</a:t>
                      </a:r>
                    </a:p>
                  </a:txBody>
                  <a:tcPr>
                    <a:solidFill>
                      <a:srgbClr val="11141C"/>
                    </a:solidFill>
                  </a:tcPr>
                </a:tc>
                <a:tc>
                  <a:txBody>
                    <a:bodyPr/>
                    <a:lstStyle/>
                    <a:p>
                      <a:pPr algn="r">
                        <a:defRPr sz="1100">
                          <a:solidFill>
                            <a:srgbClr val="FFFFFF"/>
                          </a:solidFill>
                          <a:latin typeface="Arial"/>
                        </a:defRPr>
                      </a:pPr>
                      <a:r>
                        <a:t>تصفح وقراءة ملف القضية بأقل من 3 دقائق</a:t>
                      </a:r>
                    </a:p>
                  </a:txBody>
                  <a:tcPr>
                    <a:solidFill>
                      <a:srgbClr val="11141C"/>
                    </a:solidFill>
                  </a:tcPr>
                </a:tc>
              </a:tr>
              <a:tr h="685800">
                <a:tc>
                  <a:txBody>
                    <a:bodyPr/>
                    <a:lstStyle/>
                    <a:p>
                      <a:pPr algn="r">
                        <a:defRPr sz="1100">
                          <a:solidFill>
                            <a:srgbClr val="FFFFFF"/>
                          </a:solidFill>
                          <a:latin typeface="Arial"/>
                        </a:defRPr>
                      </a:pPr>
                      <a:r>
                        <a:t>رفع الملفات الذكي</a:t>
                      </a:r>
                    </a:p>
                  </a:txBody>
                  <a:tcPr>
                    <a:solidFill>
                      <a:srgbClr val="161B26"/>
                    </a:solidFill>
                  </a:tcPr>
                </a:tc>
                <a:tc>
                  <a:txBody>
                    <a:bodyPr/>
                    <a:lstStyle/>
                    <a:p>
                      <a:pPr algn="r">
                        <a:defRPr sz="1100">
                          <a:solidFill>
                            <a:srgbClr val="FFFFFF"/>
                          </a:solidFill>
                          <a:latin typeface="Arial"/>
                        </a:defRPr>
                      </a:pPr>
                      <a:r>
                        <a:t>رفع التقارير الطبية والمستندات بمرونة</a:t>
                      </a:r>
                    </a:p>
                  </a:txBody>
                  <a:tcPr>
                    <a:solidFill>
                      <a:srgbClr val="161B26"/>
                    </a:solidFill>
                  </a:tcPr>
                </a:tc>
                <a:tc>
                  <a:txBody>
                    <a:bodyPr/>
                    <a:lstStyle/>
                    <a:p>
                      <a:pPr algn="r">
                        <a:defRPr sz="1100">
                          <a:solidFill>
                            <a:srgbClr val="FFFFFF"/>
                          </a:solidFill>
                          <a:latin typeface="Arial"/>
                        </a:defRPr>
                      </a:pPr>
                      <a:r>
                        <a:t>Should Have</a:t>
                      </a:r>
                    </a:p>
                  </a:txBody>
                  <a:tcPr>
                    <a:solidFill>
                      <a:srgbClr val="161B26"/>
                    </a:solidFill>
                  </a:tcPr>
                </a:tc>
                <a:tc>
                  <a:txBody>
                    <a:bodyPr/>
                    <a:lstStyle/>
                    <a:p>
                      <a:pPr algn="r">
                        <a:defRPr sz="1100">
                          <a:solidFill>
                            <a:srgbClr val="FFFFFF"/>
                          </a:solidFill>
                          <a:latin typeface="Arial"/>
                        </a:defRPr>
                      </a:pPr>
                      <a:r>
                        <a:t>8 ساعات</a:t>
                      </a:r>
                    </a:p>
                  </a:txBody>
                  <a:tcPr>
                    <a:solidFill>
                      <a:srgbClr val="161B26"/>
                    </a:solidFill>
                  </a:tcPr>
                </a:tc>
                <a:tc>
                  <a:txBody>
                    <a:bodyPr/>
                    <a:lstStyle/>
                    <a:p>
                      <a:pPr algn="r">
                        <a:defRPr sz="1100">
                          <a:solidFill>
                            <a:srgbClr val="FFFFFF"/>
                          </a:solidFill>
                          <a:latin typeface="Arial"/>
                        </a:defRPr>
                      </a:pPr>
                      <a:r>
                        <a:t>رفع مستندات طبية في 40% من الحالات</a:t>
                      </a:r>
                    </a:p>
                  </a:txBody>
                  <a:tcPr>
                    <a:solidFill>
                      <a:srgbClr val="161B26"/>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D0F17"/>
        </a:solidFill>
        <a:effectLst/>
      </p:bgPr>
    </p:bg>
    <p:spTree>
      <p:nvGrpSpPr>
        <p:cNvPr id="1" name=""/>
        <p:cNvGrpSpPr/>
        <p:nvPr/>
      </p:nvGrpSpPr>
      <p:grpSpPr/>
      <p:sp>
        <p:nvSpPr>
          <p:cNvPr id="2" name="TextBox 1"/>
          <p:cNvSpPr txBox="1"/>
          <p:nvPr/>
        </p:nvSpPr>
        <p:spPr>
          <a:xfrm>
            <a:off x="914400" y="365760"/>
            <a:ext cx="10360152" cy="365760"/>
          </a:xfrm>
          <a:prstGeom prst="rect">
            <a:avLst/>
          </a:prstGeom>
          <a:noFill/>
        </p:spPr>
        <p:txBody>
          <a:bodyPr wrap="none">
            <a:spAutoFit/>
          </a:bodyPr>
          <a:lstStyle/>
          <a:p>
            <a:pPr algn="r">
              <a:defRPr sz="1200" b="1">
                <a:solidFill>
                  <a:srgbClr val="C5A880"/>
                </a:solidFill>
                <a:latin typeface="Arial"/>
              </a:defRPr>
            </a:pPr>
            <a:r>
              <a:t>جزء 7 وجزء 8: النموذج الأولي العملي وتقرير سهولة الاستخدام</a:t>
            </a:r>
          </a:p>
        </p:txBody>
      </p:sp>
      <p:sp>
        <p:nvSpPr>
          <p:cNvPr id="3" name="TextBox 2"/>
          <p:cNvSpPr txBox="1"/>
          <p:nvPr/>
        </p:nvSpPr>
        <p:spPr>
          <a:xfrm>
            <a:off x="914400" y="731520"/>
            <a:ext cx="10360152" cy="731520"/>
          </a:xfrm>
          <a:prstGeom prst="rect">
            <a:avLst/>
          </a:prstGeom>
          <a:noFill/>
        </p:spPr>
        <p:txBody>
          <a:bodyPr wrap="none">
            <a:spAutoFit/>
          </a:bodyPr>
          <a:lstStyle/>
          <a:p>
            <a:pPr algn="r">
              <a:defRPr sz="2800" b="1">
                <a:solidFill>
                  <a:srgbClr val="FFFFFF"/>
                </a:solidFill>
                <a:latin typeface="Arial"/>
              </a:defRPr>
            </a:pPr>
            <a:r>
              <a:t>النموذج الأولي العملي وتقرير سهولة الاستخدام والقياس (جزء 7-8)</a:t>
            </a:r>
          </a:p>
        </p:txBody>
      </p:sp>
      <p:sp>
        <p:nvSpPr>
          <p:cNvPr id="4" name="TextBox 3"/>
          <p:cNvSpPr txBox="1"/>
          <p:nvPr/>
        </p:nvSpPr>
        <p:spPr>
          <a:xfrm>
            <a:off x="914400" y="1645920"/>
            <a:ext cx="10360152" cy="4572000"/>
          </a:xfrm>
          <a:prstGeom prst="rect">
            <a:avLst/>
          </a:prstGeom>
          <a:noFill/>
        </p:spPr>
        <p:txBody>
          <a:bodyPr wrap="square">
            <a:spAutoFit/>
          </a:bodyPr>
          <a:lstStyle/>
          <a:p>
            <a:pPr algn="r">
              <a:spcAft>
                <a:spcPts val="1000"/>
              </a:spcAft>
              <a:defRPr sz="1900" b="1">
                <a:solidFill>
                  <a:srgbClr val="FFFFFF"/>
                </a:solidFill>
                <a:latin typeface="Arial"/>
              </a:defRPr>
            </a:pPr>
            <a:r>
              <a:t>🔗 روابط تجربة النموذج الأولي الفعال:</a:t>
            </a:r>
          </a:p>
          <a:p>
            <a:pPr lvl="1" algn="r">
              <a:spcAft>
                <a:spcPts val="1000"/>
              </a:spcAft>
              <a:defRPr sz="1600">
                <a:solidFill>
                  <a:srgbClr val="A0AEC0"/>
                </a:solidFill>
                <a:latin typeface="Arial"/>
              </a:defRPr>
            </a:pPr>
            <a:r>
              <a:t>الاستبيان وحجز المواعيد للزبون: http://localhost:8000/client_intake.html</a:t>
            </a:r>
          </a:p>
          <a:p>
            <a:pPr lvl="1" algn="r">
              <a:spcAft>
                <a:spcPts val="1000"/>
              </a:spcAft>
              <a:defRPr sz="1600">
                <a:solidFill>
                  <a:srgbClr val="A0AEC0"/>
                </a:solidFill>
                <a:latin typeface="Arial"/>
              </a:defRPr>
            </a:pPr>
            <a:r>
              <a:t>لوحة تحكم المحامي وإدارة المكاتب: http://localhost:8000/lawyer_dashboard.html</a:t>
            </a:r>
          </a:p>
          <a:p>
            <a:pPr algn="r">
              <a:spcAft>
                <a:spcPts val="1000"/>
              </a:spcAft>
              <a:defRPr sz="1900" b="1">
                <a:solidFill>
                  <a:srgbClr val="FFFFFF"/>
                </a:solidFill>
                <a:latin typeface="Arial"/>
              </a:defRPr>
            </a:pPr>
            <a:r>
              <a:t>📈 خطوات تدفق الموكل والمحامي في النظام:</a:t>
            </a:r>
          </a:p>
          <a:p>
            <a:pPr lvl="1" algn="r">
              <a:spcAft>
                <a:spcPts val="1000"/>
              </a:spcAft>
              <a:defRPr sz="1600">
                <a:solidFill>
                  <a:srgbClr val="A0AEC0"/>
                </a:solidFill>
                <a:latin typeface="Arial"/>
              </a:defRPr>
            </a:pPr>
            <a:r>
              <a:t>اختيار اللغة والبدء بالدردشة -&gt; التسجيل الصوتي لشرح الإصابة -&gt; الحصول على تقييم أولي وحجز موعد فوري -&gt; استلام المحامي للملف في لوحة التحكم وتنسيق الموعد تلقائياً مع Outlook.</a:t>
            </a:r>
          </a:p>
          <a:p>
            <a:pPr algn="r">
              <a:spcAft>
                <a:spcPts val="1000"/>
              </a:spcAft>
              <a:defRPr sz="1900" b="1">
                <a:solidFill>
                  <a:srgbClr val="FFFFFF"/>
                </a:solidFill>
                <a:latin typeface="Arial"/>
              </a:defRPr>
            </a:pPr>
            <a:r>
              <a:t>📊 تقرير سهولة الاستخدام والقياس بالأرقام (Usability Report):</a:t>
            </a:r>
          </a:p>
          <a:p>
            <a:pPr lvl="1" algn="r">
              <a:spcAft>
                <a:spcPts val="1000"/>
              </a:spcAft>
              <a:defRPr sz="1600">
                <a:solidFill>
                  <a:srgbClr val="A0AEC0"/>
                </a:solidFill>
                <a:latin typeface="Arial"/>
              </a:defRPr>
            </a:pPr>
            <a:r>
              <a:t>جولتا اختبارات شמישות على 6 مشاركين من الجمهور المستهدف ومحامٍ واحد.</a:t>
            </a:r>
          </a:p>
          <a:p>
            <a:pPr lvl="1" algn="r">
              <a:spcAft>
                <a:spcPts val="1000"/>
              </a:spcAft>
              <a:defRPr sz="1600">
                <a:solidFill>
                  <a:srgbClr val="A0AEC0"/>
                </a:solidFill>
                <a:latin typeface="Arial"/>
              </a:defRPr>
            </a:pPr>
            <a:r>
              <a:t>التحسينات المنجزة: تأخير طلب الهاتف للنهاية ووضع رسالة أمان ('0 شيكل') | تعريب زر التأكيد حسب الواجهة | تفعيل التصفية التلقائية.</a:t>
            </a:r>
          </a:p>
          <a:p>
            <a:pPr algn="r">
              <a:spcAft>
                <a:spcPts val="1000"/>
              </a:spcAft>
              <a:defRPr sz="1900" b="1">
                <a:solidFill>
                  <a:srgbClr val="FFFFFF"/>
                </a:solidFill>
                <a:latin typeface="Arial"/>
              </a:defRPr>
            </a:pPr>
            <a:r>
              <a:t> مقارنة المقاييس الرقمية (الجولة 1 مقابل الجولة 2):</a:t>
            </a:r>
          </a:p>
          <a:p>
            <a:pPr lvl="1" algn="r">
              <a:spcAft>
                <a:spcPts val="1000"/>
              </a:spcAft>
              <a:defRPr sz="1600">
                <a:solidFill>
                  <a:srgbClr val="A0AEC0"/>
                </a:solidFill>
                <a:latin typeface="Arial"/>
              </a:defRPr>
            </a:pPr>
            <a:r>
              <a:t>معدل إكمال الاستبيان (Completion Rate): ارتفع من 60% إلى 90% بفضل رسائل الأمان والصوت.</a:t>
            </a:r>
          </a:p>
          <a:p>
            <a:pPr lvl="1" algn="r">
              <a:spcAft>
                <a:spcPts val="1000"/>
              </a:spcAft>
              <a:defRPr sz="1600">
                <a:solidFill>
                  <a:srgbClr val="A0AEC0"/>
                </a:solidFill>
                <a:latin typeface="Arial"/>
              </a:defRPr>
            </a:pPr>
            <a:r>
              <a:t>متوسط وقت الإكمال (Time to Complete): انخفض من 5 دقائق إلى دقيقتين فقط بفضل واجهة الإدخال الصوتي وسرعة حجز المواعيد.</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D0F17"/>
        </a:solidFill>
        <a:effectLst/>
      </p:bgPr>
    </p:bg>
    <p:spTree>
      <p:nvGrpSpPr>
        <p:cNvPr id="1" name=""/>
        <p:cNvGrpSpPr/>
        <p:nvPr/>
      </p:nvGrpSpPr>
      <p:grpSpPr/>
      <p:sp>
        <p:nvSpPr>
          <p:cNvPr id="2" name="TextBox 1"/>
          <p:cNvSpPr txBox="1"/>
          <p:nvPr/>
        </p:nvSpPr>
        <p:spPr>
          <a:xfrm>
            <a:off x="914400" y="365760"/>
            <a:ext cx="10360152" cy="365760"/>
          </a:xfrm>
          <a:prstGeom prst="rect">
            <a:avLst/>
          </a:prstGeom>
          <a:noFill/>
        </p:spPr>
        <p:txBody>
          <a:bodyPr wrap="none">
            <a:spAutoFit/>
          </a:bodyPr>
          <a:lstStyle/>
          <a:p>
            <a:pPr algn="r">
              <a:defRPr sz="1200" b="1">
                <a:solidFill>
                  <a:srgbClr val="C5A880"/>
                </a:solidFill>
                <a:latin typeface="Arial"/>
              </a:defRPr>
            </a:pPr>
            <a:r>
              <a:t>التجربة الشخصية والتحديات التي واجهتها</a:t>
            </a:r>
          </a:p>
        </p:txBody>
      </p:sp>
      <p:sp>
        <p:nvSpPr>
          <p:cNvPr id="3" name="TextBox 2"/>
          <p:cNvSpPr txBox="1"/>
          <p:nvPr/>
        </p:nvSpPr>
        <p:spPr>
          <a:xfrm>
            <a:off x="914400" y="731520"/>
            <a:ext cx="10360152" cy="731520"/>
          </a:xfrm>
          <a:prstGeom prst="rect">
            <a:avLst/>
          </a:prstGeom>
          <a:noFill/>
        </p:spPr>
        <p:txBody>
          <a:bodyPr wrap="none">
            <a:spAutoFit/>
          </a:bodyPr>
          <a:lstStyle/>
          <a:p>
            <a:pPr algn="r">
              <a:defRPr sz="2800" b="1">
                <a:solidFill>
                  <a:srgbClr val="FFFFFF"/>
                </a:solidFill>
                <a:latin typeface="Arial"/>
              </a:defRPr>
            </a:pPr>
            <a:r>
              <a:t>العمل الشخصي والتحديات والصعوبات التقنية التي واجهتها أثناء البناء (شريحة 8)</a:t>
            </a:r>
          </a:p>
        </p:txBody>
      </p:sp>
      <p:sp>
        <p:nvSpPr>
          <p:cNvPr id="4" name="TextBox 3"/>
          <p:cNvSpPr txBox="1"/>
          <p:nvPr/>
        </p:nvSpPr>
        <p:spPr>
          <a:xfrm>
            <a:off x="914400" y="1645920"/>
            <a:ext cx="10360152" cy="4572000"/>
          </a:xfrm>
          <a:prstGeom prst="rect">
            <a:avLst/>
          </a:prstGeom>
          <a:noFill/>
        </p:spPr>
        <p:txBody>
          <a:bodyPr wrap="square">
            <a:spAutoFit/>
          </a:bodyPr>
          <a:lstStyle/>
          <a:p>
            <a:pPr algn="r">
              <a:spcAft>
                <a:spcPts val="1000"/>
              </a:spcAft>
              <a:defRPr sz="1900" b="1">
                <a:solidFill>
                  <a:srgbClr val="FFFFFF"/>
                </a:solidFill>
                <a:latin typeface="Arial"/>
              </a:defRPr>
            </a:pPr>
            <a:r>
              <a:t>💡 الصعوبات التقنية والمنتجية التي واجهتها أثناء البناء:</a:t>
            </a:r>
          </a:p>
          <a:p>
            <a:pPr algn="r">
              <a:spcAft>
                <a:spcPts val="1000"/>
              </a:spcAft>
              <a:defRPr sz="1900" b="1">
                <a:solidFill>
                  <a:srgbClr val="FFFFFF"/>
                </a:solidFill>
                <a:latin typeface="Arial"/>
              </a:defRPr>
            </a:pPr>
            <a:r>
              <a:t>  1. الدمج ثنائي اللغة الديناميكي والكامل:</a:t>
            </a:r>
          </a:p>
          <a:p>
            <a:pPr lvl="1" algn="r">
              <a:spcAft>
                <a:spcPts val="1000"/>
              </a:spcAft>
              <a:defRPr sz="1600">
                <a:solidFill>
                  <a:srgbClr val="A0AEC0"/>
                </a:solidFill>
                <a:latin typeface="Arial"/>
              </a:defRPr>
            </a:pPr>
            <a:r>
              <a:t>  الصعوبة في الحفاظ على تجربة مستخدم موحدة للدردشة والمستندات، وتجاوب أزرار الاستبيان ديناميكياً عند تحويل اللغة لتجنب تشتيت الزبون.</a:t>
            </a:r>
          </a:p>
          <a:p>
            <a:pPr algn="r">
              <a:spcAft>
                <a:spcPts val="1000"/>
              </a:spcAft>
              <a:defRPr sz="1900" b="1">
                <a:solidFill>
                  <a:srgbClr val="FFFFFF"/>
                </a:solidFill>
                <a:latin typeface="Arial"/>
              </a:defRPr>
            </a:pPr>
            <a:r>
              <a:t>  2. تحسين تقنية تحويل الصوت إلى نصوص (Web Speech API):</a:t>
            </a:r>
          </a:p>
          <a:p>
            <a:pPr lvl="1" algn="r">
              <a:spcAft>
                <a:spcPts val="1000"/>
              </a:spcAft>
              <a:defRPr sz="1600">
                <a:solidFill>
                  <a:srgbClr val="A0AEC0"/>
                </a:solidFill>
                <a:latin typeface="Arial"/>
              </a:defRPr>
            </a:pPr>
            <a:r>
              <a:t>  تطلب الأمر ضبط إعدادات التسجيل والتعرف الصوتي لربط وتثبيت النصوص الطويلة بشكل متواصل لمنع مسح التفاصيل السابقة عندما يتوقف الزبون لالتقاط أنفاسه.</a:t>
            </a:r>
          </a:p>
          <a:p>
            <a:pPr algn="r">
              <a:spcAft>
                <a:spcPts val="1000"/>
              </a:spcAft>
              <a:defRPr sz="1900" b="1">
                <a:solidFill>
                  <a:srgbClr val="FFFFFF"/>
                </a:solidFill>
                <a:latin typeface="Arial"/>
              </a:defRPr>
            </a:pPr>
            <a:r>
              <a:t>  3. دمج وتأمين بوابة خدمات Microsoft Outlook للمحامي:</a:t>
            </a:r>
          </a:p>
          <a:p>
            <a:pPr lvl="1" algn="r">
              <a:spcAft>
                <a:spcPts val="1000"/>
              </a:spcAft>
              <a:defRPr sz="1600">
                <a:solidFill>
                  <a:srgbClr val="A0AEC0"/>
                </a:solidFill>
                <a:latin typeface="Arial"/>
              </a:defRPr>
            </a:pPr>
            <a:r>
              <a:t>  واجهنا عائق منع التضمين (X-Frame-Options) للبريد الإلكتروني الحقيقي بداخل الموقع. قمنا بحل ذلك عن طريق بناء شريط أدوات Microsoft 365 الجانبي الذي يفتح التطبيقات بنوافذ مستقلة وآمنة لتسجيل الدخول التلقائي (SSO) عبر حساب ويندوز النشط للمحامي.</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