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Rectangle 1"/>
          <p:cNvSpPr/>
          <p:nvPr/>
        </p:nvSpPr>
        <p:spPr>
          <a:xfrm>
            <a:off x="1371600" y="2011680"/>
            <a:ext cx="9445752" cy="36576"/>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445752" cy="1828800"/>
          </a:xfrm>
          <a:prstGeom prst="rect">
            <a:avLst/>
          </a:prstGeom>
          <a:noFill/>
        </p:spPr>
        <p:txBody>
          <a:bodyPr wrap="square">
            <a:spAutoFit/>
          </a:bodyPr>
          <a:lstStyle/>
          <a:p>
            <a:pPr algn="r">
              <a:defRPr sz="3600" b="1">
                <a:solidFill>
                  <a:srgbClr val="FFFFFF"/>
                </a:solidFill>
                <a:latin typeface="Arial"/>
              </a:defRPr>
            </a:pPr>
            <a:r>
              <a:t>גשר אל-קודס (JLM Legal Bridge)</a:t>
            </a:r>
          </a:p>
          <a:p>
            <a:pPr algn="r">
              <a:spcBef>
                <a:spcPts val="1200"/>
              </a:spcBef>
              <a:defRPr sz="2000">
                <a:solidFill>
                  <a:srgbClr val="C5A880"/>
                </a:solidFill>
                <a:latin typeface="Arial"/>
              </a:defRPr>
            </a:pPr>
            <a:r>
              <a:t>פלטפורמת אינטייק דיגיטלית חכמה ומותאמת תרבותית למזרח ירושלים</a:t>
            </a:r>
          </a:p>
        </p:txBody>
      </p:sp>
      <p:sp>
        <p:nvSpPr>
          <p:cNvPr id="4" name="TextBox 3"/>
          <p:cNvSpPr txBox="1"/>
          <p:nvPr/>
        </p:nvSpPr>
        <p:spPr>
          <a:xfrm>
            <a:off x="1371600" y="4389120"/>
            <a:ext cx="9445752" cy="1828800"/>
          </a:xfrm>
          <a:prstGeom prst="rect">
            <a:avLst/>
          </a:prstGeom>
          <a:noFill/>
        </p:spPr>
        <p:txBody>
          <a:bodyPr wrap="square">
            <a:spAutoFit/>
          </a:bodyPr>
          <a:lstStyle/>
          <a:p>
            <a:pPr algn="r">
              <a:spcBef>
                <a:spcPts val="600"/>
              </a:spcBef>
              <a:defRPr sz="1400">
                <a:solidFill>
                  <a:srgbClr val="A0AEC0"/>
                </a:solidFill>
                <a:latin typeface="Arial"/>
              </a:defRPr>
            </a:pPr>
            <a:r>
              <a:t>פרויקט גמר בניהול מוצר 2026</a:t>
            </a:r>
          </a:p>
          <a:p>
            <a:pPr algn="r">
              <a:spcBef>
                <a:spcPts val="600"/>
              </a:spcBef>
              <a:defRPr sz="1400">
                <a:solidFill>
                  <a:srgbClr val="A0AEC0"/>
                </a:solidFill>
                <a:latin typeface="Arial"/>
              </a:defRPr>
            </a:pPr>
            <a:r>
              <a:t>הקריה האקדמית אונו</a:t>
            </a:r>
          </a:p>
          <a:p>
            <a:pPr algn="r">
              <a:spcBef>
                <a:spcPts val="600"/>
              </a:spcBef>
              <a:defRPr sz="1400">
                <a:solidFill>
                  <a:srgbClr val="A0AEC0"/>
                </a:solidFill>
                <a:latin typeface="Arial"/>
              </a:defRPr>
            </a:pPr>
            <a:r>
              <a:t>מגיש: עורך דין גשר אל-קודס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1: הגדרת הבעיה והשערות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הגדרת הבעיה והצורך בשוק</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הבעיה המרכזית: חסמים קריטיים בנגישות לצדק ומימוש פיצויים רפואיים לנפגעי תאונות עבודה במזרח ירושלים.</a:t>
            </a:r>
          </a:p>
          <a:p>
            <a:pPr algn="r">
              <a:spcAft>
                <a:spcPts val="1200"/>
              </a:spcAft>
              <a:defRPr sz="2000" b="1">
                <a:solidFill>
                  <a:srgbClr val="FFFFFF"/>
                </a:solidFill>
                <a:latin typeface="Arial"/>
              </a:defRPr>
            </a:pPr>
            <a:r>
              <a:t>נקודות כאב בשוק:</a:t>
            </a:r>
          </a:p>
          <a:p>
            <a:pPr lvl="1" algn="r">
              <a:spcAft>
                <a:spcPts val="1200"/>
              </a:spcAft>
              <a:defRPr sz="1600">
                <a:solidFill>
                  <a:srgbClr val="A0AEC0"/>
                </a:solidFill>
                <a:latin typeface="Arial"/>
              </a:defRPr>
            </a:pPr>
            <a:r>
              <a:t>חשש כלכלי: פחד של עובדים מעלויות ייעוץ משפטי ראשוניות גבוהות.</a:t>
            </a:r>
          </a:p>
          <a:p>
            <a:pPr lvl="1" algn="r">
              <a:spcAft>
                <a:spcPts val="1200"/>
              </a:spcAft>
              <a:defRPr sz="1600">
                <a:solidFill>
                  <a:srgbClr val="A0AEC0"/>
                </a:solidFill>
                <a:latin typeface="Arial"/>
              </a:defRPr>
            </a:pPr>
            <a:r>
              <a:t>מחסום שפה ותרבות: חוקים וטפסים של ביטוח לאומי כתובים בעברית משפטית מורכבת בלבד.</a:t>
            </a:r>
          </a:p>
          <a:p>
            <a:pPr lvl="1" algn="r">
              <a:spcAft>
                <a:spcPts val="1200"/>
              </a:spcAft>
              <a:defRPr sz="1600">
                <a:solidFill>
                  <a:srgbClr val="A0AEC0"/>
                </a:solidFill>
                <a:latin typeface="Arial"/>
              </a:defRPr>
            </a:pPr>
            <a:r>
              <a:t>חשש אישי ותעסוקתי: פחד של פועלים מפיטורין או פגיעה במקום העבודה עקב תביעה.</a:t>
            </a:r>
          </a:p>
          <a:p>
            <a:pPr lvl="1" algn="r">
              <a:spcAft>
                <a:spcPts val="1200"/>
              </a:spcAft>
              <a:defRPr sz="1600">
                <a:solidFill>
                  <a:srgbClr val="A0AEC0"/>
                </a:solidFill>
                <a:latin typeface="Arial"/>
              </a:defRPr>
            </a:pPr>
            <a:r>
              <a:t>סרבול ביורוקרטי: קושי משמעותי באיסוף והבנת מסמכים רפואיים ראשוניים לאחר פגיעה.</a:t>
            </a:r>
          </a:p>
          <a:p>
            <a:pPr algn="r">
              <a:spcAft>
                <a:spcPts val="1200"/>
              </a:spcAft>
              <a:defRPr sz="2000" b="1">
                <a:solidFill>
                  <a:srgbClr val="FFFFFF"/>
                </a:solidFill>
                <a:latin typeface="Arial"/>
              </a:defRPr>
            </a:pPr>
            <a:r>
              <a:t>השערות המפתח שהוגדרו בתחילת התהליך (Hypotheses):</a:t>
            </a:r>
          </a:p>
          <a:p>
            <a:pPr lvl="1" algn="r">
              <a:spcAft>
                <a:spcPts val="1200"/>
              </a:spcAft>
              <a:defRPr sz="1600">
                <a:solidFill>
                  <a:srgbClr val="A0AEC0"/>
                </a:solidFill>
                <a:latin typeface="Arial"/>
              </a:defRPr>
            </a:pPr>
            <a:r>
              <a:t>השערת ערך (Value): שאלון דיגיטלי אינטראקטיבי בשפת האם ובחינם יעלה את ההיענות ב-40%.</a:t>
            </a:r>
          </a:p>
          <a:p>
            <a:pPr lvl="1" algn="r">
              <a:spcAft>
                <a:spcPts val="1200"/>
              </a:spcAft>
              <a:defRPr sz="1600">
                <a:solidFill>
                  <a:srgbClr val="A0AEC0"/>
                </a:solidFill>
                <a:latin typeface="Arial"/>
              </a:defRPr>
            </a:pPr>
            <a:r>
              <a:t>השערת שמישות (Usability): ממשק קלט קולי (Voice-to-Text) בנייד ימנע נטישה בשל קשיי הקלדה.</a:t>
            </a:r>
          </a:p>
          <a:p>
            <a:pPr lvl="1" algn="r">
              <a:spcAft>
                <a:spcPts val="1200"/>
              </a:spcAft>
              <a:defRPr sz="1600">
                <a:solidFill>
                  <a:srgbClr val="A0AEC0"/>
                </a:solidFill>
                <a:latin typeface="Arial"/>
              </a:defRPr>
            </a:pPr>
            <a:r>
              <a:t>השערת קיום (Viability): מודל 'תשלום מבוסס הצלחה בלבד' (No Win = No Fee) יסיר לחץ פיננסי.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2: סיכום מחקר משתמשים ותובנות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פרסונות, JTBD וסיפורי משתמש</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פרסונות המפתח שנחקרו במחקר השמישות:</a:t>
            </a:r>
          </a:p>
          <a:p>
            <a:pPr lvl="1" algn="r">
              <a:spcAft>
                <a:spcPts val="1200"/>
              </a:spcAft>
              <a:defRPr sz="1600">
                <a:solidFill>
                  <a:srgbClr val="A0AEC0"/>
                </a:solidFill>
                <a:latin typeface="Arial"/>
              </a:defRPr>
            </a:pPr>
            <a:r>
              <a:t>עאדל (פועל בניין פצוע, 42, עיסאוויה): אינו שולט בעברית, חושש מעלויות, פועל אך ורק מהטלפון הנייד.</a:t>
            </a:r>
          </a:p>
          <a:p>
            <a:pPr lvl="1" algn="r">
              <a:spcAft>
                <a:spcPts val="1200"/>
              </a:spcAft>
              <a:defRPr sz="1600">
                <a:solidFill>
                  <a:srgbClr val="A0AEC0"/>
                </a:solidFill>
                <a:latin typeface="Arial"/>
              </a:defRPr>
            </a:pPr>
            <a:r>
              <a:t>עו"ד יוסף (שותף במשרד נזיקין, 35): מבזבז 60% מזמנו על סינון ידני של פניות שאין בהן עילה משפטית.</a:t>
            </a:r>
          </a:p>
          <a:p>
            <a:pPr algn="r">
              <a:spcAft>
                <a:spcPts val="1200"/>
              </a:spcAft>
              <a:defRPr sz="2000" b="1">
                <a:solidFill>
                  <a:srgbClr val="FFFFFF"/>
                </a:solidFill>
                <a:latin typeface="Arial"/>
              </a:defRPr>
            </a:pPr>
            <a:r>
              <a:t>ניתוח Done Be To Jobs (JTBD) מרכזיים:</a:t>
            </a:r>
          </a:p>
          <a:p>
            <a:pPr lvl="1" algn="r">
              <a:spcAft>
                <a:spcPts val="1200"/>
              </a:spcAft>
              <a:defRPr sz="1600">
                <a:solidFill>
                  <a:srgbClr val="A0AEC0"/>
                </a:solidFill>
                <a:latin typeface="Arial"/>
              </a:defRPr>
            </a:pPr>
            <a:r>
              <a:t>משימה 1 (בדיקת זכאות): קבלת הערכת סיכויי תביעה בצורה אמינה וחינמית תוך 2 דקות מתוך הבית.</a:t>
            </a:r>
          </a:p>
          <a:p>
            <a:pPr lvl="1" algn="r">
              <a:spcAft>
                <a:spcPts val="1200"/>
              </a:spcAft>
              <a:defRPr sz="1600">
                <a:solidFill>
                  <a:srgbClr val="A0AEC0"/>
                </a:solidFill>
                <a:latin typeface="Arial"/>
              </a:defRPr>
            </a:pPr>
            <a:r>
              <a:t>משימה 2 (העברת פרטים): הקלטת גרסת התאונה בקולו בשפת האם ושליטה מוחלטת בפרטיות (השמדת המידע).</a:t>
            </a:r>
          </a:p>
          <a:p>
            <a:pPr algn="r">
              <a:spcAft>
                <a:spcPts val="1200"/>
              </a:spcAft>
              <a:defRPr sz="2000" b="1">
                <a:solidFill>
                  <a:srgbClr val="FFFFFF"/>
                </a:solidFill>
                <a:latin typeface="Arial"/>
              </a:defRPr>
            </a:pPr>
            <a:r>
              <a:t>סיפור משתמש מרכזי (User Story):</a:t>
            </a:r>
          </a:p>
          <a:p>
            <a:pPr lvl="1" algn="r">
              <a:spcAft>
                <a:spcPts val="1200"/>
              </a:spcAft>
              <a:defRPr sz="1600">
                <a:solidFill>
                  <a:srgbClr val="A0AEC0"/>
                </a:solidFill>
                <a:latin typeface="Arial"/>
              </a:defRPr>
            </a:pPr>
            <a:r>
              <a:t>בתור פועל פצוע שאינו שולט בעברית, כאשר אני שוכב בבית לאחר תאונה, אני רוצה לענות על שאלון דינמי קצר בשפת האם שלי (ערבית), כדי שאדע מיידית אם יש לי סיכוי לקבל פיצוי ללא התחייבות כספית.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3: סיכום מחקר שוק ומגמות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פתרונות קיימים בשוק, מגמות וניתוח SWOT</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פתרונות קיימים בשוק ופערים מרכזיים:</a:t>
            </a:r>
          </a:p>
          <a:p>
            <a:pPr lvl="1" algn="r">
              <a:spcAft>
                <a:spcPts val="1200"/>
              </a:spcAft>
              <a:defRPr sz="1600">
                <a:solidFill>
                  <a:srgbClr val="A0AEC0"/>
                </a:solidFill>
                <a:latin typeface="Arial"/>
              </a:defRPr>
            </a:pPr>
            <a:r>
              <a:t>טפסים סטטיים באתרים: קרים, ארוכים, בעברית בלבד, שיעור נטישה מעל 70% במובייל.</a:t>
            </a:r>
          </a:p>
          <a:p>
            <a:pPr lvl="1" algn="r">
              <a:spcAft>
                <a:spcPts val="1200"/>
              </a:spcAft>
              <a:defRPr sz="1600">
                <a:solidFill>
                  <a:srgbClr val="A0AEC0"/>
                </a:solidFill>
                <a:latin typeface="Arial"/>
              </a:defRPr>
            </a:pPr>
            <a:r>
              <a:t>פנייה והגעה פיזית למשרד: חסם פסיכולוגי גבוה, הוצאות נסיעה וצורך בתיאום פגישה מראש.</a:t>
            </a:r>
          </a:p>
          <a:p>
            <a:pPr lvl="1" algn="r">
              <a:spcAft>
                <a:spcPts val="1200"/>
              </a:spcAft>
              <a:defRPr sz="1600">
                <a:solidFill>
                  <a:srgbClr val="A0AEC0"/>
                </a:solidFill>
                <a:latin typeface="Arial"/>
              </a:defRPr>
            </a:pPr>
            <a:r>
              <a:t>הפער בשוק: היעדר כלי דינמי, מותאם מובייל (Mobile-First), דו-לשוני עם תמיכה מובנית בהקלטה קולית.</a:t>
            </a:r>
          </a:p>
          <a:p>
            <a:pPr algn="r">
              <a:spcAft>
                <a:spcPts val="1200"/>
              </a:spcAft>
              <a:defRPr sz="2000" b="1">
                <a:solidFill>
                  <a:srgbClr val="FFFFFF"/>
                </a:solidFill>
                <a:latin typeface="Arial"/>
              </a:defRPr>
            </a:pPr>
            <a:r>
              <a:t>מגמות מובילות בעידן ה-LegalTech וה-AI:</a:t>
            </a:r>
          </a:p>
          <a:p>
            <a:pPr lvl="1" algn="r">
              <a:spcAft>
                <a:spcPts val="1200"/>
              </a:spcAft>
              <a:defRPr sz="1600">
                <a:solidFill>
                  <a:srgbClr val="A0AEC0"/>
                </a:solidFill>
                <a:latin typeface="Arial"/>
              </a:defRPr>
            </a:pPr>
            <a:r>
              <a:t>Conversational Intake: מעבר של משרדים מובילים בעולם מטפסים קשיחים לצ'אט-בוטים אינטראקטיביים.</a:t>
            </a:r>
          </a:p>
          <a:p>
            <a:pPr lvl="1" algn="r">
              <a:spcAft>
                <a:spcPts val="1200"/>
              </a:spcAft>
              <a:defRPr sz="1600">
                <a:solidFill>
                  <a:srgbClr val="A0AEC0"/>
                </a:solidFill>
                <a:latin typeface="Arial"/>
              </a:defRPr>
            </a:pPr>
            <a:r>
              <a:t>Voice User Interfaces: עליית השימוש בממשקי קול באוכלוסיות שמתקשות בהקלדה בנייד.</a:t>
            </a:r>
          </a:p>
          <a:p>
            <a:pPr algn="r">
              <a:spcAft>
                <a:spcPts val="1200"/>
              </a:spcAft>
              <a:defRPr sz="2000" b="1">
                <a:solidFill>
                  <a:srgbClr val="FFFFFF"/>
                </a:solidFill>
                <a:latin typeface="Arial"/>
              </a:defRPr>
            </a:pPr>
            <a:r>
              <a:t>ניתוח SWOT של המוצר:</a:t>
            </a:r>
          </a:p>
          <a:p>
            <a:pPr lvl="1" algn="r">
              <a:spcAft>
                <a:spcPts val="1200"/>
              </a:spcAft>
              <a:defRPr sz="1600">
                <a:solidFill>
                  <a:srgbClr val="A0AEC0"/>
                </a:solidFill>
                <a:latin typeface="Arial"/>
              </a:defRPr>
            </a:pPr>
            <a:r>
              <a:t>חוזקות (S): לוקליזציה דו-לשונית מלאה, המרת דיבור לטקסט מובנית, ניתוב שאלות חכם ומותאם תרחיש.</a:t>
            </a:r>
          </a:p>
          <a:p>
            <a:pPr lvl="1" algn="r">
              <a:spcAft>
                <a:spcPts val="1200"/>
              </a:spcAft>
              <a:defRPr sz="1600">
                <a:solidFill>
                  <a:srgbClr val="A0AEC0"/>
                </a:solidFill>
                <a:latin typeface="Arial"/>
              </a:defRPr>
            </a:pPr>
            <a:r>
              <a:t>חולשות (W): תלות של המשתמש בחיבור אינטרנט יציב של הטלפון הנייד.</a:t>
            </a:r>
          </a:p>
          <a:p>
            <a:pPr lvl="1" algn="r">
              <a:spcAft>
                <a:spcPts val="1200"/>
              </a:spcAft>
              <a:defRPr sz="1600">
                <a:solidFill>
                  <a:srgbClr val="A0AEC0"/>
                </a:solidFill>
                <a:latin typeface="Arial"/>
              </a:defRPr>
            </a:pPr>
            <a:r>
              <a:t>הזדמנויות (O): שילוב עתידי של WhatsApp Business API להנגשה מקסימלית ללא צורך בכניסה לאתר.</a:t>
            </a:r>
          </a:p>
          <a:p>
            <a:pPr lvl="1" algn="r">
              <a:spcAft>
                <a:spcPts val="1200"/>
              </a:spcAft>
              <a:defRPr sz="1600">
                <a:solidFill>
                  <a:srgbClr val="A0AEC0"/>
                </a:solidFill>
                <a:latin typeface="Arial"/>
              </a:defRPr>
            </a:pPr>
            <a:r>
              <a:t>איומים (T): העתקה על ידי חברות LegalTech גדולות בשוק הישראלי או שינויי רגולציה.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4: חזון המוצר והצעת הערך</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חזון, הצעת ערך ייחודית ואימות השערות</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חזון המוצר: להסיר חסמי שפה ופחד כלכלי, ולהוות את הגשר הדיגיטלי הנגיש והאמין ביותר שמחבר בין נפגעי גוף במזרח ירושלים לבין קבלת פיצוי הוגן.</a:t>
            </a:r>
          </a:p>
          <a:p>
            <a:pPr algn="r">
              <a:spcAft>
                <a:spcPts val="1200"/>
              </a:spcAft>
              <a:defRPr sz="2000" b="1">
                <a:solidFill>
                  <a:srgbClr val="FFFFFF"/>
                </a:solidFill>
                <a:latin typeface="Arial"/>
              </a:defRPr>
            </a:pPr>
            <a:r>
              <a:t>הצעת הערך הייחודית (Unique Value Proposition):</a:t>
            </a:r>
          </a:p>
          <a:p>
            <a:pPr lvl="1" algn="r">
              <a:spcAft>
                <a:spcPts val="1200"/>
              </a:spcAft>
              <a:defRPr sz="1600">
                <a:solidFill>
                  <a:srgbClr val="A0AEC0"/>
                </a:solidFill>
                <a:latin typeface="Arial"/>
              </a:defRPr>
            </a:pPr>
            <a:r>
              <a:t>הערכת זכאות משפטית ורפואית תוך 2 דקות בלבד, בשפת האם שלך, ללא עלות מראש וללא כל התחייבות – עם שליטה מלאה בפרטיות המידע שלך.</a:t>
            </a:r>
          </a:p>
          <a:p>
            <a:pPr algn="r">
              <a:spcAft>
                <a:spcPts val="1200"/>
              </a:spcAft>
              <a:defRPr sz="2000" b="1">
                <a:solidFill>
                  <a:srgbClr val="FFFFFF"/>
                </a:solidFill>
                <a:latin typeface="Arial"/>
              </a:defRPr>
            </a:pPr>
            <a:r>
              <a:t>אימות השערות המחקר בשטח (Validation):</a:t>
            </a:r>
          </a:p>
          <a:p>
            <a:pPr lvl="1" algn="r">
              <a:spcAft>
                <a:spcPts val="1200"/>
              </a:spcAft>
              <a:defRPr sz="1600">
                <a:solidFill>
                  <a:srgbClr val="A0AEC0"/>
                </a:solidFill>
                <a:latin typeface="Arial"/>
              </a:defRPr>
            </a:pPr>
            <a:r>
              <a:t>השערה 1 (מיקום פרטי קשר בסוף): אומתה. העברת שאלת הטלפון לסוף התהליך העלתה את אמון המשתמשים.</a:t>
            </a:r>
          </a:p>
          <a:p>
            <a:pPr lvl="1" algn="r">
              <a:spcAft>
                <a:spcPts val="1200"/>
              </a:spcAft>
              <a:defRPr sz="1600">
                <a:solidFill>
                  <a:srgbClr val="A0AEC0"/>
                </a:solidFill>
                <a:latin typeface="Arial"/>
              </a:defRPr>
            </a:pPr>
            <a:r>
              <a:t>השערה 2 (העדפת קול על הקלדה): אומתה. פועלים ציינו כי הקלטת נסיבות התאונה בקולם חסכה מאמץ רב.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5: קנבס מודל עסקי - שלבים 1-4 בלבד</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ניתוח ארבעת השלבים המובילים ב-Business Model Canvas</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1. פלחי לקוחות (Customer Segments):</a:t>
            </a:r>
          </a:p>
          <a:p>
            <a:pPr lvl="1" algn="r">
              <a:spcAft>
                <a:spcPts val="1200"/>
              </a:spcAft>
              <a:defRPr sz="1600">
                <a:solidFill>
                  <a:srgbClr val="A0AEC0"/>
                </a:solidFill>
                <a:latin typeface="Arial"/>
              </a:defRPr>
            </a:pPr>
            <a:r>
              <a:t>נפגעי תאונות עבודה ודרכים במזרח ירושלים דוברי ערבית/עברית.</a:t>
            </a:r>
          </a:p>
          <a:p>
            <a:pPr lvl="1" algn="r">
              <a:spcAft>
                <a:spcPts val="1200"/>
              </a:spcAft>
              <a:defRPr sz="1600">
                <a:solidFill>
                  <a:srgbClr val="A0AEC0"/>
                </a:solidFill>
                <a:latin typeface="Arial"/>
              </a:defRPr>
            </a:pPr>
            <a:r>
              <a:t>משרדי עורכי דין לנזקי גוף בירושלים המחפשים לקוחות מסוננים ואיכותיים מראש.</a:t>
            </a:r>
          </a:p>
          <a:p>
            <a:pPr algn="r">
              <a:spcAft>
                <a:spcPts val="1200"/>
              </a:spcAft>
              <a:defRPr sz="2000" b="1">
                <a:solidFill>
                  <a:srgbClr val="FFFFFF"/>
                </a:solidFill>
                <a:latin typeface="Arial"/>
              </a:defRPr>
            </a:pPr>
            <a:r>
              <a:t>2. הצעת ערך (Value Propositions):</a:t>
            </a:r>
          </a:p>
          <a:p>
            <a:pPr lvl="1" algn="r">
              <a:spcAft>
                <a:spcPts val="1200"/>
              </a:spcAft>
              <a:defRPr sz="1600">
                <a:solidFill>
                  <a:srgbClr val="A0AEC0"/>
                </a:solidFill>
                <a:latin typeface="Arial"/>
              </a:defRPr>
            </a:pPr>
            <a:r>
              <a:t>למשתמש: בדיקה מהירה, אנונימית, בשפת האם ובממשק קולי ללא סיכון פיננסי.</a:t>
            </a:r>
          </a:p>
          <a:p>
            <a:pPr lvl="1" algn="r">
              <a:spcAft>
                <a:spcPts val="1200"/>
              </a:spcAft>
              <a:defRPr sz="1600">
                <a:solidFill>
                  <a:srgbClr val="A0AEC0"/>
                </a:solidFill>
                <a:latin typeface="Arial"/>
              </a:defRPr>
            </a:pPr>
            <a:r>
              <a:t>למשרד עורכי דין: קבלת תיק לקוח מסווג, מאורגן ומסונן היטב ללא עבודת איסוף ידנית.</a:t>
            </a:r>
          </a:p>
          <a:p>
            <a:pPr algn="r">
              <a:spcAft>
                <a:spcPts val="1200"/>
              </a:spcAft>
              <a:defRPr sz="2000" b="1">
                <a:solidFill>
                  <a:srgbClr val="FFFFFF"/>
                </a:solidFill>
                <a:latin typeface="Arial"/>
              </a:defRPr>
            </a:pPr>
            <a:r>
              <a:t>3. ערוצים (Channels):</a:t>
            </a:r>
          </a:p>
          <a:p>
            <a:pPr lvl="1" algn="r">
              <a:spcAft>
                <a:spcPts val="1200"/>
              </a:spcAft>
              <a:defRPr sz="1600">
                <a:solidFill>
                  <a:srgbClr val="A0AEC0"/>
                </a:solidFill>
                <a:latin typeface="Arial"/>
              </a:defRPr>
            </a:pPr>
            <a:r>
              <a:t>פרסום ממומן ואורגני במנועי חיפוש (SEO/SEM) בערבית, פורומים וקבוצות פייסבוק של עובדים בירושלים.</a:t>
            </a:r>
          </a:p>
          <a:p>
            <a:pPr algn="r">
              <a:spcAft>
                <a:spcPts val="1200"/>
              </a:spcAft>
              <a:defRPr sz="2000" b="1">
                <a:solidFill>
                  <a:srgbClr val="FFFFFF"/>
                </a:solidFill>
                <a:latin typeface="Arial"/>
              </a:defRPr>
            </a:pPr>
            <a:r>
              <a:t>4. קשרי לקוחות (Customer Relationships):</a:t>
            </a:r>
          </a:p>
          <a:p>
            <a:pPr lvl="1" algn="r">
              <a:spcAft>
                <a:spcPts val="1200"/>
              </a:spcAft>
              <a:defRPr sz="1600">
                <a:solidFill>
                  <a:srgbClr val="A0AEC0"/>
                </a:solidFill>
                <a:latin typeface="Arial"/>
              </a:defRPr>
            </a:pPr>
            <a:r>
              <a:t>קשר מבוסס אמון ודיסקרטיות (אפשרות להשמדת נתונים מיידית), ליווי בצ'אט קשוב ללא לחץ.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6: אפיון ותעדוף פיצ'רים (MVP)</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טבלת תעדוף ואפיון פיצ'רים (MoSCoW)</a:t>
            </a:r>
          </a:p>
        </p:txBody>
      </p:sp>
      <p:graphicFrame>
        <p:nvGraphicFramePr>
          <p:cNvPr id="4" name="Table 3"/>
          <p:cNvGraphicFramePr>
            <a:graphicFrameLocks noGrp="1"/>
          </p:cNvGraphicFramePr>
          <p:nvPr/>
        </p:nvGraphicFramePr>
        <p:xfrm>
          <a:off x="914400" y="1828800"/>
          <a:ext cx="10360152" cy="4114800"/>
        </p:xfrm>
        <a:graphic>
          <a:graphicData uri="http://schemas.openxmlformats.org/drawingml/2006/table">
            <a:tbl>
              <a:tblPr firstRow="1" bandRow="1">
                <a:tableStyleId>{5C22544A-7EE6-4342-B048-85BDC9FD1C3A}</a:tableStyleId>
              </a:tblPr>
              <a:tblGrid>
                <a:gridCol w="2286000"/>
                <a:gridCol w="2743200"/>
                <a:gridCol w="1371600"/>
                <a:gridCol w="1371600"/>
                <a:gridCol w="2587752"/>
              </a:tblGrid>
              <a:tr h="685800">
                <a:tc>
                  <a:txBody>
                    <a:bodyPr/>
                    <a:lstStyle/>
                    <a:p>
                      <a:pPr algn="r">
                        <a:defRPr sz="1300" b="1">
                          <a:solidFill>
                            <a:srgbClr val="0D0F17"/>
                          </a:solidFill>
                          <a:latin typeface="Arial"/>
                        </a:defRPr>
                      </a:pPr>
                      <a:r>
                        <a:t>שם הפיצ'ר</a:t>
                      </a:r>
                    </a:p>
                  </a:txBody>
                  <a:tcPr>
                    <a:solidFill>
                      <a:srgbClr val="C5A880"/>
                    </a:solidFill>
                  </a:tcPr>
                </a:tc>
                <a:tc>
                  <a:txBody>
                    <a:bodyPr/>
                    <a:lstStyle/>
                    <a:p>
                      <a:pPr algn="r">
                        <a:defRPr sz="1300" b="1">
                          <a:solidFill>
                            <a:srgbClr val="0D0F17"/>
                          </a:solidFill>
                          <a:latin typeface="Arial"/>
                        </a:defRPr>
                      </a:pPr>
                      <a:r>
                        <a:t>ערך למשתמש</a:t>
                      </a:r>
                    </a:p>
                  </a:txBody>
                  <a:tcPr>
                    <a:solidFill>
                      <a:srgbClr val="C5A880"/>
                    </a:solidFill>
                  </a:tcPr>
                </a:tc>
                <a:tc>
                  <a:txBody>
                    <a:bodyPr/>
                    <a:lstStyle/>
                    <a:p>
                      <a:pPr algn="r">
                        <a:defRPr sz="1300" b="1">
                          <a:solidFill>
                            <a:srgbClr val="0D0F17"/>
                          </a:solidFill>
                          <a:latin typeface="Arial"/>
                        </a:defRPr>
                      </a:pPr>
                      <a:r>
                        <a:t>עדיפות</a:t>
                      </a:r>
                    </a:p>
                  </a:txBody>
                  <a:tcPr>
                    <a:solidFill>
                      <a:srgbClr val="C5A880"/>
                    </a:solidFill>
                  </a:tcPr>
                </a:tc>
                <a:tc>
                  <a:txBody>
                    <a:bodyPr/>
                    <a:lstStyle/>
                    <a:p>
                      <a:pPr algn="r">
                        <a:defRPr sz="1300" b="1">
                          <a:solidFill>
                            <a:srgbClr val="0D0F17"/>
                          </a:solidFill>
                          <a:latin typeface="Arial"/>
                        </a:defRPr>
                      </a:pPr>
                      <a:r>
                        <a:t>זמן (הערכה)</a:t>
                      </a:r>
                    </a:p>
                  </a:txBody>
                  <a:tcPr>
                    <a:solidFill>
                      <a:srgbClr val="C5A880"/>
                    </a:solidFill>
                  </a:tcPr>
                </a:tc>
                <a:tc>
                  <a:txBody>
                    <a:bodyPr/>
                    <a:lstStyle/>
                    <a:p>
                      <a:pPr algn="r">
                        <a:defRPr sz="1300" b="1">
                          <a:solidFill>
                            <a:srgbClr val="0D0F17"/>
                          </a:solidFill>
                          <a:latin typeface="Arial"/>
                        </a:defRPr>
                      </a:pPr>
                      <a:r>
                        <a:t>מדד הצלחה</a:t>
                      </a:r>
                    </a:p>
                  </a:txBody>
                  <a:tcPr>
                    <a:solidFill>
                      <a:srgbClr val="C5A880"/>
                    </a:solidFill>
                  </a:tcPr>
                </a:tc>
              </a:tr>
              <a:tr h="685800">
                <a:tc>
                  <a:txBody>
                    <a:bodyPr/>
                    <a:lstStyle/>
                    <a:p>
                      <a:pPr algn="r">
                        <a:defRPr sz="1100">
                          <a:solidFill>
                            <a:srgbClr val="FFFFFF"/>
                          </a:solidFill>
                          <a:latin typeface="Arial"/>
                        </a:defRPr>
                      </a:pPr>
                      <a:r>
                        <a:t>צ'אט דינמי</a:t>
                      </a:r>
                    </a:p>
                  </a:txBody>
                  <a:tcPr>
                    <a:solidFill>
                      <a:srgbClr val="161B26"/>
                    </a:solidFill>
                  </a:tcPr>
                </a:tc>
                <a:tc>
                  <a:txBody>
                    <a:bodyPr/>
                    <a:lstStyle/>
                    <a:p>
                      <a:pPr algn="r">
                        <a:defRPr sz="1100">
                          <a:solidFill>
                            <a:srgbClr val="FFFFFF"/>
                          </a:solidFill>
                          <a:latin typeface="Arial"/>
                        </a:defRPr>
                      </a:pPr>
                      <a:r>
                        <a:t>התאמת שאלות ומניעת סרבול</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15 שעות</a:t>
                      </a:r>
                    </a:p>
                  </a:txBody>
                  <a:tcPr>
                    <a:solidFill>
                      <a:srgbClr val="161B26"/>
                    </a:solidFill>
                  </a:tcPr>
                </a:tc>
                <a:tc>
                  <a:txBody>
                    <a:bodyPr/>
                    <a:lstStyle/>
                    <a:p>
                      <a:pPr algn="r">
                        <a:defRPr sz="1100">
                          <a:solidFill>
                            <a:srgbClr val="FFFFFF"/>
                          </a:solidFill>
                          <a:latin typeface="Arial"/>
                        </a:defRPr>
                      </a:pPr>
                      <a:r>
                        <a:t>אחוז השלמה מעל 85%</a:t>
                      </a:r>
                    </a:p>
                  </a:txBody>
                  <a:tcPr>
                    <a:solidFill>
                      <a:srgbClr val="161B26"/>
                    </a:solidFill>
                  </a:tcPr>
                </a:tc>
              </a:tr>
              <a:tr h="685800">
                <a:tc>
                  <a:txBody>
                    <a:bodyPr/>
                    <a:lstStyle/>
                    <a:p>
                      <a:pPr algn="r">
                        <a:defRPr sz="1100">
                          <a:solidFill>
                            <a:srgbClr val="FFFFFF"/>
                          </a:solidFill>
                          <a:latin typeface="Arial"/>
                        </a:defRPr>
                      </a:pPr>
                      <a:r>
                        <a:t>זיהוי והקלטה קולית</a:t>
                      </a:r>
                    </a:p>
                  </a:txBody>
                  <a:tcPr>
                    <a:solidFill>
                      <a:srgbClr val="11141C"/>
                    </a:solidFill>
                  </a:tcPr>
                </a:tc>
                <a:tc>
                  <a:txBody>
                    <a:bodyPr/>
                    <a:lstStyle/>
                    <a:p>
                      <a:pPr algn="r">
                        <a:defRPr sz="1100">
                          <a:solidFill>
                            <a:srgbClr val="FFFFFF"/>
                          </a:solidFill>
                          <a:latin typeface="Arial"/>
                        </a:defRPr>
                      </a:pPr>
                      <a:r>
                        <a:t>מניעת הקלדה קשה בנייד</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20 שעות</a:t>
                      </a:r>
                    </a:p>
                  </a:txBody>
                  <a:tcPr>
                    <a:solidFill>
                      <a:srgbClr val="11141C"/>
                    </a:solidFill>
                  </a:tcPr>
                </a:tc>
                <a:tc>
                  <a:txBody>
                    <a:bodyPr/>
                    <a:lstStyle/>
                    <a:p>
                      <a:pPr algn="r">
                        <a:defRPr sz="1100">
                          <a:solidFill>
                            <a:srgbClr val="FFFFFF"/>
                          </a:solidFill>
                          <a:latin typeface="Arial"/>
                        </a:defRPr>
                      </a:pPr>
                      <a:r>
                        <a:t>שימוש קולי ב-50% מהתשובות</a:t>
                      </a:r>
                    </a:p>
                  </a:txBody>
                  <a:tcPr>
                    <a:solidFill>
                      <a:srgbClr val="11141C"/>
                    </a:solidFill>
                  </a:tcPr>
                </a:tc>
              </a:tr>
              <a:tr h="685800">
                <a:tc>
                  <a:txBody>
                    <a:bodyPr/>
                    <a:lstStyle/>
                    <a:p>
                      <a:pPr algn="r">
                        <a:defRPr sz="1100">
                          <a:solidFill>
                            <a:srgbClr val="FFFFFF"/>
                          </a:solidFill>
                          <a:latin typeface="Arial"/>
                        </a:defRPr>
                      </a:pPr>
                      <a:r>
                        <a:t>מסך הסכמה וביטחון</a:t>
                      </a:r>
                    </a:p>
                  </a:txBody>
                  <a:tcPr>
                    <a:solidFill>
                      <a:srgbClr val="161B26"/>
                    </a:solidFill>
                  </a:tcPr>
                </a:tc>
                <a:tc>
                  <a:txBody>
                    <a:bodyPr/>
                    <a:lstStyle/>
                    <a:p>
                      <a:pPr algn="r">
                        <a:defRPr sz="1100">
                          <a:solidFill>
                            <a:srgbClr val="FFFFFF"/>
                          </a:solidFill>
                          <a:latin typeface="Arial"/>
                        </a:defRPr>
                      </a:pPr>
                      <a:r>
                        <a:t>הסרת חשש משפטי ופיננסי</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5 שעות</a:t>
                      </a:r>
                    </a:p>
                  </a:txBody>
                  <a:tcPr>
                    <a:solidFill>
                      <a:srgbClr val="161B26"/>
                    </a:solidFill>
                  </a:tcPr>
                </a:tc>
                <a:tc>
                  <a:txBody>
                    <a:bodyPr/>
                    <a:lstStyle/>
                    <a:p>
                      <a:pPr algn="r">
                        <a:defRPr sz="1100">
                          <a:solidFill>
                            <a:srgbClr val="FFFFFF"/>
                          </a:solidFill>
                          <a:latin typeface="Arial"/>
                        </a:defRPr>
                      </a:pPr>
                      <a:r>
                        <a:t>ירידה בנטישה בשלב אישור הקשר</a:t>
                      </a:r>
                    </a:p>
                  </a:txBody>
                  <a:tcPr>
                    <a:solidFill>
                      <a:srgbClr val="161B26"/>
                    </a:solidFill>
                  </a:tcPr>
                </a:tc>
              </a:tr>
              <a:tr h="685800">
                <a:tc>
                  <a:txBody>
                    <a:bodyPr/>
                    <a:lstStyle/>
                    <a:p>
                      <a:pPr algn="r">
                        <a:defRPr sz="1100">
                          <a:solidFill>
                            <a:srgbClr val="FFFFFF"/>
                          </a:solidFill>
                          <a:latin typeface="Arial"/>
                        </a:defRPr>
                      </a:pPr>
                      <a:r>
                        <a:t>לוח בקרה לעורך דין</a:t>
                      </a:r>
                    </a:p>
                  </a:txBody>
                  <a:tcPr>
                    <a:solidFill>
                      <a:srgbClr val="11141C"/>
                    </a:solidFill>
                  </a:tcPr>
                </a:tc>
                <a:tc>
                  <a:txBody>
                    <a:bodyPr/>
                    <a:lstStyle/>
                    <a:p>
                      <a:pPr algn="r">
                        <a:defRPr sz="1100">
                          <a:solidFill>
                            <a:srgbClr val="FFFFFF"/>
                          </a:solidFill>
                          <a:latin typeface="Arial"/>
                        </a:defRPr>
                      </a:pPr>
                      <a:r>
                        <a:t>ארגון מובנה וחיסכון בזמן</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10 שעות</a:t>
                      </a:r>
                    </a:p>
                  </a:txBody>
                  <a:tcPr>
                    <a:solidFill>
                      <a:srgbClr val="11141C"/>
                    </a:solidFill>
                  </a:tcPr>
                </a:tc>
                <a:tc>
                  <a:txBody>
                    <a:bodyPr/>
                    <a:lstStyle/>
                    <a:p>
                      <a:pPr algn="r">
                        <a:defRPr sz="1100">
                          <a:solidFill>
                            <a:srgbClr val="FFFFFF"/>
                          </a:solidFill>
                          <a:latin typeface="Arial"/>
                        </a:defRPr>
                      </a:pPr>
                      <a:r>
                        <a:t>זמן קריאת תיק פחות מ-3 דקות</a:t>
                      </a:r>
                    </a:p>
                  </a:txBody>
                  <a:tcPr>
                    <a:solidFill>
                      <a:srgbClr val="11141C"/>
                    </a:solidFill>
                  </a:tcPr>
                </a:tc>
              </a:tr>
              <a:tr h="685800">
                <a:tc>
                  <a:txBody>
                    <a:bodyPr/>
                    <a:lstStyle/>
                    <a:p>
                      <a:pPr algn="r">
                        <a:defRPr sz="1100">
                          <a:solidFill>
                            <a:srgbClr val="FFFFFF"/>
                          </a:solidFill>
                          <a:latin typeface="Arial"/>
                        </a:defRPr>
                      </a:pPr>
                      <a:r>
                        <a:t>העלאת מסמכים חכמה</a:t>
                      </a:r>
                    </a:p>
                  </a:txBody>
                  <a:tcPr>
                    <a:solidFill>
                      <a:srgbClr val="161B26"/>
                    </a:solidFill>
                  </a:tcPr>
                </a:tc>
                <a:tc>
                  <a:txBody>
                    <a:bodyPr/>
                    <a:lstStyle/>
                    <a:p>
                      <a:pPr algn="r">
                        <a:defRPr sz="1100">
                          <a:solidFill>
                            <a:srgbClr val="FFFFFF"/>
                          </a:solidFill>
                          <a:latin typeface="Arial"/>
                        </a:defRPr>
                      </a:pPr>
                      <a:r>
                        <a:t>העלאת אישורים בקלות</a:t>
                      </a:r>
                    </a:p>
                  </a:txBody>
                  <a:tcPr>
                    <a:solidFill>
                      <a:srgbClr val="161B26"/>
                    </a:solidFill>
                  </a:tcPr>
                </a:tc>
                <a:tc>
                  <a:txBody>
                    <a:bodyPr/>
                    <a:lstStyle/>
                    <a:p>
                      <a:pPr algn="r">
                        <a:defRPr sz="1100">
                          <a:solidFill>
                            <a:srgbClr val="FFFFFF"/>
                          </a:solidFill>
                          <a:latin typeface="Arial"/>
                        </a:defRPr>
                      </a:pPr>
                      <a:r>
                        <a:t>Should Have</a:t>
                      </a:r>
                    </a:p>
                  </a:txBody>
                  <a:tcPr>
                    <a:solidFill>
                      <a:srgbClr val="161B26"/>
                    </a:solidFill>
                  </a:tcPr>
                </a:tc>
                <a:tc>
                  <a:txBody>
                    <a:bodyPr/>
                    <a:lstStyle/>
                    <a:p>
                      <a:pPr algn="r">
                        <a:defRPr sz="1100">
                          <a:solidFill>
                            <a:srgbClr val="FFFFFF"/>
                          </a:solidFill>
                          <a:latin typeface="Arial"/>
                        </a:defRPr>
                      </a:pPr>
                      <a:r>
                        <a:t>8 שעות</a:t>
                      </a:r>
                    </a:p>
                  </a:txBody>
                  <a:tcPr>
                    <a:solidFill>
                      <a:srgbClr val="161B26"/>
                    </a:solidFill>
                  </a:tcPr>
                </a:tc>
                <a:tc>
                  <a:txBody>
                    <a:bodyPr/>
                    <a:lstStyle/>
                    <a:p>
                      <a:pPr algn="r">
                        <a:defRPr sz="1100">
                          <a:solidFill>
                            <a:srgbClr val="FFFFFF"/>
                          </a:solidFill>
                          <a:latin typeface="Arial"/>
                        </a:defRPr>
                      </a:pPr>
                      <a:r>
                        <a:t>העלאת מסמך ב-40% מהמקרים</a:t>
                      </a:r>
                    </a:p>
                  </a:txBody>
                  <a:tcPr>
                    <a:solidFill>
                      <a:srgbClr val="161B2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7: הפרוטוטייפ הפונקציונלי</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זרימת המשתמש בפרוטוטייפ הפעיל (User Flow)</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קישורים לפרוטוטייפ הפעיל:</a:t>
            </a:r>
          </a:p>
          <a:p>
            <a:pPr lvl="1" algn="r">
              <a:spcAft>
                <a:spcPts val="1200"/>
              </a:spcAft>
              <a:defRPr sz="1600">
                <a:solidFill>
                  <a:srgbClr val="A0AEC0"/>
                </a:solidFill>
                <a:latin typeface="Arial"/>
              </a:defRPr>
            </a:pPr>
            <a:r>
              <a:t>פורטל המשתמש / אינטייק דיגיטלי: http://localhost:8000/client_intake.html</a:t>
            </a:r>
          </a:p>
          <a:p>
            <a:pPr lvl="1" algn="r">
              <a:spcAft>
                <a:spcPts val="1200"/>
              </a:spcAft>
              <a:defRPr sz="1600">
                <a:solidFill>
                  <a:srgbClr val="A0AEC0"/>
                </a:solidFill>
                <a:latin typeface="Arial"/>
              </a:defRPr>
            </a:pPr>
            <a:r>
              <a:t>לוח הבקרה וניהול משרד עו"ד: http://localhost:8000/lawyer_dashboard.html</a:t>
            </a:r>
          </a:p>
          <a:p>
            <a:pPr algn="r">
              <a:spcAft>
                <a:spcPts val="1200"/>
              </a:spcAft>
              <a:defRPr sz="2000" b="1">
                <a:solidFill>
                  <a:srgbClr val="FFFFFF"/>
                </a:solidFill>
                <a:latin typeface="Arial"/>
              </a:defRPr>
            </a:pPr>
            <a:r>
              <a:t>זרימת המשתמש במערכת (User Flow):</a:t>
            </a:r>
          </a:p>
          <a:p>
            <a:pPr algn="r">
              <a:spcAft>
                <a:spcPts val="1200"/>
              </a:spcAft>
              <a:defRPr sz="2000" b="0">
                <a:solidFill>
                  <a:srgbClr val="FFFFFF"/>
                </a:solidFill>
                <a:latin typeface="Arial"/>
              </a:defRPr>
            </a:pPr>
            <a:r>
              <a:t>  1. המשתמש בוחר שפה (ערבית/עברית) ועובר לצ'אט-בוט אינטראקטיבי.</a:t>
            </a:r>
          </a:p>
          <a:p>
            <a:pPr algn="r">
              <a:spcAft>
                <a:spcPts val="1200"/>
              </a:spcAft>
              <a:defRPr sz="2000" b="0">
                <a:solidFill>
                  <a:srgbClr val="FFFFFF"/>
                </a:solidFill>
                <a:latin typeface="Arial"/>
              </a:defRPr>
            </a:pPr>
            <a:r>
              <a:t>  2. ניתוב דינמי של השאלות בהתאם לסוג הפגיעה (מדלג על שאלות מיותרות).</a:t>
            </a:r>
          </a:p>
          <a:p>
            <a:pPr algn="r">
              <a:spcAft>
                <a:spcPts val="1200"/>
              </a:spcAft>
              <a:defRPr sz="2000" b="0">
                <a:solidFill>
                  <a:srgbClr val="FFFFFF"/>
                </a:solidFill>
                <a:latin typeface="Arial"/>
              </a:defRPr>
            </a:pPr>
            <a:r>
              <a:t>  3. המשתמש מזין את נסיבות התאונה בהקלטה קולית בשפתו (Web Speech API).</a:t>
            </a:r>
          </a:p>
          <a:p>
            <a:pPr algn="r">
              <a:spcAft>
                <a:spcPts val="1200"/>
              </a:spcAft>
              <a:defRPr sz="2000" b="0">
                <a:solidFill>
                  <a:srgbClr val="FFFFFF"/>
                </a:solidFill>
                <a:latin typeface="Arial"/>
              </a:defRPr>
            </a:pPr>
            <a:r>
              <a:t>  4. מוצגת הערכת זכאות חינמית מלווה בשסתום ביטחון (הבהרת תנאי 0 ש"ח מראש).</a:t>
            </a:r>
          </a:p>
          <a:p>
            <a:pPr algn="r">
              <a:spcAft>
                <a:spcPts val="1200"/>
              </a:spcAft>
              <a:defRPr sz="2000" b="0">
                <a:solidFill>
                  <a:srgbClr val="FFFFFF"/>
                </a:solidFill>
                <a:latin typeface="Arial"/>
              </a:defRPr>
            </a:pPr>
            <a:r>
              <a:t>  5. שליחת המידע ישירות ללוח הבקרה של עורך הדין עם סנכרון לפורטל Outlook המובנה.</a:t>
            </a:r>
          </a:p>
          <a:p>
            <a:pPr algn="r">
              <a:spcAft>
                <a:spcPts val="1200"/>
              </a:spcAft>
              <a:defRPr sz="2000" b="1">
                <a:solidFill>
                  <a:srgbClr val="FFFFFF"/>
                </a:solidFill>
                <a:latin typeface="Arial"/>
              </a:defRPr>
            </a:pPr>
            <a:r>
              <a:t>התפתחות המוצר: מעבר מ-Wireframes בסיסיים לממשק קולי משופר ולוח ניהול מלא התומך במעברי שפות דינמיים.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8: דוח שמישות ומדידה</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תוצאות סבב הבדיקות והשוואת מדדים כמותיים</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מתודולוגיית הבדיקה: 2 סבבי בדיקות שמישות (Moderated) על 6 משתתפים שונים מקבוצת היעד + עורך דין.</a:t>
            </a:r>
          </a:p>
          <a:p>
            <a:pPr algn="r">
              <a:spcAft>
                <a:spcPts val="1200"/>
              </a:spcAft>
              <a:defRPr sz="2000" b="1">
                <a:solidFill>
                  <a:srgbClr val="FFFFFF"/>
                </a:solidFill>
                <a:latin typeface="Arial"/>
              </a:defRPr>
            </a:pPr>
            <a:r>
              <a:t>שיפורים שבוצעו בעקבות סבב הבדיקות הראשון:</a:t>
            </a:r>
          </a:p>
          <a:p>
            <a:pPr lvl="1" algn="r">
              <a:spcAft>
                <a:spcPts val="1200"/>
              </a:spcAft>
              <a:defRPr sz="1600">
                <a:solidFill>
                  <a:srgbClr val="A0AEC0"/>
                </a:solidFill>
                <a:latin typeface="Arial"/>
              </a:defRPr>
            </a:pPr>
            <a:r>
              <a:t>פתרון נטישת הטלפון: הצגת שסתום ביטחון מפורט ('0 ש"ח עלות') לפני בקשת פרטי הקשר בסיום.</a:t>
            </a:r>
          </a:p>
          <a:p>
            <a:pPr lvl="1" algn="r">
              <a:spcAft>
                <a:spcPts val="1200"/>
              </a:spcAft>
              <a:defRPr sz="1600">
                <a:solidFill>
                  <a:srgbClr val="A0AEC0"/>
                </a:solidFill>
                <a:latin typeface="Arial"/>
              </a:defRPr>
            </a:pPr>
            <a:r>
              <a:t>תיקון לוקליזציה: כפתור האישור ('OK') מתורגם כעת אוטומטית בכל מעבר שפות בהתאם לממשק.</a:t>
            </a:r>
          </a:p>
          <a:p>
            <a:pPr lvl="1" algn="r">
              <a:spcAft>
                <a:spcPts val="1200"/>
              </a:spcAft>
              <a:defRPr sz="1600">
                <a:solidFill>
                  <a:srgbClr val="A0AEC0"/>
                </a:solidFill>
                <a:latin typeface="Arial"/>
              </a:defRPr>
            </a:pPr>
            <a:r>
              <a:t>שדרוג תמלול קולי: מעבר ללולאת תמלול רציפה שמונעת מחיקת טקסט בעת הפסקות דיבור קצרות.</a:t>
            </a:r>
          </a:p>
          <a:p>
            <a:pPr algn="r">
              <a:spcAft>
                <a:spcPts val="1200"/>
              </a:spcAft>
              <a:defRPr sz="2000" b="1">
                <a:solidFill>
                  <a:srgbClr val="FFFFFF"/>
                </a:solidFill>
                <a:latin typeface="Arial"/>
              </a:defRPr>
            </a:pPr>
            <a:r>
              <a:t>השוואת מדדים כמותיים (סבב 1 מול סבב 2):</a:t>
            </a:r>
          </a:p>
          <a:p>
            <a:pPr lvl="1" algn="r">
              <a:spcAft>
                <a:spcPts val="1200"/>
              </a:spcAft>
              <a:defRPr sz="1600">
                <a:solidFill>
                  <a:srgbClr val="A0AEC0"/>
                </a:solidFill>
                <a:latin typeface="Arial"/>
              </a:defRPr>
            </a:pPr>
            <a:r>
              <a:t>שיעור השלמת שאלון (Completion Rate): עלה מ-60% (סבב 1) ל-90% (סבב 2) בזכות מסך הביטחון.</a:t>
            </a:r>
          </a:p>
          <a:p>
            <a:pPr lvl="1" algn="r">
              <a:spcAft>
                <a:spcPts val="1200"/>
              </a:spcAft>
              <a:defRPr sz="1600">
                <a:solidFill>
                  <a:srgbClr val="A0AEC0"/>
                </a:solidFill>
                <a:latin typeface="Arial"/>
              </a:defRPr>
            </a:pPr>
            <a:r>
              <a:t>זמן ממוצע להשלמה (Time to Complete): ירד מ-5 דקות ל-2 דקות בלבד הודות לממשק הקולי המשופר.</a:t>
            </a:r>
          </a:p>
          <a:p>
            <a:pPr algn="r">
              <a:spcAft>
                <a:spcPts val="1200"/>
              </a:spcAft>
              <a:defRPr sz="2000" b="1">
                <a:solidFill>
                  <a:srgbClr val="FFFFFF"/>
                </a:solidFill>
                <a:latin typeface="Arial"/>
              </a:defRPr>
            </a:pPr>
            <a:r>
              <a:t>המלצות לגרסה הבאה (Next Steps):</a:t>
            </a:r>
          </a:p>
          <a:p>
            <a:pPr algn="r">
              <a:spcAft>
                <a:spcPts val="1200"/>
              </a:spcAft>
              <a:defRPr sz="2000" b="0">
                <a:solidFill>
                  <a:srgbClr val="FFFFFF"/>
                </a:solidFill>
                <a:latin typeface="Arial"/>
              </a:defRPr>
            </a:pPr>
            <a:r>
              <a:t>  1. מעבר לבוט מבוסס WhatsApp Business API להנגשה מקסימלית ללא צורך בכניסה לאתר.</a:t>
            </a:r>
          </a:p>
          <a:p>
            <a:pPr algn="r">
              <a:spcAft>
                <a:spcPts val="1200"/>
              </a:spcAft>
              <a:defRPr sz="2000" b="0">
                <a:solidFill>
                  <a:srgbClr val="FFFFFF"/>
                </a:solidFill>
                <a:latin typeface="Arial"/>
              </a:defRPr>
            </a:pPr>
            <a:r>
              <a:t>  2. מנוע AI לניתוח וסיווג אוטומטי של תמלול קול הלקוח לצורך קישורו לסעיפי נכות של ביטוח לאומי.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